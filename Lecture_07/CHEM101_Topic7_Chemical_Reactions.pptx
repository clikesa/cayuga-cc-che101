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324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7: Chemical Reactions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Writing, balancing, and predicting the outcome of a reaction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5780" y="17145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qua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180552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682496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and balancing equations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parts of a chemical equation, and the rules for balancing one correctly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25780" y="2884932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9" y="2975961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852928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chemical reactions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Combination, decomposition, single and double replacement, and combustion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25780" y="4055364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vi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09" y="4146393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23360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Solubility rules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Predicting whether mixing two solutions will produce a solid precipitate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25780" y="5225796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exchan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09" y="5316825"/>
            <a:ext cx="320863" cy="3208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193792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 rules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Worked examples that walk through balancing and predicting reactions step by step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aspects of Chemical Reactions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25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8155" y="1863344"/>
            <a:ext cx="583387" cy="5303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99" y="1965171"/>
            <a:ext cx="326697" cy="3266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82676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Antacids &amp; Stomach Acid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4192" y="250139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Calcium carbonate neutralizes excess stomach acid (HCl) in a double-replacement reaction — the basis of most antacids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625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47435" y="1863344"/>
            <a:ext cx="583387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vi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779" y="1965171"/>
            <a:ext cx="326697" cy="3266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82676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Precipitation in the Body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43472" y="250139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Kidney stones often form when calcium and oxalate ions precipitate out of urine — the same chemistry covered in this lecture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3911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8155" y="4149344"/>
            <a:ext cx="583387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fir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499" y="4251171"/>
            <a:ext cx="326697" cy="3266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11276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Combustion &amp; Metabolism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74192" y="478739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Cellular respiration releases energy from glucose in a reaction that mirrors combustion — fuel plus oxygen, yielding CO₂ and water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3911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47435" y="4149344"/>
            <a:ext cx="583387" cy="5303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exclamationTrian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779" y="4251171"/>
            <a:ext cx="326697" cy="3266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11276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Interaction Byproducts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43472" y="478739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Some medication combinations trigger unwanted reactions — producing gas, heat, or a precipitate that changes how a drug works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3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equa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and Balancing Chemical Equations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chemical equation is a sentence written in formulas — and it has to add up on both sides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Components/Symbols of a Chemical Reaction Equation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arrowRigh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Reactants &amp; Products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reactants (starting materials) are written on the left, products (what forms) on the right, joined by an arrow meaning "yields."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Coefficients (Coeff)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numbers placed in front of a formula, showing how many molecules or moles of that substance are involved. A coefficient of 1 is never written.  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wi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States of Matter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small labels (s) solid, (l) liquid, (g) gas, (aq) aqueous show the physical state of each substance in the equation.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A90D45-5641-AC06-FF33-0F4AFF60BC48}"/>
              </a:ext>
            </a:extLst>
          </p:cNvPr>
          <p:cNvSpPr txBox="1"/>
          <p:nvPr/>
        </p:nvSpPr>
        <p:spPr>
          <a:xfrm>
            <a:off x="640080" y="5148072"/>
            <a:ext cx="1082437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Garamond" panose="02020404030301010803" pitchFamily="18" charset="0"/>
              </a:rPr>
              <a:t>Example Chemical Reaction:</a:t>
            </a:r>
          </a:p>
          <a:p>
            <a:pPr algn="ctr"/>
            <a:endParaRPr lang="en-US" sz="2200" dirty="0">
              <a:latin typeface="Garamond" panose="02020404030301010803" pitchFamily="18" charset="0"/>
            </a:endParaRPr>
          </a:p>
          <a:p>
            <a:r>
              <a:rPr lang="en-US" sz="2200" u="sng" dirty="0">
                <a:latin typeface="Garamond" panose="02020404030301010803" pitchFamily="18" charset="0"/>
              </a:rPr>
              <a:t>Coeff</a:t>
            </a:r>
            <a:r>
              <a:rPr lang="en-US" sz="2200" dirty="0">
                <a:latin typeface="Garamond" panose="02020404030301010803" pitchFamily="18" charset="0"/>
              </a:rPr>
              <a:t> Reactant (state) + </a:t>
            </a:r>
            <a:r>
              <a:rPr lang="en-US" sz="2200" u="sng" dirty="0">
                <a:latin typeface="Garamond" panose="02020404030301010803" pitchFamily="18" charset="0"/>
              </a:rPr>
              <a:t>Coeff</a:t>
            </a:r>
            <a:r>
              <a:rPr lang="en-US" sz="2200" dirty="0">
                <a:latin typeface="Garamond" panose="02020404030301010803" pitchFamily="18" charset="0"/>
              </a:rPr>
              <a:t> Reactant (state) → </a:t>
            </a:r>
            <a:r>
              <a:rPr lang="en-US" sz="2200" u="sng" dirty="0">
                <a:latin typeface="Garamond" panose="02020404030301010803" pitchFamily="18" charset="0"/>
              </a:rPr>
              <a:t>Coeff</a:t>
            </a:r>
            <a:r>
              <a:rPr lang="en-US" sz="2200" dirty="0">
                <a:latin typeface="Garamond" panose="02020404030301010803" pitchFamily="18" charset="0"/>
              </a:rPr>
              <a:t> Product (state) + </a:t>
            </a:r>
            <a:r>
              <a:rPr lang="en-US" sz="2200" u="sng" dirty="0">
                <a:latin typeface="Garamond" panose="02020404030301010803" pitchFamily="18" charset="0"/>
              </a:rPr>
              <a:t>Coeff</a:t>
            </a:r>
            <a:r>
              <a:rPr lang="en-US" sz="2200" dirty="0">
                <a:latin typeface="Garamond" panose="02020404030301010803" pitchFamily="18" charset="0"/>
              </a:rPr>
              <a:t> Product (state)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Chemical Reaction Equations: </a:t>
            </a:r>
            <a:r>
              <a:rPr lang="en-US" sz="3000" b="1" u="sng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</a:t>
            </a:r>
            <a:endParaRPr lang="en-US" sz="3000" u="sng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balance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Atoms, Both Sides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every atom in the reactants must also appear in the products — the Law of Conservation of Mass (Topic 3) applied to an equation.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 Coefficients Only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balance by changing the coefficients in front of formulas. Never change a subscript — that would change the substance itself (Topic 6).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Most Complex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begin balancing the molecule with the most atoms or elements, then work outward to the simpler ones.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Balancing the reaction Fe + O₂ → </a:t>
            </a:r>
            <a:r>
              <a:rPr lang="en-US" sz="3000" b="1" dirty="0" err="1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Fe₂O</a:t>
            </a: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₃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</a:rPr>
              <a:t>	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</a:rPr>
              <a:t>	</a:t>
            </a:r>
            <a:r>
              <a:rPr lang="en-US" sz="2200" dirty="0">
                <a:solidFill>
                  <a:srgbClr val="14213D"/>
                </a:solidFill>
                <a:latin typeface="Garamond" panose="02020404030301010803" pitchFamily="18" charset="0"/>
              </a:rPr>
              <a:t>- Recall that this reaction is the process of rusting </a:t>
            </a:r>
            <a:endParaRPr lang="en-US" sz="220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097634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3805" y="211683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96312" y="1837944"/>
            <a:ext cx="8942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 + O₂ → Fe₂O₃ (unbalanced) — iron reacting with oxygen gas to form iron(III) oxide (Topic 6).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304642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3805" y="3323844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Iron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96312" y="3044952"/>
            <a:ext cx="8942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There are 2 iron atoms on the right. Place a 4 in front of Fe and a 2 in front of Fe₂O₃: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	</a:t>
            </a:r>
            <a:r>
              <a:rPr lang="en-US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4Fe + O₂ → 2Fe₂O₃ — now 4 iron atoms on each side.</a:t>
            </a:r>
            <a:endParaRPr lang="en-US" b="1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511650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805" y="4530852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Oxygen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4251960"/>
            <a:ext cx="8942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2Fe₂O₃ has 6 oxygen atoms. Place a 3 in front of O₂ to get 6 oxygen atoms on the left too: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	</a:t>
            </a:r>
            <a:r>
              <a:rPr lang="en-US" sz="2000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4Fe + 3O₂ → 2Fe₂O₃</a:t>
            </a:r>
            <a:endParaRPr lang="en-US" b="1" dirty="0"/>
          </a:p>
        </p:txBody>
      </p:sp>
      <p:sp>
        <p:nvSpPr>
          <p:cNvPr id="15" name="Shape 13"/>
          <p:cNvSpPr/>
          <p:nvPr/>
        </p:nvSpPr>
        <p:spPr>
          <a:xfrm>
            <a:off x="548640" y="5404104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718658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3805" y="5737860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96312" y="5458968"/>
            <a:ext cx="8942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Left Reactant side: 4 Fe, 6 O. Right Product side: 4 Fe, 6 O. </a:t>
            </a:r>
            <a:r>
              <a:rPr lang="en-US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Balanced!</a:t>
            </a:r>
            <a:endParaRPr lang="en-US" b="1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3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Chemical Reactions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Most reactions you’ll see fall into one of five recognizable patterns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5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Reaction Types: Combination and Decomposition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82880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2066544"/>
            <a:ext cx="530352" cy="5303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18322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202996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 (Synthesis)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755392"/>
            <a:ext cx="487375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or more simple substances combine to form one, more complex product.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General form: A + B → AB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Example: 2H₂ + O₂ → 2H₂O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82880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206654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recy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18322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202996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755392"/>
            <a:ext cx="487375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single compound breaks down into two or more simpler substances — often needs heat, light, or a catalyst.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General form: AB → A + B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Example: 2H₂O₂ → 2H₂O + O₂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and Double Replacement Reactions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82880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" y="2066544"/>
            <a:ext cx="530352" cy="5303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18322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202996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Replacement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867152"/>
            <a:ext cx="487375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 element swaps places with another element in a compound.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General form: A + BC → AC + B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Example: Zn + 2HCl → ZnCl₂ + H₂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82880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73952" y="206654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rand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218322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202996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Replacement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867152"/>
            <a:ext cx="487375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cations of two compounds swap partners with each other’s anions.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General form: AB + CD → AD + CB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Example: AgNO₃ + NaCl → AgCl + NaNO₃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Combustion Reactions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1544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icon_fi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71145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5605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fuel (usually a hydrocarbon, containing carbon and hydrogen </a:t>
            </a:r>
            <a:r>
              <a:rPr lang="en-US" dirty="0" err="1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</a:t>
            </a:r>
            <a:r>
              <a:rPr lang="en-US" baseline="-25000" dirty="0" err="1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x</a:t>
            </a:r>
            <a:r>
              <a:rPr lang="en-US" dirty="0" err="1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</a:t>
            </a:r>
            <a:r>
              <a:rPr lang="en-US" baseline="-25000" dirty="0" err="1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 reacts rapidly with oxygen gas O</a:t>
            </a:r>
            <a:r>
              <a:rPr lang="en-US" baseline="-25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releasing energy as heat and light.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895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7" name="Image 1" descr="icon_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299161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84073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complete combustion of a hydrocarbon always produces carbon dioxide (CO</a:t>
            </a:r>
            <a:r>
              <a:rPr lang="en-US" baseline="-25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 and water H</a:t>
            </a:r>
            <a:r>
              <a:rPr lang="en-US" baseline="-25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O, regardless of which fuel is burned.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18160" y="4429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92480" y="44297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</a:t>
            </a:r>
            <a:r>
              <a:rPr lang="en-US" sz="2000" baseline="-25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</a:t>
            </a:r>
            <a:r>
              <a:rPr lang="en-US" sz="2000" baseline="-25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+ 8 O₂ → 5 CO₂ + 6 H₂O   (burning pentane, a common component of gasoline)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Reaction Types Compared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972214"/>
              </p:ext>
            </p:extLst>
          </p:nvPr>
        </p:nvGraphicFramePr>
        <p:xfrm>
          <a:off x="457200" y="1691640"/>
          <a:ext cx="11274552" cy="4023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Type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General Form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Combination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 + B → AB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2H₂ + O₂ → 2H₂O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Decomposition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AB → A + B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2H₂O₂ → 2H₂O + O₂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Single Replacement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 + BC → AC + B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Zn + 2HCl → ZnCl₂ + H₂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Double Replacement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AB + CD → AD + CB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AgNO₃ + NaCl → AgCl + NaNO₃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Combustion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Fuel + O₂ → CO₂ + H₂O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CH₄ + 2O₂ → CO₂ + 2H₂O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vi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Solubility Rules &amp; Precipitation Reactions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Predicting whether mixing two ionic solutions leaves everything dissolved — or not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Precipitate?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vi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precipitates form when the cations and anions from two dissolved compounds combine into a new compound that possesses poor solubility in water.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17220" y="313182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22284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precipitate is marked with an (s) in the equation, since the dissolved cation and anion change from the dissolved aqueous (aq) state and separated out as a solid precipitate.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17220" y="441198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clamationTriang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450300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Example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kidney stones often form when calcium and oxalate ions precipitate out of urine as calcium oxalate.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54009A-02CE-9D4F-D07D-A5E89BD667AA}"/>
              </a:ext>
            </a:extLst>
          </p:cNvPr>
          <p:cNvSpPr txBox="1"/>
          <p:nvPr/>
        </p:nvSpPr>
        <p:spPr>
          <a:xfrm>
            <a:off x="1249680" y="5618480"/>
            <a:ext cx="985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Important note - precipitation depends on several factors including the ions, their amounts, and temperature.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Solubility Rules used for Prediction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489054"/>
              </p:ext>
            </p:extLst>
          </p:nvPr>
        </p:nvGraphicFramePr>
        <p:xfrm>
          <a:off x="457200" y="1691640"/>
          <a:ext cx="11274552" cy="40233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Compound Type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Solubility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Group 1 metal and NH₄⁺ compounds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Always soluble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Nitrates (NO₃⁻)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Always soluble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Most chlorides, bromides, iodides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Soluble — except with Ag⁺, Pb²⁺, Hg₂²⁺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Most sulfates (SO₄²⁻)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Soluble — except with Ba²⁺, Pb²⁺, Ca²⁺, Sr²⁺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Most hydroxides &amp; carbonates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Insoluble — except Group 1 and NH₄⁺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Predicting a Precipitate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027718"/>
            <a:ext cx="1600200" cy="562285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3917" y="211683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96312" y="1837944"/>
            <a:ext cx="8942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Aqueous silver nitrate (AgNO₃) is mixed with aqueous sodium chloride (NaCl).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234726"/>
            <a:ext cx="1600200" cy="562285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17" y="3323844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Partners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96312" y="3044952"/>
            <a:ext cx="8942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 this double-replacement reaction, the cations swap anions: Ag⁺ pairs with Cl⁻, and Na⁺ pairs with NO₃⁻.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441734"/>
            <a:ext cx="1600200" cy="562285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917" y="4530852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Solubility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96312" y="4251960"/>
            <a:ext cx="8942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Silver chloride (AgCl) is an exception to the "chlorides are soluble" rule — it’s insoluble. Sodium nitrate (NaNO₃) stays soluble.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404104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648742"/>
            <a:ext cx="1600200" cy="562285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917" y="5737860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96312" y="5458968"/>
            <a:ext cx="8942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AgNO₃(aq) + NaCl(aq) → AgCl(s) + NaNO₃(aq) — the white AgCl precipitate is what you’d actually see form in the mixture.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 &amp; Understand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Reactant: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starting substance in a chemical reaction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72200" y="1691640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substance formed by a chemical reaction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number in front of a formula in an equation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equation: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equation with equal atoms on both sides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Precipitate: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insoluble solid formed from two solutions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72200" y="3886200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Combustion reaction: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fuel reacting rapidly with oxygen, releasing energy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replacement: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 element swaps places with another in a compound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4983480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replacement: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compounds swap their positive 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chemical equation must be balanced by coefficients so atoms match on both sides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Most reactions fall into one of five patterns: combination, decomposition, single replacement, double replacement, or combustion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Solubility rules predict whether a double-replacement reaction produces a precipitate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These same rules and reaction types set up the calculations in the next few topics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5806"/>
            </a:avLst>
          </a:prstGeom>
          <a:solidFill>
            <a:srgbClr val="1B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 NEXT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Topic 8: Chemical Quantities — Avogadro’s number and the mole, formula and molecular mass, mass/mole conversions, and molarity.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7: Chemical Reactions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1655</Words>
  <Application>Microsoft Macintosh PowerPoint</Application>
  <PresentationFormat>Widescreen</PresentationFormat>
  <Paragraphs>192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Cambria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Patridge, Christopher</cp:lastModifiedBy>
  <cp:revision>2</cp:revision>
  <dcterms:created xsi:type="dcterms:W3CDTF">2026-09-06T18:27:48Z</dcterms:created>
  <dcterms:modified xsi:type="dcterms:W3CDTF">2026-09-19T22:20:42Z</dcterms:modified>
</cp:coreProperties>
</file>
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32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9: Stoichiometry Calculations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Using a balanced equation to predict exactly how much reacts and forms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5780" y="1714500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180552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882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 err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Mole↔mole</a:t>
            </a: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calculations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Using a balanced equation’s coefficients as a direct mole-to-mole conversion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25780" y="2884932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9" y="2975961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882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 err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Mole↔mass</a:t>
            </a: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calculations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Combining molar mass and mole ratios into a full gram-to-gram roadmap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25780" y="4055364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t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9" y="4146393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882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 solution calculations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Bringing molarity into stoichiometry, to work with reactants dissolved in solution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25780" y="5225796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09" y="5316825"/>
            <a:ext cx="320863" cy="320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882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 yield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Comparing what a reaction actually produced to what it should have produced based on the chemical reaction equation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Stoichiometry Matters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155" y="1948587"/>
            <a:ext cx="583387" cy="5833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syri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4" y="2060596"/>
            <a:ext cx="359367" cy="359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Drip Rate Calculations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Converting an ordered dose into the correct infusion volume relies on the same mole-ratio thinking used throughout this lecture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7435" y="1948587"/>
            <a:ext cx="583387" cy="583387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444" y="2060596"/>
            <a:ext cx="359367" cy="359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Compounding Pharmacy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Scaling a recipe up or down to make a specific batch size uses the same proportional reasoning as a mole-ratio conversion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8155" y="4234587"/>
            <a:ext cx="583387" cy="583387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4" y="4346596"/>
            <a:ext cx="359367" cy="3593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in Drug Manufacturing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Percent yield tells manufacturers how much usable medication a batch actually produced, compared to the theoretical amount especially in multi-step syntheses.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47435" y="4234587"/>
            <a:ext cx="583387" cy="5833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heartbea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444" y="4346596"/>
            <a:ext cx="359367" cy="3593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 &amp; Metabolic Calculations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Calculating how much oxygen a reaction — or the body — consumes uses the exact same mole-ratio math covered here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Mole-Mole Calculations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simplest form of stoichiometry — moles straight in, moles straight out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Mole Ratio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Comes From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coefficients in a balanced chemical equation (Topic 7) show the exact ratio in which substances react and form.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Conversion Factor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that ratio becomes a fraction you multiply by, just like any unit conversion (Topic 2) — moles of chemical A in the reaction convert directly to moles of chemical B in the reaction.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500380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balance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509981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9489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From a Balanced Equation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never guess a mole ratio. It must come from a correctly balanced equation, or the whole calculation is wrong.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1E477F-FF84-66AE-D662-C742C5936904}"/>
                  </a:ext>
                </a:extLst>
              </p:cNvPr>
              <p:cNvSpPr txBox="1"/>
              <p:nvPr/>
            </p:nvSpPr>
            <p:spPr>
              <a:xfrm>
                <a:off x="1001268" y="3877056"/>
                <a:ext cx="10433304" cy="679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𝒎𝒐𝒍𝒆𝒔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𝒎𝒐𝒍𝒆𝒔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𝒎𝒐𝒍𝒆𝒔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𝒐𝒇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𝒎𝒐𝒍𝒆𝒔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𝒐𝒇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  These are equivalent just like the earlier conversions to go A ↔ B or B ↔ A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1E477F-FF84-66AE-D662-C742C5936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68" y="3877056"/>
                <a:ext cx="10433304" cy="679160"/>
              </a:xfrm>
              <a:prstGeom prst="rect">
                <a:avLst/>
              </a:prstGeom>
              <a:blipFill>
                <a:blip r:embed="rId6"/>
                <a:stretch>
                  <a:fillRect r="-24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Mole-Mole Calculation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46480" y="1243584"/>
            <a:ext cx="993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N₂ + 3H₂ → 2NH₃   </a:t>
            </a:r>
            <a:r>
              <a:rPr lang="en-US" sz="2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Reaction of Nitrogen gas with Hydrogen gas to produce Ammonia (NH</a:t>
            </a:r>
            <a:r>
              <a:rPr lang="en-US" sz="2000" baseline="-25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r>
              <a:rPr lang="en-US" sz="2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7681" y="2327971"/>
            <a:ext cx="1454727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3917" y="236829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5.00 mol of N₂ reacts with excess H₂, following N₂ + 3H₂ → 2NH₃.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7681" y="3379531"/>
            <a:ext cx="1454727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3917" y="3419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Ratio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coefficients show 1 mol N₂ produces OR equals 2 mol NH₃.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7681" y="4431091"/>
            <a:ext cx="1454727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3917" y="447141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&amp; Calculate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2496312" y="4261104"/>
                <a:ext cx="8942832" cy="8046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5000"/>
                  </a:lnSpc>
                </a:pP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5.00 </a:t>
                </a:r>
                <a:r>
                  <a:rPr lang="en-US" strike="sngStrike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mol N₂</a:t>
                </a: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 ×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0" dirty="0" smtClean="0">
                            <a:solidFill>
                              <a:srgbClr val="1421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1421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2 mol NH₃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1421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en-US" strike="sngStrike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mol N₂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   = 10.0 mol NH₃.</a:t>
                </a:r>
                <a:endParaRPr lang="en-US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12" y="4261104"/>
                <a:ext cx="8942832" cy="804672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7681" y="5482651"/>
            <a:ext cx="1454727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3917" y="552297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5.00 moles of N₂ produces 10.0 moles of NH₃.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Mole-Mass Calculations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Combining molar mass and mole ratios into one complete roadmap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B6B8495-63E6-7AA9-5238-E4F1F45A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9" t="10144" r="5666" b="13067"/>
          <a:stretch>
            <a:fillRect/>
          </a:stretch>
        </p:blipFill>
        <p:spPr>
          <a:xfrm>
            <a:off x="822226" y="2167228"/>
            <a:ext cx="6181060" cy="359843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3000" b="1" dirty="0" err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Mole↔Mass</a:t>
            </a: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Three conversion relationships, chained together, to get from grams of A to grams of B using the </a:t>
            </a:r>
            <a:r>
              <a:rPr lang="en-US" sz="1600" b="1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Balanced Reaction </a:t>
            </a: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and</a:t>
            </a:r>
            <a:r>
              <a:rPr lang="en-US" sz="1600" b="1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Periodic Table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830579" y="1545336"/>
            <a:ext cx="529019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09" y="1636365"/>
            <a:ext cx="337514" cy="32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1808" y="1513332"/>
            <a:ext cx="55808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Grams A → Moles 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convert the given mass of substance A into moles, using its molar mass (Topic 8).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18398" y="3521533"/>
            <a:ext cx="655025" cy="646504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458" y="3620850"/>
            <a:ext cx="415853" cy="4270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33565" y="3429000"/>
            <a:ext cx="32832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Moles A → Moles B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convert moles of A into moles of B using the mole ratio from the balanced equation.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55472" y="5797666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_weightHang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501" y="5888695"/>
            <a:ext cx="320863" cy="3208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6700" y="5765662"/>
            <a:ext cx="5305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Moles B → Grams B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convert moles of B into grams, using B’s molar mass.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Mole-Mass Calculation – Same reaction with the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496312" y="1163320"/>
            <a:ext cx="281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N₂ + 3H₂ → 2NH₃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2368296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805" y="2327971"/>
            <a:ext cx="1322479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10.0 g of N₂ reacts and excess H₂. Molar masses: N₂ = 28.02 g/mol and NH₃ = 17.03 g/mol.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3330738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3805" y="3379531"/>
            <a:ext cx="1322479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Grams → Moles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10.0 g ÷ 28.02 g/mol = 0.357 mol N₂.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944" y="440785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694944" y="44714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 Ratio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2496312" y="4261104"/>
                <a:ext cx="8942832" cy="8046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5000"/>
                  </a:lnSpc>
                </a:pP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0.357 </a:t>
                </a:r>
                <a:r>
                  <a:rPr lang="en-US" strike="sngStrike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mol N₂ </a:t>
                </a: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2 mol NH₃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en-US" strike="sngStrike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mol N₂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 = 0.714 mol NH₃.</a:t>
                </a:r>
                <a:endParaRPr lang="en-US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12" y="4261104"/>
                <a:ext cx="8942832" cy="804672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5405743"/>
            <a:ext cx="1600200" cy="61851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3805" y="5482651"/>
            <a:ext cx="1322479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Moles → Grams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0.714 mol NH₃ × 17.03 g/mol ≈ 12.2 g NH₃.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 Solutions &amp; Percent Yield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Bringing concentration into the roadmap, and checking a reaction’s real-world performance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Stoichiometry with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Molarity as a Bridge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when a reactant is dissolved in solution, molarity (Topic 8) becomes another way to find moles: moles = molarity × liters.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Roadmap Applies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once you have moles of the reactant, the mole-ratio and molar-mass conversions work exactly the same as any other stoichiometry example problems.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hasht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Question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volume and a molarity given together (like "25.0 mL of 0.500 M HCl") is your signal to start with moles = M × V.  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!!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Don’t forget that the molarity is per 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Liter!!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6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Asking for Volume Needed to React in Reaction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387600" y="1197864"/>
            <a:ext cx="570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Balanced Equation:    Mg + 2HCl → MgCl₂ + H₂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2304736"/>
            <a:ext cx="1600200" cy="51116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3917" y="236829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2.43 g of Mg reacts completely with 0.500 M HCl solution. Molar mass Mg = 24.3 g/mol.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335629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3917" y="3419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Grams → Moles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2.43 g ÷ 24.3 g/mol = 0.100 mol Mg.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944" y="440785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3917" y="447141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 Ratio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2496312" y="4261104"/>
                <a:ext cx="8942832" cy="8046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5000"/>
                  </a:lnSpc>
                </a:pP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0.100 </a:t>
                </a:r>
                <a:r>
                  <a:rPr lang="en-US" strike="sngStrike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mol Mg</a:t>
                </a: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 ×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2 mol HCl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en-US" strike="sngStrike" dirty="0">
                            <a:solidFill>
                              <a:srgbClr val="14213D"/>
                            </a:solidFill>
                            <a:latin typeface="Garamond" pitchFamily="34" charset="0"/>
                            <a:ea typeface="Garamond" pitchFamily="34" charset="-122"/>
                            <a:cs typeface="Garamond" pitchFamily="34" charset="-120"/>
                          </a:rPr>
                          <m:t>mol Mg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) = 0.200 mol HCl.</a:t>
                </a:r>
                <a:endParaRPr lang="en-US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12" y="4261104"/>
                <a:ext cx="8942832" cy="804672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5459416"/>
            <a:ext cx="1600200" cy="51116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3917" y="552297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Moles →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volume = moles ÷ molarity = 0.200 mol ÷ 0.500 mol/L = 0.400 L, or 400. mL.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 Yield – Measure of Efficiency and Precision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Yield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maximum amount of product possible, calculated from stoichiometry assuming the reaction goes perfectly.  All reactants produce precisely the expected products 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vi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Yield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amount of product actually measured in the lab — always less than or equal to the theoretical yield, due to real-world losses.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hasht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percent yield = (actual yield ÷ theoretical yield) × 100%.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Calculating Percent Yield (%)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304736"/>
            <a:ext cx="1600200" cy="51116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236829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Stoichiometry predicts a theoretical yield of 12.2 g NH₃ (from the earlier example); the lab actually measured an actual yield of 10.5 g.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35629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419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Formula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Percent (%) yield = (10.5 g ÷ 12.2 g) × 100%.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40785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47141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426110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10.5 ÷ 12.2 ≈ 0.861, so 86.1%.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459416"/>
            <a:ext cx="1600200" cy="51116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52297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reaction achieved an 86.1% yield.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Stoichiometry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 problem in this lecture is some version of this same four-step chain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17220" y="176022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weightHang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851249"/>
            <a:ext cx="320863" cy="32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7282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Start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grams (or volume and molarity) of substance A, straight from the problem.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17220" y="276606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2857089"/>
            <a:ext cx="320863" cy="3208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7340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Convert to Moles 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divide by molar mass, or multiply molarity × volume.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17220" y="377190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_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3862929"/>
            <a:ext cx="320863" cy="3208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7398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Convert to Moles B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multiply by the mole ratio from the balanced equation.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17220" y="477774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_weightHang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4868769"/>
            <a:ext cx="320863" cy="3208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47457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Finish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multiply by molar mass for grams of B, or divide by molarity for volume of B.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&amp; Tips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520440" cy="3073400"/>
          </a:xfrm>
          <a:prstGeom prst="roundRect">
            <a:avLst>
              <a:gd name="adj" fmla="val 30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" y="22037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61" y="23203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16712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Balance First!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6384" y="3044952"/>
            <a:ext cx="30449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unbalanced equation gives an incorrect mole ratio, which throws off every step that follows.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361688" y="1965960"/>
            <a:ext cx="3520440" cy="3073400"/>
          </a:xfrm>
          <a:prstGeom prst="roundRect">
            <a:avLst>
              <a:gd name="adj" fmla="val 30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99432" y="22037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09" y="23203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376" y="216712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Your Units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99432" y="3044952"/>
            <a:ext cx="30449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Convert mL to L before using molarity and double-check that every conversion factor is right-side-up so that units can cancel in the numerator and denominator of the fraction.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8174736" y="1965960"/>
            <a:ext cx="3520440" cy="3073400"/>
          </a:xfrm>
          <a:prstGeom prst="roundRect">
            <a:avLst>
              <a:gd name="adj" fmla="val 30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12480" y="22037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listO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157" y="23203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07424" y="216712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Only at the End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412480" y="3044952"/>
            <a:ext cx="30449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Carry extra digits through intermediate steps and round only your final answer, to avoid compounding small errors.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Know, Use, and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Stoichiometry: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Calculations relating amounts of reactants and products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 ratio: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ratio between two substances’ coefficients in an equation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Mole-mass calculation: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conversion chaining moles, mass, and the mole ratio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 solution: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solution with a known molarity, used to find moles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yield: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maximum product predicted by stoichiometry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yield: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amount of product actually obtained in the lab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 yield: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Actual yield divided by theoretical yield, times 100%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21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Molarity: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solution’s concentration, in moles of solute per liter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balanced equation’s coefficients give a mole ratio, usable as a direct conversion factor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Mole-mass problems chain three conversions: mass to moles, moles to moles, moles to mass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Molarity (moles = M × L) is just another way into the same roadmap when reactants are dissolved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Percent yield compares what a reaction actually produced to what stoichiometry predicted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10: Chemical Bonds — ionic and covalent bonds, electron dot structures, molecular geometry, and polar vs. non-polar bonds.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9: Stoichiometry Calculations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1559</Words>
  <Application>Microsoft Macintosh PowerPoint</Application>
  <PresentationFormat>Widescreen</PresentationFormat>
  <Paragraphs>162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Cambria Math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3</cp:revision>
  <dcterms:created xsi:type="dcterms:W3CDTF">2026-09-07T02:29:38Z</dcterms:created>
  <dcterms:modified xsi:type="dcterms:W3CDTF">2026-09-20T16:29:40Z</dcterms:modified>
</cp:coreProperties>
</file>
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75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3100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200" dirty="0">
                <a:solidFill>
                  <a:srgbClr val="F4A1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ELEMENTS OF GENERAL CHEMISTRY 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4: Atomic Structure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From ancient ideas to the modern quantum model of the atom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6B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Asynchronous Online Lecture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covered in this lecture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histor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183337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1737360"/>
            <a:ext cx="10182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history of atomic models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How our picture of the atom evolved from ancient philosophy to quantum mechanics.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907792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hasht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3003804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2976372"/>
            <a:ext cx="10067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notation and mass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Protons, neutrons, electrons, atomic number, mass number, and isotopes.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548640" y="4078224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layerGrou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" y="4174236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07008" y="4114800"/>
            <a:ext cx="10182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levels and orbitals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Where electrons live around the nucleus, and the shapes those spaces take.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548640" y="5248656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icon_listO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" y="5344668"/>
            <a:ext cx="265176" cy="2651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07008" y="5295392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 configurations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The rules for predicting exactly where every electron in an atom goes.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4: Atomic Structure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Atomic Structure Matters in Healthcare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" y="1975104"/>
            <a:ext cx="530352" cy="530352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exclamationTriang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49" y="2091781"/>
            <a:ext cx="296997" cy="296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616" y="1938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Radioisotopes in Imaging &amp; Treatment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" y="2633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PET scans, radiation therapy, and nuclear medicine all depend on unstable isotopes with specific numbers of neutrons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36208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73952" y="197510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exchan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629" y="2091781"/>
            <a:ext cx="296997" cy="296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68896" y="1938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Electrolytes &amp; Ion Charge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73952" y="2633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Na⁺, K⁺, Ca²⁺, and Cl⁻ get their charge from gaining or losing electrons — the basis of nerve and muscle function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6928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04672" y="4261104"/>
            <a:ext cx="530352" cy="530352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_bo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349" y="4377781"/>
            <a:ext cx="296997" cy="29699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99616" y="4224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Radicals &amp; Antioxidants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04672" y="4919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free radical is an atom with an unpaired electron — highly reactive, and linked to cell damage and aging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36208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73952" y="4261104"/>
            <a:ext cx="530352" cy="530352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icon_pill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629" y="4377781"/>
            <a:ext cx="296997" cy="29699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68896" y="4224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Elements &amp; Deficiency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473952" y="4919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Iron, zinc, and iodine are elements the body needs in small amounts — deficiency shows up as specific clinical symptoms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4: Atomic Structure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ato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History of Atomic Models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Each model didn’t replace the last one completely — it built on what came before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4: Atomic Structure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Ideas: Democritus &amp; Dalton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64592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" y="1883664"/>
            <a:ext cx="530352" cy="530352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dot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49" y="2000341"/>
            <a:ext cx="296997" cy="296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616" y="184708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Democritus  (≈ 400 BCE)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4672" y="2816352"/>
            <a:ext cx="487375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Greek philosopher proposed that matter is made of tiny, indivisible particles he called “</a:t>
            </a:r>
            <a:r>
              <a:rPr lang="en-US" dirty="0" err="1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atomos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” — Greek for “uncuttable” or “indivisible.”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This was philosophy, not science — Democritus never tested the idea. It took over 2,000 years before anyone did.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236208" y="164592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73952" y="1883664"/>
            <a:ext cx="530352" cy="530352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ato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629" y="2000341"/>
            <a:ext cx="296997" cy="296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68896" y="184708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John Dalton  (1803)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473952" y="2816352"/>
            <a:ext cx="4986528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Building on Lavoisier’s precise measurements (Topic 1), Dalton proposed the first real atomic theory: all matter is made of atoms, atoms of one element are identical, and they combine in fixed whole-number ratios.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Dalton pictured the atom as a solid, indivisible sphere — like a </a:t>
            </a:r>
            <a:r>
              <a:rPr lang="en-US" u="sng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tiny billiard ball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4: Atomic Structure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Thomson &amp; Rutherford: Finding the Electron and Nucleus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64592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" y="1883664"/>
            <a:ext cx="530352" cy="530352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49" y="2000341"/>
            <a:ext cx="296997" cy="296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616" y="184708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J.J. Thomson  (1897)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4672" y="2846832"/>
            <a:ext cx="4873752" cy="2365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Thomson discovered the electron — a tiny, negatively charged particle — proving atoms aren’t indivisible after all.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He proposed the "plum pudding" model: a positively charged sphere with negative electrons scattered through it, like fruit suspended in pudding.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236208" y="164592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73952" y="1883664"/>
            <a:ext cx="530352" cy="530352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629" y="2000341"/>
            <a:ext cx="296997" cy="296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68896" y="184708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Ernest Rutherford  (1911)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473952" y="2846832"/>
            <a:ext cx="4873752" cy="2365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Rutherford fired particles at thin gold foil, expecting them to pass straight through. Most did — but a few bounced straight back.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His conclusion: atoms are mostly empty space, with a small, dense, positively charged nucleus at the center.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4: Atomic Structure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Bohr’s Model and the Modern Quantum 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707896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" y="1883664"/>
            <a:ext cx="530352" cy="530352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satelli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49" y="2000341"/>
            <a:ext cx="296997" cy="296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616" y="184708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Niels Bohr  (1913)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4672" y="2856992"/>
            <a:ext cx="4873752" cy="235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Bohr proposed that electrons orbit the nucleus in fixed, circular paths at specific energy levels — like planets around the sun.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Electrons could jump between levels by absorbing or releasing energy, but only in fixed steps. This finally explained the light emitted by heated elements.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236208" y="164592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73952" y="1883664"/>
            <a:ext cx="530352" cy="530352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clou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629" y="2000341"/>
            <a:ext cx="296997" cy="296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68896" y="184708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Quantum Model  (1920s–today)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473952" y="2856992"/>
            <a:ext cx="4873752" cy="235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Electrons don’t follow neat orbits — we can only calculate the probability of finding one in a given region, called an orbital.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This "electron cloud" picture is the model chemists actually use today, and the one we’ll build on for the rest of the course.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4: Atomic Structure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the milestones that shaped Atomic Theory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" y="2112264"/>
            <a:ext cx="530352" cy="530352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dot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061" y="2228941"/>
            <a:ext cx="296997" cy="296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2075688"/>
            <a:ext cx="2386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Democritus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6384" y="2770632"/>
            <a:ext cx="30449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≈400 BCE — the "atomos"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61688" y="18745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99432" y="2112264"/>
            <a:ext cx="530352" cy="530352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ato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109" y="2228941"/>
            <a:ext cx="296997" cy="296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94376" y="2075688"/>
            <a:ext cx="2386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Dalton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99432" y="2770632"/>
            <a:ext cx="30449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1803 — atomic theory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74736" y="18745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412480" y="2112264"/>
            <a:ext cx="530352" cy="530352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_bulls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9157" y="2228941"/>
            <a:ext cx="296997" cy="29699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07424" y="2075688"/>
            <a:ext cx="2386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Thomson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412480" y="2770632"/>
            <a:ext cx="30449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1897 — the electron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3913632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86384" y="4151376"/>
            <a:ext cx="530352" cy="530352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icon_bol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061" y="4268053"/>
            <a:ext cx="296997" cy="29699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81328" y="4114800"/>
            <a:ext cx="2386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Rutherford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86384" y="4809744"/>
            <a:ext cx="30449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1911 — the nucleus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4361688" y="3913632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599432" y="4151376"/>
            <a:ext cx="530352" cy="530352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icon_satellit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6109" y="4268053"/>
            <a:ext cx="296997" cy="29699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94376" y="4114800"/>
            <a:ext cx="2386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Bohr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599432" y="4809744"/>
            <a:ext cx="30449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1913 — energy levels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8174736" y="3913632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8412480" y="4151376"/>
            <a:ext cx="530352" cy="530352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icon_clou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9157" y="4268053"/>
            <a:ext cx="296997" cy="29699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107424" y="4114800"/>
            <a:ext cx="2386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Model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412480" y="4809744"/>
            <a:ext cx="30449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1920s — electron clouds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Each discovery refined the picture before it — and chemistry keeps building on all six ideas today.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4: Atomic Structure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hashta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Notation and Mass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How we identify and label every atom, and every isotope, precisely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4: Atomic Structure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are Three Subatomic Particles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566996"/>
              </p:ext>
            </p:extLst>
          </p:nvPr>
        </p:nvGraphicFramePr>
        <p:xfrm>
          <a:off x="548640" y="1691640"/>
          <a:ext cx="11091672" cy="3291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mbria" charset="0"/>
                          <a:ea typeface="Cambria" charset="0"/>
                          <a:cs typeface="Cambria" charset="0"/>
                        </a:rPr>
                        <a:t>Subatomic Particle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Charge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Relative Mass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Location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Proton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Positive (+1)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 amu*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Nucleus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Neutron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None (neutral)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 amu*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Nucleus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Electron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Negative (−1)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≈ 0 (1/1836 amu*)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Orbitals around the nucleus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77240" y="579729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weightHang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571" y="5885627"/>
            <a:ext cx="243962" cy="2439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572414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Nearly all of an atom’s mass comes from its protons and neutrons — electrons are so light they barely register.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4: Atomic Structure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04A4C4-2E75-F8AC-4AA3-6B57500C4CAB}"/>
              </a:ext>
            </a:extLst>
          </p:cNvPr>
          <p:cNvSpPr txBox="1"/>
          <p:nvPr/>
        </p:nvSpPr>
        <p:spPr>
          <a:xfrm>
            <a:off x="1109533" y="5118854"/>
            <a:ext cx="9237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*Because the mass is so incredibly small, scientist made up the atomic mass unit </a:t>
            </a:r>
            <a:r>
              <a:rPr lang="en-US" u="sng" dirty="0">
                <a:latin typeface="Garamond" panose="02020404030301010803" pitchFamily="18" charset="0"/>
              </a:rPr>
              <a:t>1 amu = 1.67x10</a:t>
            </a:r>
            <a:r>
              <a:rPr lang="en-US" u="sng" baseline="30000" dirty="0">
                <a:latin typeface="Garamond" panose="02020404030301010803" pitchFamily="18" charset="0"/>
              </a:rPr>
              <a:t>-24 </a:t>
            </a:r>
            <a:r>
              <a:rPr lang="en-US" u="sng" dirty="0">
                <a:latin typeface="Garamond" panose="02020404030301010803" pitchFamily="18" charset="0"/>
              </a:rPr>
              <a:t>g</a:t>
            </a:r>
            <a:endParaRPr lang="en-US" u="sng" baseline="300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Number, Mass Number, and Isotopes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hashta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92481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77393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Number (Z)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the number of protons in an atom. It defines the element — every atom of carbon has 6 protons, no exceptions and any atom with 6 proton MUST be Carbon.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weightHang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20497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5409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 Number (A)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the total number of protons plus neutrons in an atom’s nucleus. Subtract Z from A to find the number of neutrons.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clo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448513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342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Isotopes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some atoms of the same element (same number of protons) can have different numbers of neutrons — and therefore each isotope type would have different Mass Numbers.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4: Atomic Structure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Example: Reading Atomic Notation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" y="2011680"/>
            <a:ext cx="1600200" cy="38404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94944" y="20116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/>
              <p:nvPr/>
            </p:nvSpPr>
            <p:spPr>
              <a:xfrm>
                <a:off x="2496312" y="1746504"/>
                <a:ext cx="8942832" cy="914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lnSpc>
                    <a:spcPct val="105000"/>
                  </a:lnSpc>
                  <a:buNone/>
                </a:pPr>
                <a:r>
                  <a:rPr lang="en-US" dirty="0">
                    <a:solidFill>
                      <a:srgbClr val="14213D"/>
                    </a:solidFill>
                    <a:latin typeface="Garamond" pitchFamily="34" charset="0"/>
                    <a:ea typeface="Garamond" pitchFamily="34" charset="-122"/>
                    <a:cs typeface="Garamond" pitchFamily="34" charset="-120"/>
                  </a:rPr>
                  <a:t>Carbon-14 would be written as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000" b="0" i="1" smtClean="0">
                            <a:solidFill>
                              <a:srgbClr val="14213D"/>
                            </a:solidFill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sz="2000" b="0" i="1" smtClean="0">
                            <a:solidFill>
                              <a:srgbClr val="1421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sPre>
                  </m:oMath>
                </a14:m>
                <a:r>
                  <a:rPr lang="en-US" sz="2000" dirty="0">
                    <a:solidFill>
                      <a:srgbClr val="14213D"/>
                    </a:solidFill>
                    <a:latin typeface="Garamond" pitchFamily="34" charset="0"/>
                    <a:ea typeface="Garamond" pitchFamily="34" charset="-122"/>
                    <a:cs typeface="Garamond" pitchFamily="34" charset="-120"/>
                  </a:rPr>
                  <a:t> </a:t>
                </a:r>
                <a:r>
                  <a:rPr lang="en-US" dirty="0">
                    <a:solidFill>
                      <a:srgbClr val="14213D"/>
                    </a:solidFill>
                    <a:latin typeface="Garamond" pitchFamily="34" charset="0"/>
                    <a:ea typeface="Garamond" pitchFamily="34" charset="-122"/>
                    <a:cs typeface="Garamond" pitchFamily="34" charset="-120"/>
                  </a:rPr>
                  <a:t>— mass number 14 written above, atomic number 6 written below the element symbol.</a:t>
                </a:r>
                <a:endParaRPr lang="en-US" dirty="0"/>
              </a:p>
            </p:txBody>
          </p:sp>
        </mc:Choice>
        <mc:Fallback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312" y="1746504"/>
                <a:ext cx="8942832" cy="914400"/>
              </a:xfrm>
              <a:prstGeom prst="rect">
                <a:avLst/>
              </a:prstGeom>
              <a:blipFill>
                <a:blip r:embed="rId3"/>
                <a:stretch>
                  <a:fillRect l="-156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548640" y="2862072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4944" y="3182112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4944" y="318211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Protons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96312" y="2916936"/>
            <a:ext cx="8942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atomic number (</a:t>
            </a:r>
            <a:r>
              <a:rPr lang="en-US" b="1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Z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) (6) tells you the number of protons directly — this atom has 6 protons, which is why it’s Carbon.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4032504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944" y="4352544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4944" y="43525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Neutrons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96312" y="4087368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Subtract: Mass Number − Atomic Number = Neutrons. 14 − 6 = 8 Neutrons in a Carbon–14 atom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5202936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" y="5522976"/>
            <a:ext cx="1600200" cy="38404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" y="552297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496312" y="5257800"/>
            <a:ext cx="8942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b="1" u="sng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Any neutral atom has equal numbers of protons and electrons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, so Carbon-14 has 6 electrons — the same as ordinary Carbon-12.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4: Atomic Structure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layerGro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Levels, Orbitals &amp; Electron Configuration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Where electrons live around the nucleus — and the rules for filling those spaces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4: Atomic Structure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Levels, Sublevels, and Orbitals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Electrons fill space around the nucleus in a nested structure, from the inside out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64084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74624" y="1878584"/>
            <a:ext cx="530352" cy="530352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layerGro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301" y="1995261"/>
            <a:ext cx="296997" cy="2969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69568" y="1842008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Levels (Shells)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86384" y="2536952"/>
            <a:ext cx="30449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Numbered 1, 2, 3... outward from the nucleus. Higher numbers hold more energy and more electrons.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361688" y="164084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99432" y="187858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_tab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109" y="1995261"/>
            <a:ext cx="296997" cy="29699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94376" y="1842008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Sublevels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599432" y="2536952"/>
            <a:ext cx="30449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Each level splits into sublevels labeled </a:t>
            </a:r>
            <a:r>
              <a:rPr lang="en-US" b="1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s, p, d, and f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— each with a different energy and shape.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8174736" y="164084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12480" y="1878584"/>
            <a:ext cx="530352" cy="530352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_dotCir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9157" y="1995261"/>
            <a:ext cx="296997" cy="29699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07424" y="1842008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Orbitals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412480" y="2536952"/>
            <a:ext cx="30449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Each sublevel is made of one or more orbitals — regions where up to 2 electrons are likely to be found.</a:t>
            </a: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1076960" y="4351528"/>
            <a:ext cx="9712960" cy="1776130"/>
          </a:xfrm>
          <a:prstGeom prst="roundRect">
            <a:avLst>
              <a:gd name="adj" fmla="val 9412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1366520" y="4481576"/>
            <a:ext cx="420624" cy="420624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_listO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4851" y="4569907"/>
            <a:ext cx="243962" cy="2439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54784" y="4514250"/>
            <a:ext cx="10058400" cy="893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 Capacity: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	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Cambria" pitchFamily="34" charset="-122"/>
                <a:cs typeface="Cambria" pitchFamily="34" charset="-120"/>
              </a:rPr>
              <a:t>Any </a:t>
            </a:r>
            <a:r>
              <a:rPr lang="en-US" b="1" u="sng" dirty="0">
                <a:solidFill>
                  <a:srgbClr val="14213D"/>
                </a:solidFill>
                <a:latin typeface="Garamond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at any energy level can hold up to 2 electrons — always 1</a:t>
            </a:r>
            <a:r>
              <a:rPr lang="en-US" baseline="30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; </a:t>
            </a:r>
          </a:p>
          <a:p>
            <a:pPr lvl="1">
              <a:lnSpc>
                <a:spcPct val="105000"/>
              </a:lnSpc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	  Any </a:t>
            </a:r>
            <a:r>
              <a:rPr lang="en-US" b="1" u="sng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at any energy level can hold up to 6 electrons which start at Row 2, Shell 2; </a:t>
            </a:r>
          </a:p>
          <a:p>
            <a:pPr lvl="1">
              <a:lnSpc>
                <a:spcPct val="105000"/>
              </a:lnSpc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	  Any </a:t>
            </a:r>
            <a:r>
              <a:rPr lang="en-US" b="1" u="sng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at any energy level can hold up to 10 electrons which start at Row 4, Shell 3;</a:t>
            </a:r>
          </a:p>
          <a:p>
            <a:pPr lvl="1">
              <a:lnSpc>
                <a:spcPct val="105000"/>
              </a:lnSpc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	  Any </a:t>
            </a:r>
            <a:r>
              <a:rPr lang="en-US" b="1" u="sng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at any energy level can hold up to 14 which start at Row 6, Shell 4;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4: Atomic Structure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for Writing Electron Configurations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layerGro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92481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8928" y="1801368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Aufbau Principle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electrons fill the lowest-energy orbitals first, before moving to higher-energy ones.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dotCirc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20497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845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Pauli Exclusion Principle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each orbital holds a maximum of 2 electrons, and those two must spin in opposite directions (+/-).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448513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850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Hund’s Rule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within a sublevel, electrons fill each empty orbital singly before any orbital gets a second electron because electrons prefer spread out across the available degenerate (same energy level) orbitals.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4: Atomic Structure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It: Electron Configuration for Sodium (Na)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" y="201168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94944" y="20116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96312" y="1746504"/>
            <a:ext cx="8942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Sodium (Na) has atomic number (Z = 11), so a neutral sodium atom has 11 electrons to place.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862072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4944" y="3182112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694944" y="318211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in Order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96312" y="2916936"/>
            <a:ext cx="8942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Following the Aufbau principle: 1s holds 2, 2s holds 2, 2p holds 6 — that accounts for 10 electrons so far.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4032504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944" y="4352544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4944" y="43525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Electron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96312" y="4087368"/>
            <a:ext cx="8942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One electron remains, and it goes into the next available sublevel: 3s.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5202936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" y="5522976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" y="552297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496312" y="5257800"/>
            <a:ext cx="8942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Sodium’s full configuration is 1s</a:t>
            </a:r>
            <a:r>
              <a:rPr lang="en-US" baseline="30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2s</a:t>
            </a:r>
            <a:r>
              <a:rPr lang="en-US" baseline="30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2p</a:t>
            </a:r>
            <a:r>
              <a:rPr lang="en-US" baseline="30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3s</a:t>
            </a:r>
            <a:r>
              <a:rPr lang="en-US" baseline="30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— notice the superscripts add up to 11, the total electron count.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4: Atomic Structure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to Know &amp; Understand for this lecture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450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number: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number of protons in an atom; defines the element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172200" y="1691640"/>
            <a:ext cx="450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 number: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Total protons plus neutrons in the nucleus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450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Isotope: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Atoms of the same element with different neutron counts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72200" y="2788920"/>
            <a:ext cx="450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Nucleus: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small, dense, positively charged center of an atom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450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level: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numbered shell of space around the nucleus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72200" y="3886200"/>
            <a:ext cx="450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Orbital: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region where an electron is likely to be found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983480"/>
            <a:ext cx="450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Aufbau principle: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Electrons fill the lowest-energy orbitals first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172200" y="4983480"/>
            <a:ext cx="450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 configuration: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full listing of where an atom’s electrons are placed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4: Atomic Structure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What’s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058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Our model of the atom evolved through Democritus, Dalton, Thomson, Rutherford, and Bohr, to today’s quantum model</a:t>
            </a:r>
            <a:endParaRPr lang="en-US" sz="2000" dirty="0"/>
          </a:p>
          <a:p>
            <a:pPr marL="342900" indent="-342900" algn="l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Atomic number, mass number, and isotopes let us identify and label atoms precisely</a:t>
            </a:r>
            <a:endParaRPr lang="en-US" sz="2000" dirty="0"/>
          </a:p>
          <a:p>
            <a:pPr marL="342900" indent="-342900" algn="l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Electrons occupy energy levels, sublevels, and orbitals in a predictable, nested structure</a:t>
            </a:r>
            <a:endParaRPr lang="en-US" sz="2000" dirty="0"/>
          </a:p>
          <a:p>
            <a:pPr marL="342900" indent="-342900" algn="l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Aufbau principle, Pauli exclusion, and Hund’s rule let us write any atom’s electron configuration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4709160"/>
            <a:ext cx="10543032" cy="1417320"/>
          </a:xfrm>
          <a:prstGeom prst="roundRect">
            <a:avLst>
              <a:gd name="adj" fmla="val 5806"/>
            </a:avLst>
          </a:prstGeom>
          <a:solidFill>
            <a:srgbClr val="1B2C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4A1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UP NEXT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5257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Topic 5: Periodic Properties of Elements — classifying elements historically, periodic trends, electron dot notation, and ionization energy.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4: Atomic Structure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1734</Words>
  <Application>Microsoft Macintosh PowerPoint</Application>
  <PresentationFormat>Widescreen</PresentationFormat>
  <Paragraphs>191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Cambria</vt:lpstr>
      <vt:lpstr>Cambria Math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Patridge, Christopher</cp:lastModifiedBy>
  <cp:revision>2</cp:revision>
  <dcterms:created xsi:type="dcterms:W3CDTF">2026-09-06T16:59:19Z</dcterms:created>
  <dcterms:modified xsi:type="dcterms:W3CDTF">2026-09-19T16:03:38Z</dcterms:modified>
</cp:coreProperties>
</file>
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75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8219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0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ELEMENTS OF GENERAL CHEMISTRY 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5: Periodic Properties of Elements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Reading the periodic table, its trends, and what they predict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6B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Asynchronous Online Lecture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covered in this lecture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histor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183337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1682496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the elements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 quick history of how chemists organized elements before and after Mendeleev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907792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tab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3003804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2852928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periodic table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Periods, groups, and the major categories of elements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548640" y="4078224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expandArrow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" y="4174236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7008" y="4023360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trends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How atomic size and ionization energy change across a period and down a group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548640" y="5248656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icon_brail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" y="5344668"/>
            <a:ext cx="265176" cy="2651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008" y="5193792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Ion charges &amp; electron dot notation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Predicting the charge an element forms, and drawing its valence electrons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understanding the Periodic Table properties are important  in Healthcare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" y="197510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2091781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Electrolytes &amp; Group Patterns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Na</a:t>
            </a:r>
            <a:r>
              <a:rPr lang="en-US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K</a:t>
            </a:r>
            <a:r>
              <a:rPr lang="en-US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Ca</a:t>
            </a:r>
            <a:r>
              <a:rPr lang="en-US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2+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and Mg</a:t>
            </a:r>
            <a:r>
              <a:rPr lang="en-US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2+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all sit in Groups 1 and 2 — their shared group explains why they all form predictable, similarly charged ions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3620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73952" y="1975104"/>
            <a:ext cx="530352" cy="530352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ti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629" y="2091781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Halogens as Disinfectants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7395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Chlorine (Cl) and Iodine (I), both halogens, are reactive enough to kill microbes — used in wound care, water treatment, and surgical prep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56692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04672" y="4261104"/>
            <a:ext cx="530352" cy="530352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_exclamationTriang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49" y="4377781"/>
            <a:ext cx="296997" cy="296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961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Metal Toxicity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0467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Lead (Pb) and Mercury (Hg) sit low on the periodic table — screening and treatment both depend on knowing how these elements behave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23620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73952" y="4261104"/>
            <a:ext cx="530352" cy="530352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_pill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629" y="4377781"/>
            <a:ext cx="296997" cy="29699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6889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Ionization &amp; Absorption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47395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Whether a medication is charged or neutral at body pH determines how easily it crosses cell membranes and gets absorbed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histor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the Elements: A Quick History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Mendeleev wasn’t working alone — and his table wasn’t quite the final word either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Triads to the Modern Periodic Law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3817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" y="1619504"/>
            <a:ext cx="530352" cy="530352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1736181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15829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Döbereiner’s Triads (1829)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" y="22778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Grouped elements in threes with similar properties, where the middle element’s mass sat roughly between the other two.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36208" y="13817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73952" y="161950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list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629" y="1736181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5829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Newlands’ Octaves (1865)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73952" y="22778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Noticed properties repeated every eighth element when arranged by mass — an early, incomplete hint at periodicity.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566928" y="36677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04672" y="3905504"/>
            <a:ext cx="530352" cy="530352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_tab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49" y="4022181"/>
            <a:ext cx="296997" cy="296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9616" y="38689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Mendeleev’s Table (1869)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04672" y="45638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Arranged all 63 known elements by mass and recurring properties, leaving gaps for elements not yet discovered (Topic 1).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236208" y="36677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73952" y="3905504"/>
            <a:ext cx="530352" cy="530352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_hashta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629" y="4022181"/>
            <a:ext cx="296997" cy="29699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68896" y="38689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Moseley’s Correction (1913)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473952" y="45638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Showed elements should be ordered by atomic number, not mass — fixing a handful of mismatches and defining the modern periodic law.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548640" y="58714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**The Modern Periodic Law: properties of elements repeat periodically when arranged by increasing atomic number.**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ta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Periodic Table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976116" y="4663440"/>
            <a:ext cx="423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Position on the table isn’t random — it encodes an element’s structure and behavior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Structure of the Periodic Table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3520440" cy="3423920"/>
          </a:xfrm>
          <a:prstGeom prst="roundRect">
            <a:avLst>
              <a:gd name="adj" fmla="val 3000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" y="215798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ta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61" y="2274661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2121408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Periods (rows)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86384" y="3050032"/>
            <a:ext cx="30449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horizontal rows, numbered 1–7. Moving across a period, elements gain one proton and one electron at a time.  The rows are different due to electron filling (previous Topic 4)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361688" y="1920240"/>
            <a:ext cx="3520440" cy="3423920"/>
          </a:xfrm>
          <a:prstGeom prst="roundRect">
            <a:avLst>
              <a:gd name="adj" fmla="val 3000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99432" y="2157984"/>
            <a:ext cx="530352" cy="530352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layerGro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109" y="2274661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94376" y="2121408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Groups (columns)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599432" y="3050032"/>
            <a:ext cx="30449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vertical columns, numbered 1–18. Elements in the same group share the same number of valence electrons — and similar behavior.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 dirty="0">
              <a:solidFill>
                <a:srgbClr val="14213D"/>
              </a:solidFill>
              <a:latin typeface="Garamond" pitchFamily="34" charset="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</a:rPr>
              <a:t>Further division of A – Main Groups &amp; B – Transition Groups 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8174736" y="1920240"/>
            <a:ext cx="3520440" cy="3423920"/>
          </a:xfrm>
          <a:prstGeom prst="roundRect">
            <a:avLst>
              <a:gd name="adj" fmla="val 3000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412480" y="2157984"/>
            <a:ext cx="530352" cy="530352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_palett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9157" y="2274661"/>
            <a:ext cx="296997" cy="296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07424" y="2121408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Metals, Nonmetals &amp; Metalloids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412480" y="3050032"/>
            <a:ext cx="3081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Metals (left, shiny, conductive) and Nonmetals (right, brittle, poor conductors) are separated by a zig-zag staircase of the Metalloids or they’re sometimes called semi-metals which are incredibly important for electronics.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group names to Know &amp; Identify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" y="1975104"/>
            <a:ext cx="530352" cy="530352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2091781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Alkali Metals (Group 1)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Extremely reactive metals with 1 valence electron; react violently with water (sodium, potassium).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3620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73952" y="197510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cube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629" y="2091781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Alkaline Earth Metals (Group 2)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73952" y="267411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Reactive metals with 2 valence electrons; less reactive than Group 1 (calcium, magnesium).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56692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04672" y="4261104"/>
            <a:ext cx="530352" cy="530352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_tin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49" y="4377781"/>
            <a:ext cx="296997" cy="296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961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Halogens (Group 17)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04672" y="496011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"Salt-formers" with 7 valence electrons; highly reactive nonmetals (fluorine, chlorine, iodine).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23620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73952" y="4261104"/>
            <a:ext cx="530352" cy="530352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_win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629" y="4377781"/>
            <a:ext cx="296997" cy="29699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6889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Noble Gases (Group 18)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473952" y="496011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full outer shell makes these gases almost completely unreactive (helium, neon, argon).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expandArrow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685784"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Trends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 atomic size and reactivity change as you move across and down the table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Radius and Ionic Radius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expandArrow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35669">
            <a:off x="736092" y="19705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5013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a Period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atomic radius decreases left to right. More protons in the nucleus pull the same-shell electrons in tighter, even as electrons are added to the same orbital.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layerGro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2506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13029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 a Group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atomic radius increases. Each row down adds a whole new energy level (shell), pushing electrons farther from the nucleus.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exchan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453085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4104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Ions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cations (positive ions) are smaller than their neutral atom, having lost an entire shell; anions (negative ions) are larger, since extra electrons increase repulsion.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Ionization Energy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energy required to remove the outermost electron from a neutral atom in the gas phase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224485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2093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a Period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ionization energy increases left to right. A stronger pull from more protons makes electrons harder to remove.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_layerGro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52501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337413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 a Group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ionization energy decreases. Outer electrons sit farther away and are shielded by more inner electrons, so they’re easier to pull off.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40080" y="47091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14400" y="48463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link: </a:t>
            </a:r>
            <a:r>
              <a:rPr lang="en-US" sz="16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Elements with low ionization energy (like sodium (Na)) give up electrons easily — exactly why they form the reactive cations found in body fluids.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the Trends Together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368517"/>
              </p:ext>
            </p:extLst>
          </p:nvPr>
        </p:nvGraphicFramePr>
        <p:xfrm>
          <a:off x="568960" y="1737360"/>
          <a:ext cx="11071352" cy="2926080"/>
        </p:xfrm>
        <a:graphic>
          <a:graphicData uri="http://schemas.openxmlformats.org/drawingml/2006/table">
            <a:tbl>
              <a:tblPr/>
              <a:tblGrid>
                <a:gridCol w="308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6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5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Property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Across a Period (Left → Right)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Down a Group (Top → Bottom)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Atomic Radius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Decreases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Increases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Ionization Energy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Increases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Decreases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Metallic Character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Decreases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Increases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Notice the pattern: every property that increases across a period decreases down a group, and vice versa.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9986" y="1770670"/>
            <a:ext cx="2388980" cy="211553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Ions, Charges &amp; Electron Dot Notation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Predicting the charge an atom forms, and drawing its valence electrons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</a:t>
            </a:r>
            <a:endParaRPr lang="en-US" sz="1000" dirty="0"/>
          </a:p>
        </p:txBody>
      </p:sp>
      <p:pic>
        <p:nvPicPr>
          <p:cNvPr id="9" name="Graphic 8" descr="Battery with solid fill">
            <a:extLst>
              <a:ext uri="{FF2B5EF4-FFF2-40B4-BE49-F238E27FC236}">
                <a16:creationId xmlns:a16="http://schemas.microsoft.com/office/drawing/2014/main" id="{B881F0DB-69B9-0891-B81C-3103CF1F1F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5389" y="2086794"/>
            <a:ext cx="914400" cy="914400"/>
          </a:xfrm>
          <a:prstGeom prst="rect">
            <a:avLst/>
          </a:prstGeom>
        </p:spPr>
      </p:pic>
      <p:pic>
        <p:nvPicPr>
          <p:cNvPr id="11" name="Graphic 10" descr="Circles with lines outline">
            <a:extLst>
              <a:ext uri="{FF2B5EF4-FFF2-40B4-BE49-F238E27FC236}">
                <a16:creationId xmlns:a16="http://schemas.microsoft.com/office/drawing/2014/main" id="{4BC0A72C-5B95-0E46-A1AB-BBEE13B41C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2941" y="2606037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Ionic Charges from the Periodic Table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2074" y="1526066"/>
            <a:ext cx="553212" cy="55321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cub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670084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4669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Metals —  </a:t>
            </a:r>
            <a:r>
              <a:rPr lang="en-US" sz="2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tend to lose electrons and form positive ions (cations). The charge often matches the group number: Group 1A → +1 (Li, Na, K, Rb, Cs, Fr), Group 2A → +2 (Be, Mg, Ca, Sr, Ba…), Group 3A → +3 (B, Al, Ga…).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2074" y="3028297"/>
            <a:ext cx="553212" cy="553212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win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172315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27644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Nonmetals —  </a:t>
            </a:r>
            <a:r>
              <a:rPr lang="en-US" sz="2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tend to gain electrons and form negative ions (anions). For main-group (A) nonmetals, the charge is often group number - 8: Group 5A → 5 – 8 = </a:t>
            </a:r>
            <a:r>
              <a:rPr lang="en-US" sz="2400" b="1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-3 </a:t>
            </a:r>
            <a:r>
              <a:rPr lang="en-US" sz="2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(N, P, As…), Group 6A → 6 – 8 = </a:t>
            </a:r>
            <a:r>
              <a:rPr lang="en-US" sz="2400" b="1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-2 </a:t>
            </a:r>
            <a:r>
              <a:rPr lang="en-US" sz="2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(O, S, Se…), and Group 7A → 7 – 8 = </a:t>
            </a:r>
            <a:r>
              <a:rPr lang="en-US" sz="2400" b="1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-1 </a:t>
            </a:r>
            <a:r>
              <a:rPr lang="en-US" sz="2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(F, Cl, Br, I…).</a:t>
            </a:r>
            <a:endParaRPr lang="en-US" sz="2800" dirty="0"/>
          </a:p>
        </p:txBody>
      </p:sp>
      <p:sp>
        <p:nvSpPr>
          <p:cNvPr id="9" name="Shape 5"/>
          <p:cNvSpPr/>
          <p:nvPr/>
        </p:nvSpPr>
        <p:spPr>
          <a:xfrm>
            <a:off x="592074" y="4804851"/>
            <a:ext cx="553212" cy="553212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checkCir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4948869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799618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Noble Gases —  </a:t>
            </a:r>
            <a:r>
              <a:rPr lang="en-US" sz="2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already have a full outer shell, so they rarely gain, lose, or share electrons at all.</a:t>
            </a:r>
            <a:endParaRPr lang="en-US" sz="28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 Dot Diagram (Lewis) Notation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brail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9705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09860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 —  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element symbol surrounded by dots that represent its </a:t>
            </a:r>
            <a:r>
              <a:rPr lang="en-US" sz="2000" b="1" u="sng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valence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(outermost) electrons — the ones involved in bonding.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hasht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2506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63894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 Valence Electrons —  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for main group A elements, the number of valence electrons (Ve-) = the group number (using 1–2 and 13–18) 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2000" dirty="0">
              <a:solidFill>
                <a:srgbClr val="14213D"/>
              </a:solidFill>
              <a:latin typeface="Garamond" pitchFamily="34" charset="0"/>
              <a:ea typeface="Garamond" pitchFamily="34" charset="-122"/>
              <a:cs typeface="Garamond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Garamond" pitchFamily="34" charset="0"/>
              </a:rPr>
              <a:t>Examples → Na = 1 Ve-,   Mg = 2 Ve-,   Al = 3 Ve-,   C = 4 Ve-,   N = 5 Ve-,   O = 6 Ve-,   F = 7 Ve-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640080" y="5114109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1298448" y="5033118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Placing the Dots —  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add one dot to each of the four sides of the symbol first, then start pairing them up as more electrons are added.  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</a:t>
            </a:r>
            <a:endParaRPr lang="en-US" sz="1000" dirty="0"/>
          </a:p>
        </p:txBody>
      </p:sp>
      <p:pic>
        <p:nvPicPr>
          <p:cNvPr id="15" name="Graphic 14" descr="Circles with lines with solid fill">
            <a:extLst>
              <a:ext uri="{FF2B5EF4-FFF2-40B4-BE49-F238E27FC236}">
                <a16:creationId xmlns:a16="http://schemas.microsoft.com/office/drawing/2014/main" id="{F7724ED7-2EDA-8B19-AE21-E0E59A6EC5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850" y="5076879"/>
            <a:ext cx="531659" cy="53165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Electron Dot Structure for Chlorine (Cl)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4078" y="1992478"/>
            <a:ext cx="1559052" cy="422453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" y="20116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13432" y="1746504"/>
            <a:ext cx="9125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Chlorine is in Group 17, so a neutral chlorine atom has 7 valence electrons.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4078" y="3162910"/>
            <a:ext cx="1559052" cy="422453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4944" y="3182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First 4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13432" y="2916936"/>
            <a:ext cx="9125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Put one dot on each of the four sides of the "Cl" symbol — top, right, bottom, left — before doubling any of them up.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4032504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4078" y="4333342"/>
            <a:ext cx="1559052" cy="422453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" y="43525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the Rest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313432" y="4087368"/>
            <a:ext cx="9125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With 3 electrons left, pair them onto three of the four sides. One side is left with a single, unpaired dot.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5202936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4078" y="5503774"/>
            <a:ext cx="1559052" cy="422453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" y="55229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313432" y="5257800"/>
            <a:ext cx="9125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That lone unpaired electron is why chlorine is so reactive — it only needs to gain one more electron to complete its outer shell.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to Know &amp; Understand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483325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Period:  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horizontal row on the periodic table.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72200" y="1691640"/>
            <a:ext cx="483325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Group:  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vertical column; elements share valence electrons.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483325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Metalloid:  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 element with properties between metals and nonmetals.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72200" y="2788920"/>
            <a:ext cx="483325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radius:  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measure of the size of an atom.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483325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Ionization energy:  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Energy needed to remove an atom’s outermost electron.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172200" y="3886200"/>
            <a:ext cx="483325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Valence electron:  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 electron in the outermost energy level.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483325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Cation:  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positively charged ion, formed by losing electrons.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172200" y="4983480"/>
            <a:ext cx="483325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Anion:  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negatively charged ion, formed by gaining electrons.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What’s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Element classification evolved from Döbereiner’s triads through Mendeleev to Moseley’s modern periodic law</a:t>
            </a:r>
            <a:endParaRPr lang="en-US" sz="2000" dirty="0"/>
          </a:p>
          <a:p>
            <a:pPr marL="342900" indent="-342900" algn="l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table is organized into periods, groups, and metal / nonmetal / metalloid categories</a:t>
            </a:r>
            <a:endParaRPr lang="en-US" sz="2000" dirty="0"/>
          </a:p>
          <a:p>
            <a:pPr marL="342900" indent="-342900" algn="l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Atomic radius and ionization energy follow opposite, predictable trends across periods and down groups</a:t>
            </a:r>
            <a:endParaRPr lang="en-US" sz="2000" dirty="0"/>
          </a:p>
          <a:p>
            <a:pPr marL="342900" indent="-342900" algn="l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Group position predicts ion charge, and electron dot notation shows an atom’s valence electrons directly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4709160"/>
            <a:ext cx="10543032" cy="1417320"/>
          </a:xfrm>
          <a:prstGeom prst="roundRect">
            <a:avLst>
              <a:gd name="adj" fmla="val 5806"/>
            </a:avLst>
          </a:prstGeom>
          <a:solidFill>
            <a:srgbClr val="1B2C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UP NEXT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5257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Topic 6: Names and Formulas — naming ionic compounds, binary compounds of nonmetals, and acids, salts, and hydrates.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5: Periodic Properties of Elements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1730</Words>
  <Application>Microsoft Macintosh PowerPoint</Application>
  <PresentationFormat>Widescreen</PresentationFormat>
  <Paragraphs>164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Cambria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Patridge, Christopher</cp:lastModifiedBy>
  <cp:revision>3</cp:revision>
  <dcterms:created xsi:type="dcterms:W3CDTF">2026-09-06T17:03:43Z</dcterms:created>
  <dcterms:modified xsi:type="dcterms:W3CDTF">2026-09-19T17:26:31Z</dcterms:modified>
</cp:coreProperties>
</file>
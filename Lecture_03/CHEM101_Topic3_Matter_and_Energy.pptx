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44"/>
    <p:restoredTop sz="82642"/>
  </p:normalViewPr>
  <p:slideViewPr>
    <p:cSldViewPr snapToGrid="0" snapToObjects="1">
      <p:cViewPr varScale="1">
        <p:scale>
          <a:sx n="98" d="100"/>
          <a:sy n="98" d="100"/>
        </p:scale>
        <p:origin x="192"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6860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Explain Text, Reiterate the underline phrase by using the metaphor that heat always travels down the thermal “hill” as warm objects are at the top of the hill and cold objects are at the bottom of the ”hill” and energy naturally rolls down the hill.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“Precipitation” has a slightly different meaning in this context.  Chemistry uses the term when solid forms in a solution and not the typical use in weather prediction for rain or snow.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0.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38200" y="1554480"/>
            <a:ext cx="10515600" cy="365760"/>
          </a:xfrm>
          <a:prstGeom prst="rect">
            <a:avLst/>
          </a:prstGeom>
          <a:noFill/>
          <a:ln/>
        </p:spPr>
        <p:txBody>
          <a:bodyPr wrap="square" lIns="0" tIns="0" rIns="0" bIns="0" rtlCol="0" anchor="ctr"/>
          <a:lstStyle/>
          <a:p>
            <a:pPr marL="0" indent="0" algn="l">
              <a:buNone/>
            </a:pPr>
            <a:r>
              <a:rPr lang="en-US" sz="1600" kern="0" spc="200" dirty="0">
                <a:solidFill>
                  <a:srgbClr val="F4A100"/>
                </a:solidFill>
                <a:latin typeface="Garamond" pitchFamily="34" charset="0"/>
                <a:ea typeface="Garamond" pitchFamily="34" charset="-122"/>
                <a:cs typeface="Garamond" pitchFamily="34" charset="-120"/>
              </a:rPr>
              <a:t>CHEM 101 · ELEMENTS OF GENERAL CHEMISTRY I</a:t>
            </a:r>
            <a:endParaRPr lang="en-US" sz="1600" dirty="0"/>
          </a:p>
        </p:txBody>
      </p:sp>
      <p:sp>
        <p:nvSpPr>
          <p:cNvPr id="3" name="Text 1"/>
          <p:cNvSpPr/>
          <p:nvPr/>
        </p:nvSpPr>
        <p:spPr>
          <a:xfrm>
            <a:off x="822960" y="2171700"/>
            <a:ext cx="10515600" cy="100584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Topic 3: Matter and Energy</a:t>
            </a:r>
            <a:endParaRPr lang="en-US" sz="4400" dirty="0"/>
          </a:p>
        </p:txBody>
      </p:sp>
      <p:sp>
        <p:nvSpPr>
          <p:cNvPr id="4" name="Text 2"/>
          <p:cNvSpPr/>
          <p:nvPr/>
        </p:nvSpPr>
        <p:spPr>
          <a:xfrm>
            <a:off x="822960" y="3429000"/>
            <a:ext cx="10058400" cy="548640"/>
          </a:xfrm>
          <a:prstGeom prst="rect">
            <a:avLst/>
          </a:prstGeom>
          <a:noFill/>
          <a:ln/>
        </p:spPr>
        <p:txBody>
          <a:bodyPr wrap="square" lIns="0" tIns="0" rIns="0" bIns="0" rtlCol="0" anchor="ctr"/>
          <a:lstStyle/>
          <a:p>
            <a:pPr marL="0" indent="0" algn="l">
              <a:buNone/>
            </a:pPr>
            <a:r>
              <a:rPr lang="en-US" sz="2000" dirty="0">
                <a:solidFill>
                  <a:srgbClr val="CFE3EA"/>
                </a:solidFill>
                <a:latin typeface="Garamond" pitchFamily="34" charset="0"/>
                <a:ea typeface="Garamond" pitchFamily="34" charset="-122"/>
                <a:cs typeface="Garamond" pitchFamily="34" charset="-120"/>
              </a:rPr>
              <a:t>Classifying matter, the states it takes, and how it changes</a:t>
            </a:r>
            <a:endParaRPr lang="en-US" sz="2000" dirty="0"/>
          </a:p>
        </p:txBody>
      </p:sp>
      <p:sp>
        <p:nvSpPr>
          <p:cNvPr id="5" name="Text 3"/>
          <p:cNvSpPr/>
          <p:nvPr/>
        </p:nvSpPr>
        <p:spPr>
          <a:xfrm>
            <a:off x="822960" y="6035040"/>
            <a:ext cx="5486400" cy="365760"/>
          </a:xfrm>
          <a:prstGeom prst="rect">
            <a:avLst/>
          </a:prstGeom>
          <a:noFill/>
          <a:ln/>
        </p:spPr>
        <p:txBody>
          <a:bodyPr wrap="square" lIns="0" tIns="0" rIns="0" bIns="0" rtlCol="0" anchor="ctr"/>
          <a:lstStyle/>
          <a:p>
            <a:pPr marL="0" indent="0" algn="l">
              <a:buNone/>
            </a:pPr>
            <a:r>
              <a:rPr lang="en-US" sz="1300" dirty="0">
                <a:solidFill>
                  <a:srgbClr val="8FA6BE"/>
                </a:solidFill>
                <a:latin typeface="Garamond" pitchFamily="34" charset="0"/>
                <a:ea typeface="Garamond" pitchFamily="34" charset="-122"/>
                <a:cs typeface="Garamond" pitchFamily="34" charset="-120"/>
              </a:rPr>
              <a:t>Asynchronous Online Lecture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What's covered in this lecture</a:t>
            </a:r>
            <a:endParaRPr lang="en-US" sz="3000" dirty="0"/>
          </a:p>
        </p:txBody>
      </p:sp>
      <p:sp>
        <p:nvSpPr>
          <p:cNvPr id="3" name="Shape 1"/>
          <p:cNvSpPr/>
          <p:nvPr/>
        </p:nvSpPr>
        <p:spPr>
          <a:xfrm>
            <a:off x="548640" y="1737360"/>
            <a:ext cx="457200" cy="457200"/>
          </a:xfrm>
          <a:prstGeom prst="ellipse">
            <a:avLst/>
          </a:prstGeom>
          <a:solidFill>
            <a:srgbClr val="1C7293"/>
          </a:solidFill>
          <a:ln/>
        </p:spPr>
        <p:txBody>
          <a:bodyPr/>
          <a:lstStyle/>
          <a:p>
            <a:endParaRPr lang="en-US"/>
          </a:p>
        </p:txBody>
      </p:sp>
      <p:pic>
        <p:nvPicPr>
          <p:cNvPr id="4" name="Image 0" descr="icon_cubes_white.png"/>
          <p:cNvPicPr>
            <a:picLocks noChangeAspect="1"/>
          </p:cNvPicPr>
          <p:nvPr/>
        </p:nvPicPr>
        <p:blipFill>
          <a:blip r:embed="rId3"/>
          <a:stretch>
            <a:fillRect/>
          </a:stretch>
        </p:blipFill>
        <p:spPr>
          <a:xfrm>
            <a:off x="644652" y="1833372"/>
            <a:ext cx="265176" cy="265176"/>
          </a:xfrm>
          <a:prstGeom prst="rect">
            <a:avLst/>
          </a:prstGeom>
        </p:spPr>
      </p:pic>
      <p:sp>
        <p:nvSpPr>
          <p:cNvPr id="5" name="Text 2"/>
          <p:cNvSpPr/>
          <p:nvPr/>
        </p:nvSpPr>
        <p:spPr>
          <a:xfrm>
            <a:off x="1207008" y="1879092"/>
            <a:ext cx="9948672" cy="777240"/>
          </a:xfrm>
          <a:prstGeom prst="rect">
            <a:avLst/>
          </a:prstGeom>
          <a:noFill/>
          <a:ln/>
        </p:spPr>
        <p:txBody>
          <a:bodyPr wrap="square" lIns="0" tIns="0" rIns="0" bIns="0" rtlCol="0" anchor="t"/>
          <a:lstStyle/>
          <a:p>
            <a:pPr marL="0" indent="0" algn="l">
              <a:lnSpc>
                <a:spcPct val="108000"/>
              </a:lnSpc>
              <a:buNone/>
            </a:pPr>
            <a:r>
              <a:rPr lang="en-US" sz="1600" b="1" dirty="0">
                <a:solidFill>
                  <a:srgbClr val="14213D"/>
                </a:solidFill>
                <a:latin typeface="Cambria" pitchFamily="34" charset="0"/>
                <a:ea typeface="Cambria" pitchFamily="34" charset="-122"/>
                <a:cs typeface="Cambria" pitchFamily="34" charset="-120"/>
              </a:rPr>
              <a:t>The states of matter —  </a:t>
            </a:r>
            <a:r>
              <a:rPr lang="en-US" sz="1400" dirty="0">
                <a:solidFill>
                  <a:srgbClr val="14213D"/>
                </a:solidFill>
                <a:latin typeface="Garamond" pitchFamily="34" charset="0"/>
                <a:ea typeface="Garamond" pitchFamily="34" charset="-122"/>
                <a:cs typeface="Garamond" pitchFamily="34" charset="-120"/>
              </a:rPr>
              <a:t> What makes a solid, a liquid, and a gas physically different from one another</a:t>
            </a:r>
            <a:endParaRPr lang="en-US" sz="1600" dirty="0"/>
          </a:p>
        </p:txBody>
      </p:sp>
      <p:sp>
        <p:nvSpPr>
          <p:cNvPr id="6" name="Shape 3"/>
          <p:cNvSpPr/>
          <p:nvPr/>
        </p:nvSpPr>
        <p:spPr>
          <a:xfrm>
            <a:off x="548640" y="2907792"/>
            <a:ext cx="457200" cy="457200"/>
          </a:xfrm>
          <a:prstGeom prst="ellipse">
            <a:avLst/>
          </a:prstGeom>
          <a:solidFill>
            <a:srgbClr val="1C7293"/>
          </a:solidFill>
          <a:ln/>
        </p:spPr>
        <p:txBody>
          <a:bodyPr/>
          <a:lstStyle/>
          <a:p>
            <a:endParaRPr lang="en-US"/>
          </a:p>
        </p:txBody>
      </p:sp>
      <p:pic>
        <p:nvPicPr>
          <p:cNvPr id="7" name="Image 1" descr="icon_link_white.png"/>
          <p:cNvPicPr>
            <a:picLocks noChangeAspect="1"/>
          </p:cNvPicPr>
          <p:nvPr/>
        </p:nvPicPr>
        <p:blipFill>
          <a:blip r:embed="rId4"/>
          <a:stretch>
            <a:fillRect/>
          </a:stretch>
        </p:blipFill>
        <p:spPr>
          <a:xfrm>
            <a:off x="644652" y="3003804"/>
            <a:ext cx="265176" cy="265176"/>
          </a:xfrm>
          <a:prstGeom prst="rect">
            <a:avLst/>
          </a:prstGeom>
        </p:spPr>
      </p:pic>
      <p:sp>
        <p:nvSpPr>
          <p:cNvPr id="8" name="Text 4"/>
          <p:cNvSpPr/>
          <p:nvPr/>
        </p:nvSpPr>
        <p:spPr>
          <a:xfrm>
            <a:off x="1207008" y="3035808"/>
            <a:ext cx="9948672" cy="777240"/>
          </a:xfrm>
          <a:prstGeom prst="rect">
            <a:avLst/>
          </a:prstGeom>
          <a:noFill/>
          <a:ln/>
        </p:spPr>
        <p:txBody>
          <a:bodyPr wrap="square" lIns="0" tIns="0" rIns="0" bIns="0" rtlCol="0" anchor="t"/>
          <a:lstStyle/>
          <a:p>
            <a:pPr marL="0" indent="0" algn="l">
              <a:lnSpc>
                <a:spcPct val="108000"/>
              </a:lnSpc>
              <a:buNone/>
            </a:pPr>
            <a:r>
              <a:rPr lang="en-US" sz="1600" b="1" dirty="0">
                <a:solidFill>
                  <a:srgbClr val="14213D"/>
                </a:solidFill>
                <a:latin typeface="Cambria" pitchFamily="34" charset="0"/>
                <a:ea typeface="Cambria" pitchFamily="34" charset="-122"/>
                <a:cs typeface="Cambria" pitchFamily="34" charset="-120"/>
              </a:rPr>
              <a:t>Classifying matter —  </a:t>
            </a:r>
            <a:r>
              <a:rPr lang="en-US" sz="1400" dirty="0">
                <a:solidFill>
                  <a:srgbClr val="14213D"/>
                </a:solidFill>
                <a:latin typeface="Garamond" pitchFamily="34" charset="0"/>
                <a:ea typeface="Garamond" pitchFamily="34" charset="-122"/>
                <a:cs typeface="Garamond" pitchFamily="34" charset="-120"/>
              </a:rPr>
              <a:t> Elements, compounds, and mixtures — and how mixtures can be separated</a:t>
            </a:r>
            <a:endParaRPr lang="en-US" sz="1600" dirty="0"/>
          </a:p>
        </p:txBody>
      </p:sp>
      <p:sp>
        <p:nvSpPr>
          <p:cNvPr id="9" name="Shape 5"/>
          <p:cNvSpPr/>
          <p:nvPr/>
        </p:nvSpPr>
        <p:spPr>
          <a:xfrm>
            <a:off x="548640" y="4078224"/>
            <a:ext cx="457200" cy="457200"/>
          </a:xfrm>
          <a:prstGeom prst="ellipse">
            <a:avLst/>
          </a:prstGeom>
          <a:solidFill>
            <a:srgbClr val="1C7293"/>
          </a:solidFill>
          <a:ln/>
        </p:spPr>
        <p:txBody>
          <a:bodyPr/>
          <a:lstStyle/>
          <a:p>
            <a:endParaRPr lang="en-US"/>
          </a:p>
        </p:txBody>
      </p:sp>
      <p:pic>
        <p:nvPicPr>
          <p:cNvPr id="10" name="Image 2" descr="icon_exchange_white.png"/>
          <p:cNvPicPr>
            <a:picLocks noChangeAspect="1"/>
          </p:cNvPicPr>
          <p:nvPr/>
        </p:nvPicPr>
        <p:blipFill>
          <a:blip r:embed="rId5"/>
          <a:stretch>
            <a:fillRect/>
          </a:stretch>
        </p:blipFill>
        <p:spPr>
          <a:xfrm>
            <a:off x="644652" y="4174236"/>
            <a:ext cx="265176" cy="265176"/>
          </a:xfrm>
          <a:prstGeom prst="rect">
            <a:avLst/>
          </a:prstGeom>
        </p:spPr>
      </p:pic>
      <p:sp>
        <p:nvSpPr>
          <p:cNvPr id="11" name="Text 6"/>
          <p:cNvSpPr/>
          <p:nvPr/>
        </p:nvSpPr>
        <p:spPr>
          <a:xfrm>
            <a:off x="1207008" y="4206240"/>
            <a:ext cx="9948672" cy="777240"/>
          </a:xfrm>
          <a:prstGeom prst="rect">
            <a:avLst/>
          </a:prstGeom>
          <a:noFill/>
          <a:ln/>
        </p:spPr>
        <p:txBody>
          <a:bodyPr wrap="square" lIns="0" tIns="0" rIns="0" bIns="0" rtlCol="0" anchor="t"/>
          <a:lstStyle/>
          <a:p>
            <a:pPr marL="0" indent="0" algn="l">
              <a:lnSpc>
                <a:spcPct val="108000"/>
              </a:lnSpc>
              <a:buNone/>
            </a:pPr>
            <a:r>
              <a:rPr lang="en-US" sz="1600" b="1" dirty="0">
                <a:solidFill>
                  <a:srgbClr val="14213D"/>
                </a:solidFill>
                <a:latin typeface="Cambria" pitchFamily="34" charset="0"/>
                <a:ea typeface="Cambria" pitchFamily="34" charset="-122"/>
                <a:cs typeface="Cambria" pitchFamily="34" charset="-120"/>
              </a:rPr>
              <a:t>Physical vs. chemical changes —  </a:t>
            </a:r>
            <a:r>
              <a:rPr lang="en-US" sz="1400" dirty="0">
                <a:solidFill>
                  <a:srgbClr val="14213D"/>
                </a:solidFill>
                <a:latin typeface="Garamond" pitchFamily="34" charset="0"/>
                <a:ea typeface="Garamond" pitchFamily="34" charset="-122"/>
                <a:cs typeface="Garamond" pitchFamily="34" charset="-120"/>
              </a:rPr>
              <a:t> How to tell the two apart, and the tell-tale signs a chemical reaction has happened</a:t>
            </a:r>
            <a:endParaRPr lang="en-US" sz="1600" dirty="0"/>
          </a:p>
        </p:txBody>
      </p:sp>
      <p:sp>
        <p:nvSpPr>
          <p:cNvPr id="12" name="Shape 7"/>
          <p:cNvSpPr/>
          <p:nvPr/>
        </p:nvSpPr>
        <p:spPr>
          <a:xfrm>
            <a:off x="548640" y="5248656"/>
            <a:ext cx="457200" cy="457200"/>
          </a:xfrm>
          <a:prstGeom prst="ellipse">
            <a:avLst/>
          </a:prstGeom>
          <a:solidFill>
            <a:srgbClr val="1C7293"/>
          </a:solidFill>
          <a:ln/>
        </p:spPr>
        <p:txBody>
          <a:bodyPr/>
          <a:lstStyle/>
          <a:p>
            <a:endParaRPr lang="en-US"/>
          </a:p>
        </p:txBody>
      </p:sp>
      <p:pic>
        <p:nvPicPr>
          <p:cNvPr id="13" name="Image 3" descr="icon_balanceScale_white.png"/>
          <p:cNvPicPr>
            <a:picLocks noChangeAspect="1"/>
          </p:cNvPicPr>
          <p:nvPr/>
        </p:nvPicPr>
        <p:blipFill>
          <a:blip r:embed="rId6"/>
          <a:stretch>
            <a:fillRect/>
          </a:stretch>
        </p:blipFill>
        <p:spPr>
          <a:xfrm>
            <a:off x="644652" y="5344668"/>
            <a:ext cx="265176" cy="265176"/>
          </a:xfrm>
          <a:prstGeom prst="rect">
            <a:avLst/>
          </a:prstGeom>
        </p:spPr>
      </p:pic>
      <p:sp>
        <p:nvSpPr>
          <p:cNvPr id="14" name="Text 8"/>
          <p:cNvSpPr/>
          <p:nvPr/>
        </p:nvSpPr>
        <p:spPr>
          <a:xfrm>
            <a:off x="1207008" y="5350256"/>
            <a:ext cx="9948672" cy="777240"/>
          </a:xfrm>
          <a:prstGeom prst="rect">
            <a:avLst/>
          </a:prstGeom>
          <a:noFill/>
          <a:ln/>
        </p:spPr>
        <p:txBody>
          <a:bodyPr wrap="square" lIns="0" tIns="0" rIns="0" bIns="0" rtlCol="0" anchor="t"/>
          <a:lstStyle/>
          <a:p>
            <a:pPr marL="0" indent="0" algn="l">
              <a:lnSpc>
                <a:spcPct val="108000"/>
              </a:lnSpc>
              <a:buNone/>
            </a:pPr>
            <a:r>
              <a:rPr lang="en-US" sz="1600" b="1" dirty="0">
                <a:solidFill>
                  <a:srgbClr val="14213D"/>
                </a:solidFill>
                <a:latin typeface="Cambria" pitchFamily="34" charset="0"/>
                <a:ea typeface="Cambria" pitchFamily="34" charset="-122"/>
                <a:cs typeface="Cambria" pitchFamily="34" charset="-120"/>
              </a:rPr>
              <a:t>Conservation of mass and energy —  </a:t>
            </a:r>
            <a:r>
              <a:rPr lang="en-US" sz="1400" dirty="0">
                <a:solidFill>
                  <a:srgbClr val="14213D"/>
                </a:solidFill>
                <a:latin typeface="Garamond" pitchFamily="34" charset="0"/>
                <a:ea typeface="Garamond" pitchFamily="34" charset="-122"/>
                <a:cs typeface="Garamond" pitchFamily="34" charset="-120"/>
              </a:rPr>
              <a:t> Why nothing is created or destroyed — only rearranged or transformed</a:t>
            </a:r>
            <a:endParaRPr lang="en-US" sz="1600" dirty="0"/>
          </a:p>
        </p:txBody>
      </p:sp>
      <p:sp>
        <p:nvSpPr>
          <p:cNvPr id="15" name="Text 9"/>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16" name="Text 10"/>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30352"/>
            <a:ext cx="11274552" cy="64008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Where does Matter and Energy impact Healthcare</a:t>
            </a:r>
            <a:endParaRPr lang="en-US" sz="3000" dirty="0"/>
          </a:p>
        </p:txBody>
      </p:sp>
      <p:sp>
        <p:nvSpPr>
          <p:cNvPr id="3" name="Shape 1"/>
          <p:cNvSpPr/>
          <p:nvPr/>
        </p:nvSpPr>
        <p:spPr>
          <a:xfrm>
            <a:off x="566928" y="1737360"/>
            <a:ext cx="5349240" cy="1965960"/>
          </a:xfrm>
          <a:prstGeom prst="roundRect">
            <a:avLst>
              <a:gd name="adj" fmla="val 4186"/>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4" name="Shape 2"/>
          <p:cNvSpPr/>
          <p:nvPr/>
        </p:nvSpPr>
        <p:spPr>
          <a:xfrm>
            <a:off x="804672" y="1975104"/>
            <a:ext cx="530352" cy="530352"/>
          </a:xfrm>
          <a:prstGeom prst="ellipse">
            <a:avLst/>
          </a:prstGeom>
          <a:solidFill>
            <a:srgbClr val="1C7293"/>
          </a:solidFill>
          <a:ln/>
        </p:spPr>
        <p:txBody>
          <a:bodyPr/>
          <a:lstStyle/>
          <a:p>
            <a:endParaRPr lang="en-US"/>
          </a:p>
        </p:txBody>
      </p:sp>
      <p:pic>
        <p:nvPicPr>
          <p:cNvPr id="5" name="Image 0" descr="icon_syringe_white.png"/>
          <p:cNvPicPr>
            <a:picLocks noChangeAspect="1"/>
          </p:cNvPicPr>
          <p:nvPr/>
        </p:nvPicPr>
        <p:blipFill>
          <a:blip r:embed="rId3"/>
          <a:stretch>
            <a:fillRect/>
          </a:stretch>
        </p:blipFill>
        <p:spPr>
          <a:xfrm>
            <a:off x="921349" y="2091781"/>
            <a:ext cx="296997" cy="296997"/>
          </a:xfrm>
          <a:prstGeom prst="rect">
            <a:avLst/>
          </a:prstGeom>
        </p:spPr>
      </p:pic>
      <p:sp>
        <p:nvSpPr>
          <p:cNvPr id="6" name="Text 3"/>
          <p:cNvSpPr/>
          <p:nvPr/>
        </p:nvSpPr>
        <p:spPr>
          <a:xfrm>
            <a:off x="1499616" y="1938528"/>
            <a:ext cx="4215384" cy="603504"/>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IV Fluids &amp; Solutions</a:t>
            </a:r>
            <a:endParaRPr lang="en-US" sz="1500" dirty="0"/>
          </a:p>
        </p:txBody>
      </p:sp>
      <p:sp>
        <p:nvSpPr>
          <p:cNvPr id="7" name="Text 4"/>
          <p:cNvSpPr/>
          <p:nvPr/>
        </p:nvSpPr>
        <p:spPr>
          <a:xfrm>
            <a:off x="804672" y="2633472"/>
            <a:ext cx="4873752" cy="886968"/>
          </a:xfrm>
          <a:prstGeom prst="rect">
            <a:avLst/>
          </a:prstGeom>
          <a:noFill/>
          <a:ln/>
        </p:spPr>
        <p:txBody>
          <a:bodyPr wrap="square" lIns="0" tIns="0" rIns="0" bIns="0" rtlCol="0" anchor="t"/>
          <a:lstStyle/>
          <a:p>
            <a:pPr marL="0" indent="0" algn="l">
              <a:lnSpc>
                <a:spcPct val="105000"/>
              </a:lnSpc>
              <a:buNone/>
            </a:pPr>
            <a:r>
              <a:rPr lang="en-US" sz="1250" dirty="0">
                <a:solidFill>
                  <a:srgbClr val="14213D"/>
                </a:solidFill>
                <a:latin typeface="Garamond" pitchFamily="34" charset="0"/>
                <a:ea typeface="Garamond" pitchFamily="34" charset="-122"/>
                <a:cs typeface="Garamond" pitchFamily="34" charset="-120"/>
              </a:rPr>
              <a:t>Saline and dextrose IV fluids are homogeneous mixtures — recognizing this vs. a suspension affects how a fluid is stored, mixed, and administered</a:t>
            </a:r>
            <a:endParaRPr lang="en-US" sz="1250" dirty="0"/>
          </a:p>
        </p:txBody>
      </p:sp>
      <p:sp>
        <p:nvSpPr>
          <p:cNvPr id="8" name="Shape 5"/>
          <p:cNvSpPr/>
          <p:nvPr/>
        </p:nvSpPr>
        <p:spPr>
          <a:xfrm>
            <a:off x="6236208" y="1737360"/>
            <a:ext cx="5349240" cy="1965960"/>
          </a:xfrm>
          <a:prstGeom prst="roundRect">
            <a:avLst>
              <a:gd name="adj" fmla="val 4186"/>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9" name="Shape 6"/>
          <p:cNvSpPr/>
          <p:nvPr/>
        </p:nvSpPr>
        <p:spPr>
          <a:xfrm>
            <a:off x="6473952" y="1975104"/>
            <a:ext cx="530352" cy="530352"/>
          </a:xfrm>
          <a:prstGeom prst="ellipse">
            <a:avLst/>
          </a:prstGeom>
          <a:solidFill>
            <a:srgbClr val="F4A100"/>
          </a:solidFill>
          <a:ln/>
        </p:spPr>
        <p:txBody>
          <a:bodyPr/>
          <a:lstStyle/>
          <a:p>
            <a:endParaRPr lang="en-US"/>
          </a:p>
        </p:txBody>
      </p:sp>
      <p:pic>
        <p:nvPicPr>
          <p:cNvPr id="10" name="Image 1" descr="icon_thermometerHalf_white.png"/>
          <p:cNvPicPr>
            <a:picLocks noChangeAspect="1"/>
          </p:cNvPicPr>
          <p:nvPr/>
        </p:nvPicPr>
        <p:blipFill>
          <a:blip r:embed="rId4"/>
          <a:stretch>
            <a:fillRect/>
          </a:stretch>
        </p:blipFill>
        <p:spPr>
          <a:xfrm>
            <a:off x="6590629" y="2091781"/>
            <a:ext cx="296997" cy="296997"/>
          </a:xfrm>
          <a:prstGeom prst="rect">
            <a:avLst/>
          </a:prstGeom>
        </p:spPr>
      </p:pic>
      <p:sp>
        <p:nvSpPr>
          <p:cNvPr id="11" name="Text 7"/>
          <p:cNvSpPr/>
          <p:nvPr/>
        </p:nvSpPr>
        <p:spPr>
          <a:xfrm>
            <a:off x="7168896" y="1938528"/>
            <a:ext cx="4215384" cy="603504"/>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Body Temperature &amp; Phase Changes</a:t>
            </a:r>
            <a:endParaRPr lang="en-US" sz="1500" dirty="0"/>
          </a:p>
        </p:txBody>
      </p:sp>
      <p:sp>
        <p:nvSpPr>
          <p:cNvPr id="12" name="Text 8"/>
          <p:cNvSpPr/>
          <p:nvPr/>
        </p:nvSpPr>
        <p:spPr>
          <a:xfrm>
            <a:off x="6473952" y="2633472"/>
            <a:ext cx="4873752" cy="886968"/>
          </a:xfrm>
          <a:prstGeom prst="rect">
            <a:avLst/>
          </a:prstGeom>
          <a:noFill/>
          <a:ln/>
        </p:spPr>
        <p:txBody>
          <a:bodyPr wrap="square" lIns="0" tIns="0" rIns="0" bIns="0" rtlCol="0" anchor="t"/>
          <a:lstStyle/>
          <a:p>
            <a:pPr marL="0" indent="0" algn="l">
              <a:lnSpc>
                <a:spcPct val="105000"/>
              </a:lnSpc>
              <a:buNone/>
            </a:pPr>
            <a:r>
              <a:rPr lang="en-US" sz="1250" dirty="0">
                <a:solidFill>
                  <a:srgbClr val="14213D"/>
                </a:solidFill>
                <a:latin typeface="Garamond" pitchFamily="34" charset="0"/>
                <a:ea typeface="Garamond" pitchFamily="34" charset="-122"/>
                <a:cs typeface="Garamond" pitchFamily="34" charset="-120"/>
              </a:rPr>
              <a:t>Sweating cools the body through evaporation — the same energy principle behind every phase change we’ll study today</a:t>
            </a:r>
            <a:endParaRPr lang="en-US" sz="1250" dirty="0"/>
          </a:p>
        </p:txBody>
      </p:sp>
      <p:sp>
        <p:nvSpPr>
          <p:cNvPr id="13" name="Shape 9"/>
          <p:cNvSpPr/>
          <p:nvPr/>
        </p:nvSpPr>
        <p:spPr>
          <a:xfrm>
            <a:off x="566928" y="4023360"/>
            <a:ext cx="5349240" cy="1965960"/>
          </a:xfrm>
          <a:prstGeom prst="roundRect">
            <a:avLst>
              <a:gd name="adj" fmla="val 4186"/>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14" name="Shape 10"/>
          <p:cNvSpPr/>
          <p:nvPr/>
        </p:nvSpPr>
        <p:spPr>
          <a:xfrm>
            <a:off x="804672" y="4261104"/>
            <a:ext cx="530352" cy="530352"/>
          </a:xfrm>
          <a:prstGeom prst="ellipse">
            <a:avLst/>
          </a:prstGeom>
          <a:solidFill>
            <a:srgbClr val="1C7293"/>
          </a:solidFill>
          <a:ln/>
        </p:spPr>
        <p:txBody>
          <a:bodyPr/>
          <a:lstStyle/>
          <a:p>
            <a:endParaRPr lang="en-US"/>
          </a:p>
        </p:txBody>
      </p:sp>
      <p:pic>
        <p:nvPicPr>
          <p:cNvPr id="15" name="Image 2" descr="icon_flask_white.png"/>
          <p:cNvPicPr>
            <a:picLocks noChangeAspect="1"/>
          </p:cNvPicPr>
          <p:nvPr/>
        </p:nvPicPr>
        <p:blipFill>
          <a:blip r:embed="rId5"/>
          <a:stretch>
            <a:fillRect/>
          </a:stretch>
        </p:blipFill>
        <p:spPr>
          <a:xfrm>
            <a:off x="921349" y="4377781"/>
            <a:ext cx="296997" cy="296997"/>
          </a:xfrm>
          <a:prstGeom prst="rect">
            <a:avLst/>
          </a:prstGeom>
        </p:spPr>
      </p:pic>
      <p:sp>
        <p:nvSpPr>
          <p:cNvPr id="16" name="Text 11"/>
          <p:cNvSpPr/>
          <p:nvPr/>
        </p:nvSpPr>
        <p:spPr>
          <a:xfrm>
            <a:off x="1499616" y="4224528"/>
            <a:ext cx="4215384" cy="603504"/>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Medication Formulations</a:t>
            </a:r>
            <a:endParaRPr lang="en-US" sz="1500" dirty="0"/>
          </a:p>
        </p:txBody>
      </p:sp>
      <p:sp>
        <p:nvSpPr>
          <p:cNvPr id="17" name="Text 12"/>
          <p:cNvSpPr/>
          <p:nvPr/>
        </p:nvSpPr>
        <p:spPr>
          <a:xfrm>
            <a:off x="804672" y="4919472"/>
            <a:ext cx="4873752" cy="886968"/>
          </a:xfrm>
          <a:prstGeom prst="rect">
            <a:avLst/>
          </a:prstGeom>
          <a:noFill/>
          <a:ln/>
        </p:spPr>
        <p:txBody>
          <a:bodyPr wrap="square" lIns="0" tIns="0" rIns="0" bIns="0" rtlCol="0" anchor="t"/>
          <a:lstStyle/>
          <a:p>
            <a:pPr marL="0" indent="0" algn="l">
              <a:lnSpc>
                <a:spcPct val="105000"/>
              </a:lnSpc>
              <a:buNone/>
            </a:pPr>
            <a:r>
              <a:rPr lang="en-US" sz="1250" dirty="0">
                <a:solidFill>
                  <a:srgbClr val="14213D"/>
                </a:solidFill>
                <a:latin typeface="Garamond" pitchFamily="34" charset="0"/>
                <a:ea typeface="Garamond" pitchFamily="34" charset="-122"/>
                <a:cs typeface="Garamond" pitchFamily="34" charset="-120"/>
              </a:rPr>
              <a:t>Whether a drug is a pure compound or part of a mixture (suspension, emulsion) changes how it’s dosed, shaken, and given</a:t>
            </a:r>
            <a:endParaRPr lang="en-US" sz="1250" dirty="0"/>
          </a:p>
        </p:txBody>
      </p:sp>
      <p:sp>
        <p:nvSpPr>
          <p:cNvPr id="18" name="Shape 13"/>
          <p:cNvSpPr/>
          <p:nvPr/>
        </p:nvSpPr>
        <p:spPr>
          <a:xfrm>
            <a:off x="6236208" y="4023360"/>
            <a:ext cx="5349240" cy="1965960"/>
          </a:xfrm>
          <a:prstGeom prst="roundRect">
            <a:avLst>
              <a:gd name="adj" fmla="val 4186"/>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19" name="Shape 14"/>
          <p:cNvSpPr/>
          <p:nvPr/>
        </p:nvSpPr>
        <p:spPr>
          <a:xfrm>
            <a:off x="6473952" y="4261104"/>
            <a:ext cx="530352" cy="530352"/>
          </a:xfrm>
          <a:prstGeom prst="ellipse">
            <a:avLst/>
          </a:prstGeom>
          <a:solidFill>
            <a:srgbClr val="F4A100"/>
          </a:solidFill>
          <a:ln/>
        </p:spPr>
        <p:txBody>
          <a:bodyPr/>
          <a:lstStyle/>
          <a:p>
            <a:endParaRPr lang="en-US"/>
          </a:p>
        </p:txBody>
      </p:sp>
      <p:pic>
        <p:nvPicPr>
          <p:cNvPr id="20" name="Image 3" descr="icon_heartbeat_white.png"/>
          <p:cNvPicPr>
            <a:picLocks noChangeAspect="1"/>
          </p:cNvPicPr>
          <p:nvPr/>
        </p:nvPicPr>
        <p:blipFill>
          <a:blip r:embed="rId6"/>
          <a:stretch>
            <a:fillRect/>
          </a:stretch>
        </p:blipFill>
        <p:spPr>
          <a:xfrm>
            <a:off x="6590629" y="4377781"/>
            <a:ext cx="296997" cy="296997"/>
          </a:xfrm>
          <a:prstGeom prst="rect">
            <a:avLst/>
          </a:prstGeom>
        </p:spPr>
      </p:pic>
      <p:sp>
        <p:nvSpPr>
          <p:cNvPr id="21" name="Text 15"/>
          <p:cNvSpPr/>
          <p:nvPr/>
        </p:nvSpPr>
        <p:spPr>
          <a:xfrm>
            <a:off x="7168896" y="4224528"/>
            <a:ext cx="4215384" cy="603504"/>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Metabolism &amp; Energy Balance</a:t>
            </a:r>
            <a:endParaRPr lang="en-US" sz="1500" dirty="0"/>
          </a:p>
        </p:txBody>
      </p:sp>
      <p:sp>
        <p:nvSpPr>
          <p:cNvPr id="22" name="Text 16"/>
          <p:cNvSpPr/>
          <p:nvPr/>
        </p:nvSpPr>
        <p:spPr>
          <a:xfrm>
            <a:off x="6473952" y="4919472"/>
            <a:ext cx="4873752" cy="886968"/>
          </a:xfrm>
          <a:prstGeom prst="rect">
            <a:avLst/>
          </a:prstGeom>
          <a:noFill/>
          <a:ln/>
        </p:spPr>
        <p:txBody>
          <a:bodyPr wrap="square" lIns="0" tIns="0" rIns="0" bIns="0" rtlCol="0" anchor="t"/>
          <a:lstStyle/>
          <a:p>
            <a:pPr marL="0" indent="0" algn="l">
              <a:lnSpc>
                <a:spcPct val="105000"/>
              </a:lnSpc>
              <a:buNone/>
            </a:pPr>
            <a:r>
              <a:rPr lang="en-US" sz="1250" dirty="0">
                <a:solidFill>
                  <a:srgbClr val="14213D"/>
                </a:solidFill>
                <a:latin typeface="Garamond" pitchFamily="34" charset="0"/>
                <a:ea typeface="Garamond" pitchFamily="34" charset="-122"/>
                <a:cs typeface="Garamond" pitchFamily="34" charset="-120"/>
              </a:rPr>
              <a:t>The body continuously converts chemical energy from food into usable energy — conservation of energy in action, every second</a:t>
            </a:r>
            <a:endParaRPr lang="en-US" sz="1250" dirty="0"/>
          </a:p>
        </p:txBody>
      </p:sp>
      <p:sp>
        <p:nvSpPr>
          <p:cNvPr id="23" name="Text 17"/>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24" name="Text 18"/>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The States of Matter</a:t>
            </a:r>
            <a:endParaRPr lang="en-US" sz="3000" dirty="0"/>
          </a:p>
        </p:txBody>
      </p:sp>
      <p:sp>
        <p:nvSpPr>
          <p:cNvPr id="3" name="Text 1"/>
          <p:cNvSpPr/>
          <p:nvPr/>
        </p:nvSpPr>
        <p:spPr>
          <a:xfrm>
            <a:off x="457200" y="960120"/>
            <a:ext cx="11274552" cy="457200"/>
          </a:xfrm>
          <a:prstGeom prst="rect">
            <a:avLst/>
          </a:prstGeom>
          <a:noFill/>
          <a:ln/>
        </p:spPr>
        <p:txBody>
          <a:bodyPr wrap="square" lIns="0" tIns="0" rIns="0" bIns="0" rtlCol="0" anchor="ctr"/>
          <a:lstStyle/>
          <a:p>
            <a:pPr marL="0" indent="0" algn="l">
              <a:buNone/>
            </a:pPr>
            <a:r>
              <a:rPr lang="en-US" dirty="0">
                <a:solidFill>
                  <a:srgbClr val="5B6B7A"/>
                </a:solidFill>
                <a:latin typeface="Garamond" pitchFamily="34" charset="0"/>
                <a:ea typeface="Garamond" pitchFamily="34" charset="-122"/>
                <a:cs typeface="Garamond" pitchFamily="34" charset="-120"/>
              </a:rPr>
              <a:t>The state matter takes depends on how much energy its particles have, and how tightly they’re packed</a:t>
            </a:r>
            <a:endParaRPr lang="en-US" dirty="0"/>
          </a:p>
        </p:txBody>
      </p:sp>
      <p:sp>
        <p:nvSpPr>
          <p:cNvPr id="4" name="Shape 2"/>
          <p:cNvSpPr/>
          <p:nvPr/>
        </p:nvSpPr>
        <p:spPr>
          <a:xfrm>
            <a:off x="548640" y="1874520"/>
            <a:ext cx="3520440" cy="2468880"/>
          </a:xfrm>
          <a:prstGeom prst="roundRect">
            <a:avLst>
              <a:gd name="adj" fmla="val 3333"/>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5" name="Shape 3"/>
          <p:cNvSpPr/>
          <p:nvPr/>
        </p:nvSpPr>
        <p:spPr>
          <a:xfrm>
            <a:off x="786384" y="2112264"/>
            <a:ext cx="530352" cy="530352"/>
          </a:xfrm>
          <a:prstGeom prst="ellipse">
            <a:avLst/>
          </a:prstGeom>
          <a:solidFill>
            <a:srgbClr val="14213D"/>
          </a:solidFill>
          <a:ln/>
        </p:spPr>
        <p:txBody>
          <a:bodyPr/>
          <a:lstStyle/>
          <a:p>
            <a:endParaRPr lang="en-US"/>
          </a:p>
        </p:txBody>
      </p:sp>
      <p:pic>
        <p:nvPicPr>
          <p:cNvPr id="6" name="Image 0" descr="icon_cubes_white.png"/>
          <p:cNvPicPr>
            <a:picLocks noChangeAspect="1"/>
          </p:cNvPicPr>
          <p:nvPr/>
        </p:nvPicPr>
        <p:blipFill>
          <a:blip r:embed="rId3"/>
          <a:stretch>
            <a:fillRect/>
          </a:stretch>
        </p:blipFill>
        <p:spPr>
          <a:xfrm>
            <a:off x="903061" y="2228941"/>
            <a:ext cx="296997" cy="296997"/>
          </a:xfrm>
          <a:prstGeom prst="rect">
            <a:avLst/>
          </a:prstGeom>
        </p:spPr>
      </p:pic>
      <p:sp>
        <p:nvSpPr>
          <p:cNvPr id="7" name="Text 4"/>
          <p:cNvSpPr/>
          <p:nvPr/>
        </p:nvSpPr>
        <p:spPr>
          <a:xfrm>
            <a:off x="1481328" y="2075688"/>
            <a:ext cx="2386584" cy="603504"/>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Solid</a:t>
            </a:r>
            <a:endParaRPr lang="en-US" sz="1700" dirty="0"/>
          </a:p>
        </p:txBody>
      </p:sp>
      <p:sp>
        <p:nvSpPr>
          <p:cNvPr id="8" name="Text 5"/>
          <p:cNvSpPr/>
          <p:nvPr/>
        </p:nvSpPr>
        <p:spPr>
          <a:xfrm>
            <a:off x="786384" y="2770632"/>
            <a:ext cx="3081528" cy="1389888"/>
          </a:xfrm>
          <a:prstGeom prst="rect">
            <a:avLst/>
          </a:prstGeom>
          <a:noFill/>
          <a:ln/>
        </p:spPr>
        <p:txBody>
          <a:bodyPr wrap="square" lIns="0" tIns="0" rIns="0" bIns="0" rtlCol="0" anchor="t"/>
          <a:lstStyle/>
          <a:p>
            <a:pPr marL="0" indent="0" algn="just">
              <a:lnSpc>
                <a:spcPct val="105000"/>
              </a:lnSpc>
              <a:buNone/>
            </a:pPr>
            <a:r>
              <a:rPr lang="en-US" dirty="0">
                <a:solidFill>
                  <a:srgbClr val="14213D"/>
                </a:solidFill>
                <a:latin typeface="Garamond" pitchFamily="34" charset="0"/>
                <a:ea typeface="Garamond" pitchFamily="34" charset="-122"/>
                <a:cs typeface="Garamond" pitchFamily="34" charset="-120"/>
              </a:rPr>
              <a:t>Fixed shape and fixed volume. Particles are packed tightly and only vibrate in place.</a:t>
            </a:r>
          </a:p>
          <a:p>
            <a:pPr marL="0" indent="0" algn="l">
              <a:lnSpc>
                <a:spcPct val="105000"/>
              </a:lnSpc>
              <a:buNone/>
            </a:pPr>
            <a:endParaRPr lang="en-US" dirty="0">
              <a:solidFill>
                <a:srgbClr val="14213D"/>
              </a:solidFill>
              <a:latin typeface="Garamond" pitchFamily="34" charset="0"/>
              <a:ea typeface="Garamond" pitchFamily="34" charset="-122"/>
              <a:cs typeface="Garamond" pitchFamily="34" charset="-120"/>
            </a:endParaRPr>
          </a:p>
          <a:p>
            <a:pPr marL="0" indent="0" algn="l">
              <a:lnSpc>
                <a:spcPct val="105000"/>
              </a:lnSpc>
              <a:buNone/>
            </a:pPr>
            <a:r>
              <a:rPr lang="en-US" dirty="0">
                <a:solidFill>
                  <a:srgbClr val="14213D"/>
                </a:solidFill>
                <a:latin typeface="Garamond" pitchFamily="34" charset="0"/>
              </a:rPr>
              <a:t>- Lowest Energy Phase</a:t>
            </a:r>
            <a:endParaRPr lang="en-US" dirty="0"/>
          </a:p>
        </p:txBody>
      </p:sp>
      <p:sp>
        <p:nvSpPr>
          <p:cNvPr id="9" name="Shape 6"/>
          <p:cNvSpPr/>
          <p:nvPr/>
        </p:nvSpPr>
        <p:spPr>
          <a:xfrm>
            <a:off x="4361688" y="1874520"/>
            <a:ext cx="3520440" cy="2468880"/>
          </a:xfrm>
          <a:prstGeom prst="roundRect">
            <a:avLst>
              <a:gd name="adj" fmla="val 3333"/>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10" name="Shape 7"/>
          <p:cNvSpPr/>
          <p:nvPr/>
        </p:nvSpPr>
        <p:spPr>
          <a:xfrm>
            <a:off x="4599432" y="2112264"/>
            <a:ext cx="530352" cy="530352"/>
          </a:xfrm>
          <a:prstGeom prst="ellipse">
            <a:avLst/>
          </a:prstGeom>
          <a:solidFill>
            <a:srgbClr val="C00000"/>
          </a:solidFill>
          <a:ln/>
        </p:spPr>
        <p:txBody>
          <a:bodyPr/>
          <a:lstStyle/>
          <a:p>
            <a:endParaRPr lang="en-US">
              <a:solidFill>
                <a:srgbClr val="C00000"/>
              </a:solidFill>
            </a:endParaRPr>
          </a:p>
        </p:txBody>
      </p:sp>
      <p:pic>
        <p:nvPicPr>
          <p:cNvPr id="11" name="Image 1" descr="icon_tint_white.png"/>
          <p:cNvPicPr>
            <a:picLocks noChangeAspect="1"/>
          </p:cNvPicPr>
          <p:nvPr/>
        </p:nvPicPr>
        <p:blipFill>
          <a:blip r:embed="rId4"/>
          <a:stretch>
            <a:fillRect/>
          </a:stretch>
        </p:blipFill>
        <p:spPr>
          <a:xfrm>
            <a:off x="4716109" y="2228941"/>
            <a:ext cx="296997" cy="296997"/>
          </a:xfrm>
          <a:prstGeom prst="rect">
            <a:avLst/>
          </a:prstGeom>
        </p:spPr>
      </p:pic>
      <p:sp>
        <p:nvSpPr>
          <p:cNvPr id="12" name="Text 8"/>
          <p:cNvSpPr/>
          <p:nvPr/>
        </p:nvSpPr>
        <p:spPr>
          <a:xfrm>
            <a:off x="5294376" y="2075688"/>
            <a:ext cx="2386584" cy="603504"/>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Liquid</a:t>
            </a:r>
            <a:endParaRPr lang="en-US" sz="1700" dirty="0"/>
          </a:p>
        </p:txBody>
      </p:sp>
      <p:sp>
        <p:nvSpPr>
          <p:cNvPr id="13" name="Text 9"/>
          <p:cNvSpPr/>
          <p:nvPr/>
        </p:nvSpPr>
        <p:spPr>
          <a:xfrm>
            <a:off x="4599432" y="2770632"/>
            <a:ext cx="3044952" cy="1389888"/>
          </a:xfrm>
          <a:prstGeom prst="rect">
            <a:avLst/>
          </a:prstGeom>
          <a:noFill/>
          <a:ln/>
        </p:spPr>
        <p:txBody>
          <a:bodyPr wrap="square" lIns="0" tIns="0" rIns="0" bIns="0" rtlCol="0" anchor="t"/>
          <a:lstStyle/>
          <a:p>
            <a:pPr marL="0" indent="0" algn="just">
              <a:lnSpc>
                <a:spcPct val="105000"/>
              </a:lnSpc>
              <a:buNone/>
            </a:pPr>
            <a:r>
              <a:rPr lang="en-US" dirty="0">
                <a:solidFill>
                  <a:srgbClr val="14213D"/>
                </a:solidFill>
                <a:latin typeface="Garamond" pitchFamily="34" charset="0"/>
                <a:ea typeface="Garamond" pitchFamily="34" charset="-122"/>
                <a:cs typeface="Garamond" pitchFamily="34" charset="-120"/>
              </a:rPr>
              <a:t>Fixed volume but takes the shape of its container. Particles stay close but slide past one another.</a:t>
            </a:r>
          </a:p>
          <a:p>
            <a:pPr marL="0" indent="0" algn="l">
              <a:lnSpc>
                <a:spcPct val="105000"/>
              </a:lnSpc>
              <a:buNone/>
            </a:pPr>
            <a:endParaRPr lang="en-US" dirty="0">
              <a:solidFill>
                <a:srgbClr val="14213D"/>
              </a:solidFill>
              <a:latin typeface="Garamond" pitchFamily="34" charset="0"/>
            </a:endParaRPr>
          </a:p>
          <a:p>
            <a:pPr marL="0" indent="0" algn="l">
              <a:lnSpc>
                <a:spcPct val="105000"/>
              </a:lnSpc>
              <a:buNone/>
            </a:pPr>
            <a:r>
              <a:rPr lang="en-US" dirty="0">
                <a:solidFill>
                  <a:srgbClr val="14213D"/>
                </a:solidFill>
                <a:latin typeface="Garamond" pitchFamily="34" charset="0"/>
              </a:rPr>
              <a:t>- Mid-Energy Phase</a:t>
            </a:r>
            <a:endParaRPr lang="en-US" dirty="0"/>
          </a:p>
        </p:txBody>
      </p:sp>
      <p:sp>
        <p:nvSpPr>
          <p:cNvPr id="14" name="Shape 10"/>
          <p:cNvSpPr/>
          <p:nvPr/>
        </p:nvSpPr>
        <p:spPr>
          <a:xfrm>
            <a:off x="8174736" y="1874520"/>
            <a:ext cx="3520440" cy="2468880"/>
          </a:xfrm>
          <a:prstGeom prst="roundRect">
            <a:avLst>
              <a:gd name="adj" fmla="val 3333"/>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15" name="Shape 11"/>
          <p:cNvSpPr/>
          <p:nvPr/>
        </p:nvSpPr>
        <p:spPr>
          <a:xfrm>
            <a:off x="8412480" y="2112264"/>
            <a:ext cx="530352" cy="530352"/>
          </a:xfrm>
          <a:prstGeom prst="ellipse">
            <a:avLst/>
          </a:prstGeom>
          <a:solidFill>
            <a:srgbClr val="F4A100"/>
          </a:solidFill>
          <a:ln/>
        </p:spPr>
        <p:txBody>
          <a:bodyPr/>
          <a:lstStyle/>
          <a:p>
            <a:endParaRPr lang="en-US"/>
          </a:p>
        </p:txBody>
      </p:sp>
      <p:pic>
        <p:nvPicPr>
          <p:cNvPr id="16" name="Image 2" descr="icon_wind_white.png"/>
          <p:cNvPicPr>
            <a:picLocks noChangeAspect="1"/>
          </p:cNvPicPr>
          <p:nvPr/>
        </p:nvPicPr>
        <p:blipFill>
          <a:blip r:embed="rId5"/>
          <a:stretch>
            <a:fillRect/>
          </a:stretch>
        </p:blipFill>
        <p:spPr>
          <a:xfrm>
            <a:off x="8529157" y="2228941"/>
            <a:ext cx="296997" cy="296997"/>
          </a:xfrm>
          <a:prstGeom prst="rect">
            <a:avLst/>
          </a:prstGeom>
        </p:spPr>
      </p:pic>
      <p:sp>
        <p:nvSpPr>
          <p:cNvPr id="17" name="Text 12"/>
          <p:cNvSpPr/>
          <p:nvPr/>
        </p:nvSpPr>
        <p:spPr>
          <a:xfrm>
            <a:off x="9107424" y="2075688"/>
            <a:ext cx="2386584" cy="603504"/>
          </a:xfrm>
          <a:prstGeom prst="rect">
            <a:avLst/>
          </a:prstGeom>
          <a:noFill/>
          <a:ln/>
        </p:spPr>
        <p:txBody>
          <a:bodyPr wrap="square" lIns="0" tIns="0" rIns="0" bIns="0" rtlCol="0" anchor="ctr"/>
          <a:lstStyle/>
          <a:p>
            <a:pPr marL="0" indent="0" algn="l">
              <a:buNone/>
            </a:pPr>
            <a:r>
              <a:rPr lang="en-US" sz="1700" b="1" dirty="0">
                <a:solidFill>
                  <a:srgbClr val="14213D"/>
                </a:solidFill>
                <a:latin typeface="Cambria" pitchFamily="34" charset="0"/>
                <a:ea typeface="Cambria" pitchFamily="34" charset="-122"/>
                <a:cs typeface="Cambria" pitchFamily="34" charset="-120"/>
              </a:rPr>
              <a:t>Gas</a:t>
            </a:r>
            <a:endParaRPr lang="en-US" sz="1700" dirty="0"/>
          </a:p>
        </p:txBody>
      </p:sp>
      <p:sp>
        <p:nvSpPr>
          <p:cNvPr id="18" name="Text 13"/>
          <p:cNvSpPr/>
          <p:nvPr/>
        </p:nvSpPr>
        <p:spPr>
          <a:xfrm>
            <a:off x="8412480" y="2770632"/>
            <a:ext cx="3044952" cy="1389888"/>
          </a:xfrm>
          <a:prstGeom prst="rect">
            <a:avLst/>
          </a:prstGeom>
          <a:noFill/>
          <a:ln/>
        </p:spPr>
        <p:txBody>
          <a:bodyPr wrap="square" lIns="0" tIns="0" rIns="0" bIns="0" rtlCol="0" anchor="t"/>
          <a:lstStyle/>
          <a:p>
            <a:pPr marL="0" indent="0" algn="just">
              <a:lnSpc>
                <a:spcPct val="105000"/>
              </a:lnSpc>
              <a:buNone/>
            </a:pPr>
            <a:r>
              <a:rPr lang="en-US" dirty="0">
                <a:solidFill>
                  <a:srgbClr val="14213D"/>
                </a:solidFill>
                <a:latin typeface="Garamond" pitchFamily="34" charset="0"/>
                <a:ea typeface="Garamond" pitchFamily="34" charset="-122"/>
                <a:cs typeface="Garamond" pitchFamily="34" charset="-120"/>
              </a:rPr>
              <a:t>No fixed shape or volume. Particles move freely and are very far apart from one another.</a:t>
            </a:r>
          </a:p>
          <a:p>
            <a:pPr marL="0" indent="0" algn="l">
              <a:lnSpc>
                <a:spcPct val="105000"/>
              </a:lnSpc>
              <a:buNone/>
            </a:pPr>
            <a:endParaRPr lang="en-US" dirty="0">
              <a:solidFill>
                <a:srgbClr val="14213D"/>
              </a:solidFill>
              <a:latin typeface="Garamond" pitchFamily="34" charset="0"/>
            </a:endParaRPr>
          </a:p>
          <a:p>
            <a:pPr marL="0" indent="0" algn="l">
              <a:lnSpc>
                <a:spcPct val="105000"/>
              </a:lnSpc>
              <a:buNone/>
            </a:pPr>
            <a:r>
              <a:rPr lang="en-US" dirty="0">
                <a:solidFill>
                  <a:srgbClr val="14213D"/>
                </a:solidFill>
                <a:latin typeface="Garamond" pitchFamily="34" charset="0"/>
              </a:rPr>
              <a:t>- Highest Energy Common Phase</a:t>
            </a:r>
            <a:endParaRPr lang="en-US" dirty="0"/>
          </a:p>
        </p:txBody>
      </p:sp>
      <p:sp>
        <p:nvSpPr>
          <p:cNvPr id="19" name="Shape 14"/>
          <p:cNvSpPr/>
          <p:nvPr/>
        </p:nvSpPr>
        <p:spPr>
          <a:xfrm>
            <a:off x="548640" y="4617720"/>
            <a:ext cx="11091672" cy="777240"/>
          </a:xfrm>
          <a:prstGeom prst="roundRect">
            <a:avLst>
              <a:gd name="adj" fmla="val 9412"/>
            </a:avLst>
          </a:prstGeom>
          <a:solidFill>
            <a:srgbClr val="F1F6F8"/>
          </a:solidFill>
          <a:ln/>
        </p:spPr>
        <p:txBody>
          <a:bodyPr/>
          <a:lstStyle/>
          <a:p>
            <a:endParaRPr lang="en-US"/>
          </a:p>
        </p:txBody>
      </p:sp>
      <p:sp>
        <p:nvSpPr>
          <p:cNvPr id="20" name="Shape 15"/>
          <p:cNvSpPr/>
          <p:nvPr/>
        </p:nvSpPr>
        <p:spPr>
          <a:xfrm>
            <a:off x="777240" y="4791456"/>
            <a:ext cx="420624" cy="420624"/>
          </a:xfrm>
          <a:prstGeom prst="ellipse">
            <a:avLst/>
          </a:prstGeom>
          <a:solidFill>
            <a:srgbClr val="7030A0"/>
          </a:solidFill>
          <a:ln/>
        </p:spPr>
        <p:txBody>
          <a:bodyPr/>
          <a:lstStyle/>
          <a:p>
            <a:endParaRPr lang="en-US"/>
          </a:p>
        </p:txBody>
      </p:sp>
      <p:pic>
        <p:nvPicPr>
          <p:cNvPr id="21" name="Image 3" descr="icon_bolt_white.png"/>
          <p:cNvPicPr>
            <a:picLocks noChangeAspect="1"/>
          </p:cNvPicPr>
          <p:nvPr/>
        </p:nvPicPr>
        <p:blipFill>
          <a:blip r:embed="rId6"/>
          <a:stretch>
            <a:fillRect/>
          </a:stretch>
        </p:blipFill>
        <p:spPr>
          <a:xfrm>
            <a:off x="865571" y="4879787"/>
            <a:ext cx="243962" cy="243962"/>
          </a:xfrm>
          <a:prstGeom prst="rect">
            <a:avLst/>
          </a:prstGeom>
        </p:spPr>
      </p:pic>
      <p:sp>
        <p:nvSpPr>
          <p:cNvPr id="22" name="Text 16"/>
          <p:cNvSpPr/>
          <p:nvPr/>
        </p:nvSpPr>
        <p:spPr>
          <a:xfrm>
            <a:off x="1371600" y="4718304"/>
            <a:ext cx="10058400" cy="566928"/>
          </a:xfrm>
          <a:prstGeom prst="rect">
            <a:avLst/>
          </a:prstGeom>
          <a:noFill/>
          <a:ln/>
        </p:spPr>
        <p:txBody>
          <a:bodyPr wrap="square" lIns="0" tIns="0" rIns="0" bIns="0" rtlCol="0" anchor="ctr"/>
          <a:lstStyle/>
          <a:p>
            <a:pPr marL="0" indent="0" algn="l">
              <a:lnSpc>
                <a:spcPct val="105000"/>
              </a:lnSpc>
              <a:buNone/>
            </a:pPr>
            <a:r>
              <a:rPr lang="en-US" b="1" dirty="0">
                <a:solidFill>
                  <a:srgbClr val="14213D"/>
                </a:solidFill>
                <a:latin typeface="Cambria" pitchFamily="34" charset="0"/>
                <a:ea typeface="Cambria" pitchFamily="34" charset="-122"/>
                <a:cs typeface="Cambria" pitchFamily="34" charset="-120"/>
              </a:rPr>
              <a:t>Plasma —  </a:t>
            </a:r>
            <a:r>
              <a:rPr lang="en-US" dirty="0">
                <a:solidFill>
                  <a:srgbClr val="14213D"/>
                </a:solidFill>
                <a:latin typeface="Garamond" pitchFamily="34" charset="0"/>
                <a:ea typeface="Garamond" pitchFamily="34" charset="-122"/>
                <a:cs typeface="Garamond" pitchFamily="34" charset="-120"/>
              </a:rPr>
              <a:t>a special 4</a:t>
            </a:r>
            <a:r>
              <a:rPr lang="en-US" baseline="30000" dirty="0">
                <a:solidFill>
                  <a:srgbClr val="14213D"/>
                </a:solidFill>
                <a:latin typeface="Garamond" pitchFamily="34" charset="0"/>
                <a:ea typeface="Garamond" pitchFamily="34" charset="-122"/>
                <a:cs typeface="Garamond" pitchFamily="34" charset="-120"/>
              </a:rPr>
              <a:t>th</a:t>
            </a:r>
            <a:r>
              <a:rPr lang="en-US" dirty="0">
                <a:solidFill>
                  <a:srgbClr val="14213D"/>
                </a:solidFill>
                <a:latin typeface="Garamond" pitchFamily="34" charset="0"/>
                <a:ea typeface="Garamond" pitchFamily="34" charset="-122"/>
                <a:cs typeface="Garamond" pitchFamily="34" charset="-120"/>
              </a:rPr>
              <a:t> state where gas particles are so energized they ionize (lose electrons). </a:t>
            </a:r>
          </a:p>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Found in lightning, neon signs, and stars.</a:t>
            </a:r>
            <a:endParaRPr lang="en-US" dirty="0"/>
          </a:p>
        </p:txBody>
      </p:sp>
      <p:sp>
        <p:nvSpPr>
          <p:cNvPr id="23" name="Text 17"/>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24" name="Text 18"/>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lIns="0" tIns="0" rIns="0" bIns="0" rtlCol="0" anchor="ctr"/>
          <a:lstStyle/>
          <a:p>
            <a:pPr marL="0" indent="0" algn="ctr">
              <a:buNone/>
            </a:pPr>
            <a:r>
              <a:rPr lang="en-US" sz="3000" b="1" dirty="0">
                <a:solidFill>
                  <a:srgbClr val="14213D"/>
                </a:solidFill>
                <a:latin typeface="Cambria" pitchFamily="34" charset="0"/>
                <a:ea typeface="Cambria" pitchFamily="34" charset="-122"/>
                <a:cs typeface="Cambria" pitchFamily="34" charset="-120"/>
              </a:rPr>
              <a:t>Comparing the Three Common Phase States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79041364"/>
              </p:ext>
            </p:extLst>
          </p:nvPr>
        </p:nvGraphicFramePr>
        <p:xfrm>
          <a:off x="548640" y="1600200"/>
          <a:ext cx="11091672" cy="4206240"/>
        </p:xfrm>
        <a:graphic>
          <a:graphicData uri="http://schemas.openxmlformats.org/drawingml/2006/table">
            <a:tbl>
              <a:tblPr/>
              <a:tblGrid>
                <a:gridCol w="17373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2039112">
                  <a:extLst>
                    <a:ext uri="{9D8B030D-6E8A-4147-A177-3AD203B41FA5}">
                      <a16:colId xmlns:a16="http://schemas.microsoft.com/office/drawing/2014/main" val="20004"/>
                    </a:ext>
                  </a:extLst>
                </a:gridCol>
              </a:tblGrid>
              <a:tr h="1051560">
                <a:tc>
                  <a:txBody>
                    <a:bodyPr/>
                    <a:lstStyle/>
                    <a:p>
                      <a:pPr marL="0" indent="0" algn="ctr">
                        <a:buNone/>
                      </a:pPr>
                      <a:r>
                        <a:rPr lang="en-US" sz="2000" b="1" dirty="0">
                          <a:solidFill>
                            <a:schemeClr val="bg1"/>
                          </a:solidFill>
                          <a:latin typeface="Cambria" charset="0"/>
                          <a:ea typeface="Cambria" charset="0"/>
                          <a:cs typeface="Cambria" charset="0"/>
                        </a:rPr>
                        <a:t>Phase</a:t>
                      </a: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C00000"/>
                    </a:solidFill>
                  </a:tcPr>
                </a:tc>
                <a:tc>
                  <a:txBody>
                    <a:bodyPr/>
                    <a:lstStyle/>
                    <a:p>
                      <a:pPr marL="0" indent="0" algn="ctr">
                        <a:buNone/>
                      </a:pPr>
                      <a:r>
                        <a:rPr lang="en-US" sz="2000" b="1" dirty="0">
                          <a:solidFill>
                            <a:srgbClr val="FFFFFF"/>
                          </a:solidFill>
                          <a:latin typeface="Cambria" pitchFamily="34" charset="0"/>
                          <a:ea typeface="Cambria" pitchFamily="34" charset="-122"/>
                          <a:cs typeface="Cambria" pitchFamily="34" charset="-120"/>
                        </a:rPr>
                        <a:t>Shape</a:t>
                      </a:r>
                      <a:endParaRPr lang="en-US" sz="2000" dirty="0">
                        <a:latin typeface="Cambria" charset="0"/>
                        <a:ea typeface="Cambria" charset="0"/>
                        <a:cs typeface="Cambria"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C00000"/>
                    </a:solidFill>
                  </a:tcPr>
                </a:tc>
                <a:tc>
                  <a:txBody>
                    <a:bodyPr/>
                    <a:lstStyle/>
                    <a:p>
                      <a:pPr marL="0" indent="0" algn="ctr">
                        <a:buNone/>
                      </a:pPr>
                      <a:r>
                        <a:rPr lang="en-US" sz="2000" b="1" dirty="0">
                          <a:solidFill>
                            <a:srgbClr val="FFFFFF"/>
                          </a:solidFill>
                          <a:latin typeface="Cambria" pitchFamily="34" charset="0"/>
                          <a:ea typeface="Cambria" pitchFamily="34" charset="-122"/>
                          <a:cs typeface="Cambria" pitchFamily="34" charset="-120"/>
                        </a:rPr>
                        <a:t>Volume</a:t>
                      </a:r>
                      <a:endParaRPr lang="en-US" sz="2000" dirty="0">
                        <a:latin typeface="Cambria" charset="0"/>
                        <a:ea typeface="Cambria" charset="0"/>
                        <a:cs typeface="Cambria"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C00000"/>
                    </a:solidFill>
                  </a:tcPr>
                </a:tc>
                <a:tc>
                  <a:txBody>
                    <a:bodyPr/>
                    <a:lstStyle/>
                    <a:p>
                      <a:pPr marL="0" indent="0" algn="ctr">
                        <a:buNone/>
                      </a:pPr>
                      <a:r>
                        <a:rPr lang="en-US" sz="2000" b="1" dirty="0">
                          <a:solidFill>
                            <a:srgbClr val="FFFFFF"/>
                          </a:solidFill>
                          <a:latin typeface="Cambria" pitchFamily="34" charset="0"/>
                          <a:ea typeface="Cambria" pitchFamily="34" charset="-122"/>
                          <a:cs typeface="Cambria" pitchFamily="34" charset="-120"/>
                        </a:rPr>
                        <a:t>Particle Motion</a:t>
                      </a:r>
                      <a:endParaRPr lang="en-US" sz="2000" dirty="0">
                        <a:latin typeface="Cambria" charset="0"/>
                        <a:ea typeface="Cambria" charset="0"/>
                        <a:cs typeface="Cambria"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C00000"/>
                    </a:solidFill>
                  </a:tcPr>
                </a:tc>
                <a:tc>
                  <a:txBody>
                    <a:bodyPr/>
                    <a:lstStyle/>
                    <a:p>
                      <a:pPr marL="0" indent="0" algn="ctr">
                        <a:buNone/>
                      </a:pPr>
                      <a:r>
                        <a:rPr lang="en-US" sz="2000" b="1" dirty="0">
                          <a:solidFill>
                            <a:srgbClr val="FFFFFF"/>
                          </a:solidFill>
                          <a:latin typeface="Cambria" pitchFamily="34" charset="0"/>
                          <a:ea typeface="Cambria" pitchFamily="34" charset="-122"/>
                          <a:cs typeface="Cambria" pitchFamily="34" charset="-120"/>
                        </a:rPr>
                        <a:t>Compressibility</a:t>
                      </a:r>
                      <a:endParaRPr lang="en-US" sz="2000" dirty="0">
                        <a:latin typeface="Cambria" charset="0"/>
                        <a:ea typeface="Cambria" charset="0"/>
                        <a:cs typeface="Cambria"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1051560">
                <a:tc>
                  <a:txBody>
                    <a:bodyPr/>
                    <a:lstStyle/>
                    <a:p>
                      <a:pPr marL="0" indent="0" algn="ctr">
                        <a:buNone/>
                      </a:pPr>
                      <a:r>
                        <a:rPr lang="en-US" sz="1800" b="1" dirty="0">
                          <a:solidFill>
                            <a:srgbClr val="14213D"/>
                          </a:solidFill>
                          <a:latin typeface="Garamond" pitchFamily="34" charset="0"/>
                          <a:ea typeface="Garamond" pitchFamily="34" charset="-122"/>
                          <a:cs typeface="Garamond" pitchFamily="34" charset="-120"/>
                        </a:rPr>
                        <a:t>Solid</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1F6F8"/>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Fixed</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Fixed</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Vibrate in place</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Not compressible</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51560">
                <a:tc>
                  <a:txBody>
                    <a:bodyPr/>
                    <a:lstStyle/>
                    <a:p>
                      <a:pPr marL="0" indent="0" algn="ctr">
                        <a:buNone/>
                      </a:pPr>
                      <a:r>
                        <a:rPr lang="en-US" sz="1800" b="1" dirty="0">
                          <a:solidFill>
                            <a:srgbClr val="14213D"/>
                          </a:solidFill>
                          <a:latin typeface="Garamond" pitchFamily="34" charset="0"/>
                          <a:ea typeface="Garamond" pitchFamily="34" charset="-122"/>
                          <a:cs typeface="Garamond" pitchFamily="34" charset="-120"/>
                        </a:rPr>
                        <a:t>Liquid</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1F6F8"/>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Takes container’s shape</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Fixed</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Slide past each other</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Barely compressible</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51560">
                <a:tc>
                  <a:txBody>
                    <a:bodyPr/>
                    <a:lstStyle/>
                    <a:p>
                      <a:pPr marL="0" indent="0" algn="ctr">
                        <a:buNone/>
                      </a:pPr>
                      <a:r>
                        <a:rPr lang="en-US" sz="1800" b="1" dirty="0">
                          <a:solidFill>
                            <a:srgbClr val="14213D"/>
                          </a:solidFill>
                          <a:latin typeface="Garamond" pitchFamily="34" charset="0"/>
                          <a:ea typeface="Garamond" pitchFamily="34" charset="-122"/>
                          <a:cs typeface="Garamond" pitchFamily="34" charset="-120"/>
                        </a:rPr>
                        <a:t>Gas</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1F6F8"/>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Fills container</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Fills container</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Move freely, far apart</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4213D"/>
                          </a:solidFill>
                          <a:latin typeface="Garamond" pitchFamily="34" charset="0"/>
                          <a:ea typeface="Garamond" pitchFamily="34" charset="-122"/>
                          <a:cs typeface="Garamond" pitchFamily="34" charset="-120"/>
                        </a:rPr>
                        <a:t>Highly compressible</a:t>
                      </a:r>
                      <a:endParaRPr lang="en-US" sz="1800" dirty="0">
                        <a:latin typeface="Garamond" charset="0"/>
                        <a:ea typeface="Garamond" charset="0"/>
                        <a:cs typeface="Garamond" charset="0"/>
                      </a:endParaRPr>
                    </a:p>
                  </a:txBody>
                  <a:tcPr marL="76200" marR="76200" marT="76200" marB="7620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 name="Text 1"/>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5" name="Text 2"/>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3362"/>
            <a:ext cx="11274552" cy="64008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Phase Changes (Solid ↔ Liquid ↔ Gas)</a:t>
            </a:r>
            <a:endParaRPr lang="en-US" sz="3000" dirty="0"/>
          </a:p>
        </p:txBody>
      </p:sp>
      <p:sp>
        <p:nvSpPr>
          <p:cNvPr id="3" name="Text 1"/>
          <p:cNvSpPr/>
          <p:nvPr/>
        </p:nvSpPr>
        <p:spPr>
          <a:xfrm>
            <a:off x="457200" y="843442"/>
            <a:ext cx="11274552" cy="948782"/>
          </a:xfrm>
          <a:prstGeom prst="rect">
            <a:avLst/>
          </a:prstGeom>
          <a:noFill/>
          <a:ln/>
        </p:spPr>
        <p:txBody>
          <a:bodyPr wrap="square" lIns="0" tIns="0" rIns="0" bIns="0" rtlCol="0" anchor="ctr"/>
          <a:lstStyle/>
          <a:p>
            <a:pPr marL="0" indent="0" algn="l">
              <a:buNone/>
            </a:pPr>
            <a:r>
              <a:rPr lang="en-US" dirty="0">
                <a:solidFill>
                  <a:schemeClr val="tx1">
                    <a:lumMod val="65000"/>
                    <a:lumOff val="35000"/>
                  </a:schemeClr>
                </a:solidFill>
                <a:latin typeface="Garamond" pitchFamily="34" charset="0"/>
                <a:ea typeface="Garamond" pitchFamily="34" charset="-122"/>
                <a:cs typeface="Garamond" pitchFamily="34" charset="-120"/>
              </a:rPr>
              <a:t>Matter moves between states by absorbing or releasing energy — the matter composition itself does NOT change</a:t>
            </a:r>
          </a:p>
          <a:p>
            <a:pPr marL="0" indent="0" algn="l">
              <a:buNone/>
            </a:pPr>
            <a:r>
              <a:rPr lang="en-US" dirty="0">
                <a:solidFill>
                  <a:schemeClr val="tx1">
                    <a:lumMod val="65000"/>
                    <a:lumOff val="35000"/>
                  </a:schemeClr>
                </a:solidFill>
                <a:latin typeface="Garamond" pitchFamily="34" charset="0"/>
              </a:rPr>
              <a:t>	</a:t>
            </a:r>
          </a:p>
          <a:p>
            <a:pPr marL="0" indent="0" algn="l">
              <a:buNone/>
            </a:pPr>
            <a:r>
              <a:rPr lang="en-US" dirty="0">
                <a:solidFill>
                  <a:schemeClr val="tx1">
                    <a:lumMod val="65000"/>
                    <a:lumOff val="35000"/>
                  </a:schemeClr>
                </a:solidFill>
                <a:latin typeface="Garamond" pitchFamily="34" charset="0"/>
              </a:rPr>
              <a:t>		</a:t>
            </a:r>
            <a:r>
              <a:rPr lang="en-US" dirty="0">
                <a:solidFill>
                  <a:schemeClr val="tx1">
                    <a:lumMod val="65000"/>
                    <a:lumOff val="35000"/>
                  </a:schemeClr>
                </a:solidFill>
                <a:latin typeface="Garamond" panose="02020404030301010803" pitchFamily="18" charset="0"/>
              </a:rPr>
              <a:t>(i.e. when Ice melts to water its still H</a:t>
            </a:r>
            <a:r>
              <a:rPr lang="en-US" baseline="-25000" dirty="0">
                <a:solidFill>
                  <a:schemeClr val="tx1">
                    <a:lumMod val="65000"/>
                    <a:lumOff val="35000"/>
                  </a:schemeClr>
                </a:solidFill>
                <a:latin typeface="Garamond" panose="02020404030301010803" pitchFamily="18" charset="0"/>
              </a:rPr>
              <a:t>2</a:t>
            </a:r>
            <a:r>
              <a:rPr lang="en-US" dirty="0">
                <a:solidFill>
                  <a:schemeClr val="tx1">
                    <a:lumMod val="65000"/>
                    <a:lumOff val="35000"/>
                  </a:schemeClr>
                </a:solidFill>
                <a:latin typeface="Garamond" panose="02020404030301010803" pitchFamily="18" charset="0"/>
              </a:rPr>
              <a:t>O)</a:t>
            </a:r>
          </a:p>
        </p:txBody>
      </p:sp>
      <p:sp>
        <p:nvSpPr>
          <p:cNvPr id="4" name="Shape 2"/>
          <p:cNvSpPr/>
          <p:nvPr/>
        </p:nvSpPr>
        <p:spPr>
          <a:xfrm>
            <a:off x="548640" y="1874520"/>
            <a:ext cx="3520440" cy="1783080"/>
          </a:xfrm>
          <a:prstGeom prst="roundRect">
            <a:avLst>
              <a:gd name="adj" fmla="val 4615"/>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5" name="Shape 3"/>
          <p:cNvSpPr/>
          <p:nvPr/>
        </p:nvSpPr>
        <p:spPr>
          <a:xfrm>
            <a:off x="786384" y="2112264"/>
            <a:ext cx="530352" cy="530352"/>
          </a:xfrm>
          <a:prstGeom prst="ellipse">
            <a:avLst/>
          </a:prstGeom>
          <a:solidFill>
            <a:srgbClr val="C00000"/>
          </a:solidFill>
          <a:ln/>
        </p:spPr>
        <p:txBody>
          <a:bodyPr/>
          <a:lstStyle/>
          <a:p>
            <a:endParaRPr lang="en-US"/>
          </a:p>
        </p:txBody>
      </p:sp>
      <p:pic>
        <p:nvPicPr>
          <p:cNvPr id="6" name="Image 0" descr="icon_sun_white.png"/>
          <p:cNvPicPr>
            <a:picLocks noChangeAspect="1"/>
          </p:cNvPicPr>
          <p:nvPr/>
        </p:nvPicPr>
        <p:blipFill>
          <a:blip r:embed="rId3"/>
          <a:stretch>
            <a:fillRect/>
          </a:stretch>
        </p:blipFill>
        <p:spPr>
          <a:xfrm>
            <a:off x="903061" y="2228941"/>
            <a:ext cx="296997" cy="296997"/>
          </a:xfrm>
          <a:prstGeom prst="rect">
            <a:avLst/>
          </a:prstGeom>
        </p:spPr>
      </p:pic>
      <p:sp>
        <p:nvSpPr>
          <p:cNvPr id="7" name="Text 4"/>
          <p:cNvSpPr/>
          <p:nvPr/>
        </p:nvSpPr>
        <p:spPr>
          <a:xfrm>
            <a:off x="1481328" y="2075688"/>
            <a:ext cx="2386584" cy="603504"/>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Melting</a:t>
            </a:r>
            <a:endParaRPr lang="en-US" sz="1500" dirty="0"/>
          </a:p>
        </p:txBody>
      </p:sp>
      <p:sp>
        <p:nvSpPr>
          <p:cNvPr id="8" name="Text 5"/>
          <p:cNvSpPr/>
          <p:nvPr/>
        </p:nvSpPr>
        <p:spPr>
          <a:xfrm>
            <a:off x="786384" y="2770632"/>
            <a:ext cx="3044952" cy="704088"/>
          </a:xfrm>
          <a:prstGeom prst="rect">
            <a:avLst/>
          </a:prstGeom>
          <a:noFill/>
          <a:ln/>
        </p:spPr>
        <p:txBody>
          <a:bodyPr wrap="square" lIns="0" tIns="0" rIns="0" bIns="0" rtlCol="0" anchor="t"/>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Solid → Liquid. Energy absorbed.</a:t>
            </a:r>
            <a:endParaRPr lang="en-US" dirty="0"/>
          </a:p>
        </p:txBody>
      </p:sp>
      <p:sp>
        <p:nvSpPr>
          <p:cNvPr id="9" name="Shape 6"/>
          <p:cNvSpPr/>
          <p:nvPr/>
        </p:nvSpPr>
        <p:spPr>
          <a:xfrm>
            <a:off x="4361688" y="1874520"/>
            <a:ext cx="3520440" cy="1783080"/>
          </a:xfrm>
          <a:prstGeom prst="roundRect">
            <a:avLst>
              <a:gd name="adj" fmla="val 4615"/>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10" name="Shape 7"/>
          <p:cNvSpPr/>
          <p:nvPr/>
        </p:nvSpPr>
        <p:spPr>
          <a:xfrm>
            <a:off x="4599432" y="2112264"/>
            <a:ext cx="530352" cy="530352"/>
          </a:xfrm>
          <a:prstGeom prst="ellipse">
            <a:avLst/>
          </a:prstGeom>
          <a:solidFill>
            <a:srgbClr val="C00000"/>
          </a:solidFill>
          <a:ln/>
        </p:spPr>
        <p:txBody>
          <a:bodyPr/>
          <a:lstStyle/>
          <a:p>
            <a:endParaRPr lang="en-US"/>
          </a:p>
        </p:txBody>
      </p:sp>
      <p:pic>
        <p:nvPicPr>
          <p:cNvPr id="11" name="Image 1" descr="icon_sun_white.png"/>
          <p:cNvPicPr>
            <a:picLocks noChangeAspect="1"/>
          </p:cNvPicPr>
          <p:nvPr/>
        </p:nvPicPr>
        <p:blipFill>
          <a:blip r:embed="rId3"/>
          <a:stretch>
            <a:fillRect/>
          </a:stretch>
        </p:blipFill>
        <p:spPr>
          <a:xfrm>
            <a:off x="4716109" y="2228941"/>
            <a:ext cx="296997" cy="296997"/>
          </a:xfrm>
          <a:prstGeom prst="rect">
            <a:avLst/>
          </a:prstGeom>
        </p:spPr>
      </p:pic>
      <p:sp>
        <p:nvSpPr>
          <p:cNvPr id="12" name="Text 8"/>
          <p:cNvSpPr/>
          <p:nvPr/>
        </p:nvSpPr>
        <p:spPr>
          <a:xfrm>
            <a:off x="5294376" y="2075688"/>
            <a:ext cx="2386584" cy="603504"/>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Vaporization</a:t>
            </a:r>
            <a:endParaRPr lang="en-US" sz="1500" dirty="0"/>
          </a:p>
        </p:txBody>
      </p:sp>
      <p:sp>
        <p:nvSpPr>
          <p:cNvPr id="13" name="Text 9"/>
          <p:cNvSpPr/>
          <p:nvPr/>
        </p:nvSpPr>
        <p:spPr>
          <a:xfrm>
            <a:off x="4599432" y="2770632"/>
            <a:ext cx="3044952" cy="704088"/>
          </a:xfrm>
          <a:prstGeom prst="rect">
            <a:avLst/>
          </a:prstGeom>
          <a:noFill/>
          <a:ln/>
        </p:spPr>
        <p:txBody>
          <a:bodyPr wrap="square" lIns="0" tIns="0" rIns="0" bIns="0" rtlCol="0" anchor="t"/>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Liquid → Gas. Energy absorbed.</a:t>
            </a:r>
            <a:endParaRPr lang="en-US" dirty="0"/>
          </a:p>
        </p:txBody>
      </p:sp>
      <p:sp>
        <p:nvSpPr>
          <p:cNvPr id="14" name="Shape 10"/>
          <p:cNvSpPr/>
          <p:nvPr/>
        </p:nvSpPr>
        <p:spPr>
          <a:xfrm>
            <a:off x="8174736" y="1874520"/>
            <a:ext cx="3520440" cy="1783080"/>
          </a:xfrm>
          <a:prstGeom prst="roundRect">
            <a:avLst>
              <a:gd name="adj" fmla="val 4615"/>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15" name="Shape 11"/>
          <p:cNvSpPr/>
          <p:nvPr/>
        </p:nvSpPr>
        <p:spPr>
          <a:xfrm>
            <a:off x="8412480" y="2112264"/>
            <a:ext cx="530352" cy="530352"/>
          </a:xfrm>
          <a:prstGeom prst="ellipse">
            <a:avLst/>
          </a:prstGeom>
          <a:solidFill>
            <a:srgbClr val="C00000"/>
          </a:solidFill>
          <a:ln/>
        </p:spPr>
        <p:txBody>
          <a:bodyPr/>
          <a:lstStyle/>
          <a:p>
            <a:endParaRPr lang="en-US"/>
          </a:p>
        </p:txBody>
      </p:sp>
      <p:pic>
        <p:nvPicPr>
          <p:cNvPr id="16" name="Image 2" descr="icon_wind_white.png"/>
          <p:cNvPicPr>
            <a:picLocks noChangeAspect="1"/>
          </p:cNvPicPr>
          <p:nvPr/>
        </p:nvPicPr>
        <p:blipFill>
          <a:blip r:embed="rId4"/>
          <a:stretch>
            <a:fillRect/>
          </a:stretch>
        </p:blipFill>
        <p:spPr>
          <a:xfrm>
            <a:off x="8529157" y="2228941"/>
            <a:ext cx="296997" cy="296997"/>
          </a:xfrm>
          <a:prstGeom prst="rect">
            <a:avLst/>
          </a:prstGeom>
        </p:spPr>
      </p:pic>
      <p:sp>
        <p:nvSpPr>
          <p:cNvPr id="17" name="Text 12"/>
          <p:cNvSpPr/>
          <p:nvPr/>
        </p:nvSpPr>
        <p:spPr>
          <a:xfrm>
            <a:off x="9107424" y="2075688"/>
            <a:ext cx="2386584" cy="603504"/>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Sublimation</a:t>
            </a:r>
            <a:endParaRPr lang="en-US" sz="1500" dirty="0"/>
          </a:p>
        </p:txBody>
      </p:sp>
      <p:sp>
        <p:nvSpPr>
          <p:cNvPr id="18" name="Text 13"/>
          <p:cNvSpPr/>
          <p:nvPr/>
        </p:nvSpPr>
        <p:spPr>
          <a:xfrm>
            <a:off x="8412480" y="2770632"/>
            <a:ext cx="3044952" cy="704088"/>
          </a:xfrm>
          <a:prstGeom prst="rect">
            <a:avLst/>
          </a:prstGeom>
          <a:noFill/>
          <a:ln/>
        </p:spPr>
        <p:txBody>
          <a:bodyPr wrap="square" lIns="0" tIns="0" rIns="0" bIns="0" rtlCol="0" anchor="t"/>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Solid → Gas directly. Energy absorbed.</a:t>
            </a:r>
            <a:endParaRPr lang="en-US" dirty="0"/>
          </a:p>
        </p:txBody>
      </p:sp>
      <p:sp>
        <p:nvSpPr>
          <p:cNvPr id="19" name="Shape 14"/>
          <p:cNvSpPr/>
          <p:nvPr/>
        </p:nvSpPr>
        <p:spPr>
          <a:xfrm>
            <a:off x="548640" y="3913632"/>
            <a:ext cx="3520440" cy="1783080"/>
          </a:xfrm>
          <a:prstGeom prst="roundRect">
            <a:avLst>
              <a:gd name="adj" fmla="val 4615"/>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20" name="Shape 15"/>
          <p:cNvSpPr/>
          <p:nvPr/>
        </p:nvSpPr>
        <p:spPr>
          <a:xfrm>
            <a:off x="786384" y="4151376"/>
            <a:ext cx="530352" cy="530352"/>
          </a:xfrm>
          <a:prstGeom prst="ellipse">
            <a:avLst/>
          </a:prstGeom>
          <a:solidFill>
            <a:srgbClr val="1C7293"/>
          </a:solidFill>
          <a:ln/>
        </p:spPr>
        <p:txBody>
          <a:bodyPr/>
          <a:lstStyle/>
          <a:p>
            <a:endParaRPr lang="en-US"/>
          </a:p>
        </p:txBody>
      </p:sp>
      <p:pic>
        <p:nvPicPr>
          <p:cNvPr id="21" name="Image 3" descr="icon_snowflake_white.png"/>
          <p:cNvPicPr>
            <a:picLocks noChangeAspect="1"/>
          </p:cNvPicPr>
          <p:nvPr/>
        </p:nvPicPr>
        <p:blipFill>
          <a:blip r:embed="rId5"/>
          <a:stretch>
            <a:fillRect/>
          </a:stretch>
        </p:blipFill>
        <p:spPr>
          <a:xfrm>
            <a:off x="903061" y="4268053"/>
            <a:ext cx="296997" cy="296997"/>
          </a:xfrm>
          <a:prstGeom prst="rect">
            <a:avLst/>
          </a:prstGeom>
        </p:spPr>
      </p:pic>
      <p:sp>
        <p:nvSpPr>
          <p:cNvPr id="22" name="Text 16"/>
          <p:cNvSpPr/>
          <p:nvPr/>
        </p:nvSpPr>
        <p:spPr>
          <a:xfrm>
            <a:off x="1481328" y="4114800"/>
            <a:ext cx="2386584" cy="603504"/>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Freezing</a:t>
            </a:r>
            <a:endParaRPr lang="en-US" sz="1500" dirty="0"/>
          </a:p>
        </p:txBody>
      </p:sp>
      <p:sp>
        <p:nvSpPr>
          <p:cNvPr id="23" name="Text 17"/>
          <p:cNvSpPr/>
          <p:nvPr/>
        </p:nvSpPr>
        <p:spPr>
          <a:xfrm>
            <a:off x="786384" y="4809744"/>
            <a:ext cx="3044952" cy="704088"/>
          </a:xfrm>
          <a:prstGeom prst="rect">
            <a:avLst/>
          </a:prstGeom>
          <a:noFill/>
          <a:ln/>
        </p:spPr>
        <p:txBody>
          <a:bodyPr wrap="square" lIns="0" tIns="0" rIns="0" bIns="0" rtlCol="0" anchor="t"/>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Liquid → Solid. Energy released.</a:t>
            </a:r>
            <a:endParaRPr lang="en-US" dirty="0"/>
          </a:p>
        </p:txBody>
      </p:sp>
      <p:sp>
        <p:nvSpPr>
          <p:cNvPr id="24" name="Shape 18"/>
          <p:cNvSpPr/>
          <p:nvPr/>
        </p:nvSpPr>
        <p:spPr>
          <a:xfrm>
            <a:off x="4361688" y="3913632"/>
            <a:ext cx="3520440" cy="1783080"/>
          </a:xfrm>
          <a:prstGeom prst="roundRect">
            <a:avLst>
              <a:gd name="adj" fmla="val 4615"/>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25" name="Shape 19"/>
          <p:cNvSpPr/>
          <p:nvPr/>
        </p:nvSpPr>
        <p:spPr>
          <a:xfrm>
            <a:off x="4599432" y="4151376"/>
            <a:ext cx="530352" cy="530352"/>
          </a:xfrm>
          <a:prstGeom prst="ellipse">
            <a:avLst/>
          </a:prstGeom>
          <a:solidFill>
            <a:srgbClr val="1C7293"/>
          </a:solidFill>
          <a:ln/>
        </p:spPr>
        <p:txBody>
          <a:bodyPr/>
          <a:lstStyle/>
          <a:p>
            <a:endParaRPr lang="en-US"/>
          </a:p>
        </p:txBody>
      </p:sp>
      <p:pic>
        <p:nvPicPr>
          <p:cNvPr id="26" name="Image 4" descr="icon_cloud_white.png"/>
          <p:cNvPicPr>
            <a:picLocks noChangeAspect="1"/>
          </p:cNvPicPr>
          <p:nvPr/>
        </p:nvPicPr>
        <p:blipFill>
          <a:blip r:embed="rId6"/>
          <a:stretch>
            <a:fillRect/>
          </a:stretch>
        </p:blipFill>
        <p:spPr>
          <a:xfrm>
            <a:off x="4716109" y="4268053"/>
            <a:ext cx="296997" cy="296997"/>
          </a:xfrm>
          <a:prstGeom prst="rect">
            <a:avLst/>
          </a:prstGeom>
        </p:spPr>
      </p:pic>
      <p:sp>
        <p:nvSpPr>
          <p:cNvPr id="27" name="Text 20"/>
          <p:cNvSpPr/>
          <p:nvPr/>
        </p:nvSpPr>
        <p:spPr>
          <a:xfrm>
            <a:off x="5294376" y="4114800"/>
            <a:ext cx="2386584" cy="603504"/>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Condensation</a:t>
            </a:r>
            <a:endParaRPr lang="en-US" sz="1500" dirty="0"/>
          </a:p>
        </p:txBody>
      </p:sp>
      <p:sp>
        <p:nvSpPr>
          <p:cNvPr id="28" name="Text 21"/>
          <p:cNvSpPr/>
          <p:nvPr/>
        </p:nvSpPr>
        <p:spPr>
          <a:xfrm>
            <a:off x="4599432" y="4809744"/>
            <a:ext cx="3044952" cy="704088"/>
          </a:xfrm>
          <a:prstGeom prst="rect">
            <a:avLst/>
          </a:prstGeom>
          <a:noFill/>
          <a:ln/>
        </p:spPr>
        <p:txBody>
          <a:bodyPr wrap="square" lIns="0" tIns="0" rIns="0" bIns="0" rtlCol="0" anchor="t"/>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Gas → Liquid. Energy released.</a:t>
            </a:r>
            <a:endParaRPr lang="en-US" dirty="0"/>
          </a:p>
        </p:txBody>
      </p:sp>
      <p:sp>
        <p:nvSpPr>
          <p:cNvPr id="29" name="Shape 22"/>
          <p:cNvSpPr/>
          <p:nvPr/>
        </p:nvSpPr>
        <p:spPr>
          <a:xfrm>
            <a:off x="8174736" y="3913632"/>
            <a:ext cx="3520440" cy="1783080"/>
          </a:xfrm>
          <a:prstGeom prst="roundRect">
            <a:avLst>
              <a:gd name="adj" fmla="val 4615"/>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30" name="Shape 23"/>
          <p:cNvSpPr/>
          <p:nvPr/>
        </p:nvSpPr>
        <p:spPr>
          <a:xfrm>
            <a:off x="8412480" y="4151376"/>
            <a:ext cx="530352" cy="530352"/>
          </a:xfrm>
          <a:prstGeom prst="ellipse">
            <a:avLst/>
          </a:prstGeom>
          <a:solidFill>
            <a:srgbClr val="1C7293"/>
          </a:solidFill>
          <a:ln/>
        </p:spPr>
        <p:txBody>
          <a:bodyPr/>
          <a:lstStyle/>
          <a:p>
            <a:endParaRPr lang="en-US"/>
          </a:p>
        </p:txBody>
      </p:sp>
      <p:pic>
        <p:nvPicPr>
          <p:cNvPr id="31" name="Image 5" descr="icon_snowflake_white.png"/>
          <p:cNvPicPr>
            <a:picLocks noChangeAspect="1"/>
          </p:cNvPicPr>
          <p:nvPr/>
        </p:nvPicPr>
        <p:blipFill>
          <a:blip r:embed="rId5"/>
          <a:stretch>
            <a:fillRect/>
          </a:stretch>
        </p:blipFill>
        <p:spPr>
          <a:xfrm>
            <a:off x="8529157" y="4268053"/>
            <a:ext cx="296997" cy="296997"/>
          </a:xfrm>
          <a:prstGeom prst="rect">
            <a:avLst/>
          </a:prstGeom>
        </p:spPr>
      </p:pic>
      <p:sp>
        <p:nvSpPr>
          <p:cNvPr id="32" name="Text 24"/>
          <p:cNvSpPr/>
          <p:nvPr/>
        </p:nvSpPr>
        <p:spPr>
          <a:xfrm>
            <a:off x="9107424" y="4114800"/>
            <a:ext cx="2386584" cy="603504"/>
          </a:xfrm>
          <a:prstGeom prst="rect">
            <a:avLst/>
          </a:prstGeom>
          <a:noFill/>
          <a:ln/>
        </p:spPr>
        <p:txBody>
          <a:bodyPr wrap="square" lIns="0" tIns="0" rIns="0" bIns="0" rtlCol="0" anchor="ctr"/>
          <a:lstStyle/>
          <a:p>
            <a:pPr marL="0" indent="0" algn="l">
              <a:buNone/>
            </a:pPr>
            <a:r>
              <a:rPr lang="en-US" sz="1500" b="1" dirty="0">
                <a:solidFill>
                  <a:srgbClr val="14213D"/>
                </a:solidFill>
                <a:latin typeface="Cambria" pitchFamily="34" charset="0"/>
                <a:ea typeface="Cambria" pitchFamily="34" charset="-122"/>
                <a:cs typeface="Cambria" pitchFamily="34" charset="-120"/>
              </a:rPr>
              <a:t>Deposition</a:t>
            </a:r>
            <a:endParaRPr lang="en-US" sz="1500" dirty="0"/>
          </a:p>
        </p:txBody>
      </p:sp>
      <p:sp>
        <p:nvSpPr>
          <p:cNvPr id="33" name="Text 25"/>
          <p:cNvSpPr/>
          <p:nvPr/>
        </p:nvSpPr>
        <p:spPr>
          <a:xfrm>
            <a:off x="8412480" y="4809744"/>
            <a:ext cx="3044952" cy="704088"/>
          </a:xfrm>
          <a:prstGeom prst="rect">
            <a:avLst/>
          </a:prstGeom>
          <a:noFill/>
          <a:ln/>
        </p:spPr>
        <p:txBody>
          <a:bodyPr wrap="square" lIns="0" tIns="0" rIns="0" bIns="0" rtlCol="0" anchor="t"/>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Gas → Solid directly. Energy released.</a:t>
            </a:r>
            <a:endParaRPr lang="en-US" dirty="0"/>
          </a:p>
        </p:txBody>
      </p:sp>
      <p:sp>
        <p:nvSpPr>
          <p:cNvPr id="34" name="Text 26"/>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35" name="Text 27"/>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Applied Example: Sweating and Evaporative Cooling</a:t>
            </a:r>
            <a:endParaRPr lang="en-US" sz="3000" dirty="0"/>
          </a:p>
        </p:txBody>
      </p:sp>
      <p:sp>
        <p:nvSpPr>
          <p:cNvPr id="3" name="Shape 1"/>
          <p:cNvSpPr/>
          <p:nvPr/>
        </p:nvSpPr>
        <p:spPr>
          <a:xfrm>
            <a:off x="548640" y="1691640"/>
            <a:ext cx="11091672" cy="1024128"/>
          </a:xfrm>
          <a:prstGeom prst="roundRect">
            <a:avLst>
              <a:gd name="adj" fmla="val 6250"/>
            </a:avLst>
          </a:prstGeom>
          <a:solidFill>
            <a:srgbClr val="F1F6F8"/>
          </a:solidFill>
          <a:ln/>
        </p:spPr>
        <p:txBody>
          <a:bodyPr/>
          <a:lstStyle/>
          <a:p>
            <a:endParaRPr lang="en-US"/>
          </a:p>
        </p:txBody>
      </p:sp>
      <p:sp>
        <p:nvSpPr>
          <p:cNvPr id="4" name="Shape 2"/>
          <p:cNvSpPr/>
          <p:nvPr/>
        </p:nvSpPr>
        <p:spPr>
          <a:xfrm>
            <a:off x="694944" y="2011680"/>
            <a:ext cx="1417320" cy="384048"/>
          </a:xfrm>
          <a:prstGeom prst="roundRect">
            <a:avLst>
              <a:gd name="adj" fmla="val 50000"/>
            </a:avLst>
          </a:prstGeom>
          <a:solidFill>
            <a:srgbClr val="1C7293"/>
          </a:solidFill>
          <a:ln/>
        </p:spPr>
        <p:txBody>
          <a:bodyPr/>
          <a:lstStyle/>
          <a:p>
            <a:endParaRPr lang="en-US"/>
          </a:p>
        </p:txBody>
      </p:sp>
      <p:sp>
        <p:nvSpPr>
          <p:cNvPr id="5" name="Text 3"/>
          <p:cNvSpPr/>
          <p:nvPr/>
        </p:nvSpPr>
        <p:spPr>
          <a:xfrm>
            <a:off x="694944" y="2011680"/>
            <a:ext cx="141732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Observe</a:t>
            </a:r>
            <a:endParaRPr lang="en-US" sz="1600" dirty="0"/>
          </a:p>
        </p:txBody>
      </p:sp>
      <p:sp>
        <p:nvSpPr>
          <p:cNvPr id="6" name="Text 4"/>
          <p:cNvSpPr/>
          <p:nvPr/>
        </p:nvSpPr>
        <p:spPr>
          <a:xfrm>
            <a:off x="2313432" y="1746504"/>
            <a:ext cx="9125712" cy="914400"/>
          </a:xfrm>
          <a:prstGeom prst="rect">
            <a:avLst/>
          </a:prstGeom>
          <a:noFill/>
          <a:ln/>
        </p:spPr>
        <p:txBody>
          <a:bodyPr wrap="square" lIns="0" tIns="0" rIns="0" bIns="0" rtlCol="0" anchor="ctr"/>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When your body overheats (i.e. exercising), sweat glands release water onto the skin.</a:t>
            </a:r>
            <a:endParaRPr lang="en-US" dirty="0"/>
          </a:p>
        </p:txBody>
      </p:sp>
      <p:sp>
        <p:nvSpPr>
          <p:cNvPr id="7" name="Shape 5"/>
          <p:cNvSpPr/>
          <p:nvPr/>
        </p:nvSpPr>
        <p:spPr>
          <a:xfrm>
            <a:off x="548640" y="2862072"/>
            <a:ext cx="11091672" cy="1024128"/>
          </a:xfrm>
          <a:prstGeom prst="roundRect">
            <a:avLst>
              <a:gd name="adj" fmla="val 6250"/>
            </a:avLst>
          </a:prstGeom>
          <a:solidFill>
            <a:srgbClr val="F1F6F8"/>
          </a:solidFill>
          <a:ln/>
        </p:spPr>
        <p:txBody>
          <a:bodyPr/>
          <a:lstStyle/>
          <a:p>
            <a:endParaRPr lang="en-US"/>
          </a:p>
        </p:txBody>
      </p:sp>
      <p:sp>
        <p:nvSpPr>
          <p:cNvPr id="8" name="Shape 6"/>
          <p:cNvSpPr/>
          <p:nvPr/>
        </p:nvSpPr>
        <p:spPr>
          <a:xfrm>
            <a:off x="694944" y="3182112"/>
            <a:ext cx="1417320" cy="384048"/>
          </a:xfrm>
          <a:prstGeom prst="roundRect">
            <a:avLst>
              <a:gd name="adj" fmla="val 50000"/>
            </a:avLst>
          </a:prstGeom>
          <a:solidFill>
            <a:srgbClr val="1C7293"/>
          </a:solidFill>
          <a:ln/>
        </p:spPr>
        <p:txBody>
          <a:bodyPr/>
          <a:lstStyle/>
          <a:p>
            <a:endParaRPr lang="en-US"/>
          </a:p>
        </p:txBody>
      </p:sp>
      <p:sp>
        <p:nvSpPr>
          <p:cNvPr id="9" name="Text 7"/>
          <p:cNvSpPr/>
          <p:nvPr/>
        </p:nvSpPr>
        <p:spPr>
          <a:xfrm>
            <a:off x="694944" y="3182112"/>
            <a:ext cx="141732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Explain</a:t>
            </a:r>
            <a:endParaRPr lang="en-US" sz="1600" dirty="0"/>
          </a:p>
        </p:txBody>
      </p:sp>
      <p:sp>
        <p:nvSpPr>
          <p:cNvPr id="10" name="Text 8"/>
          <p:cNvSpPr/>
          <p:nvPr/>
        </p:nvSpPr>
        <p:spPr>
          <a:xfrm>
            <a:off x="2313432" y="2916936"/>
            <a:ext cx="9125712" cy="914400"/>
          </a:xfrm>
          <a:prstGeom prst="rect">
            <a:avLst/>
          </a:prstGeom>
          <a:noFill/>
          <a:ln/>
        </p:spPr>
        <p:txBody>
          <a:bodyPr wrap="square" lIns="0" tIns="0" rIns="0" bIns="0" rtlCol="0" anchor="ctr"/>
          <a:lstStyle/>
          <a:p>
            <a:pPr>
              <a:lnSpc>
                <a:spcPct val="105000"/>
              </a:lnSpc>
            </a:pPr>
            <a:r>
              <a:rPr lang="en-US" dirty="0">
                <a:solidFill>
                  <a:srgbClr val="14213D"/>
                </a:solidFill>
                <a:latin typeface="Garamond" pitchFamily="34" charset="0"/>
                <a:ea typeface="Garamond" pitchFamily="34" charset="-122"/>
                <a:cs typeface="Garamond" pitchFamily="34" charset="-120"/>
              </a:rPr>
              <a:t>That liquid water absorbs heat from the skin to evaporate (</a:t>
            </a:r>
            <a:r>
              <a:rPr lang="en-US" u="sng" dirty="0">
                <a:solidFill>
                  <a:srgbClr val="14213D"/>
                </a:solidFill>
                <a:latin typeface="Garamond" pitchFamily="34" charset="0"/>
                <a:ea typeface="Garamond" pitchFamily="34" charset="-122"/>
                <a:cs typeface="Garamond" pitchFamily="34" charset="-120"/>
              </a:rPr>
              <a:t>warmer matter always transfers heat to colder matter!!</a:t>
            </a:r>
            <a:r>
              <a:rPr lang="en-US" dirty="0">
                <a:solidFill>
                  <a:srgbClr val="14213D"/>
                </a:solidFill>
                <a:latin typeface="Garamond" pitchFamily="34" charset="0"/>
                <a:ea typeface="Garamond" pitchFamily="34" charset="-122"/>
                <a:cs typeface="Garamond" pitchFamily="34" charset="-120"/>
              </a:rPr>
              <a:t>) — turning into water vapor (a gas).</a:t>
            </a:r>
            <a:endParaRPr lang="en-US" dirty="0"/>
          </a:p>
        </p:txBody>
      </p:sp>
      <p:sp>
        <p:nvSpPr>
          <p:cNvPr id="11" name="Shape 9"/>
          <p:cNvSpPr/>
          <p:nvPr/>
        </p:nvSpPr>
        <p:spPr>
          <a:xfrm>
            <a:off x="548640" y="4032504"/>
            <a:ext cx="11091672" cy="1024128"/>
          </a:xfrm>
          <a:prstGeom prst="roundRect">
            <a:avLst>
              <a:gd name="adj" fmla="val 6250"/>
            </a:avLst>
          </a:prstGeom>
          <a:solidFill>
            <a:srgbClr val="F1F6F8"/>
          </a:solidFill>
          <a:ln/>
        </p:spPr>
        <p:txBody>
          <a:bodyPr/>
          <a:lstStyle/>
          <a:p>
            <a:endParaRPr lang="en-US"/>
          </a:p>
        </p:txBody>
      </p:sp>
      <p:sp>
        <p:nvSpPr>
          <p:cNvPr id="12" name="Shape 10"/>
          <p:cNvSpPr/>
          <p:nvPr/>
        </p:nvSpPr>
        <p:spPr>
          <a:xfrm>
            <a:off x="694944" y="4352544"/>
            <a:ext cx="1417320" cy="384048"/>
          </a:xfrm>
          <a:prstGeom prst="roundRect">
            <a:avLst>
              <a:gd name="adj" fmla="val 50000"/>
            </a:avLst>
          </a:prstGeom>
          <a:solidFill>
            <a:srgbClr val="F4A100"/>
          </a:solidFill>
          <a:ln/>
        </p:spPr>
        <p:txBody>
          <a:bodyPr/>
          <a:lstStyle/>
          <a:p>
            <a:endParaRPr lang="en-US"/>
          </a:p>
        </p:txBody>
      </p:sp>
      <p:sp>
        <p:nvSpPr>
          <p:cNvPr id="13" name="Text 11"/>
          <p:cNvSpPr/>
          <p:nvPr/>
        </p:nvSpPr>
        <p:spPr>
          <a:xfrm>
            <a:off x="694944" y="4352544"/>
            <a:ext cx="141732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Direction</a:t>
            </a:r>
            <a:endParaRPr lang="en-US" sz="1600" dirty="0"/>
          </a:p>
        </p:txBody>
      </p:sp>
      <p:sp>
        <p:nvSpPr>
          <p:cNvPr id="14" name="Text 12"/>
          <p:cNvSpPr/>
          <p:nvPr/>
        </p:nvSpPr>
        <p:spPr>
          <a:xfrm>
            <a:off x="2313432" y="4087368"/>
            <a:ext cx="9125712" cy="914400"/>
          </a:xfrm>
          <a:prstGeom prst="rect">
            <a:avLst/>
          </a:prstGeom>
          <a:noFill/>
          <a:ln/>
        </p:spPr>
        <p:txBody>
          <a:bodyPr wrap="square" lIns="0" tIns="0" rIns="0" bIns="0" rtlCol="0" anchor="ctr"/>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Vaporization always absorbs energy. Here, that energy is pulled directly from your skin, which is why the skin feels cooler.</a:t>
            </a:r>
            <a:endParaRPr lang="en-US" dirty="0"/>
          </a:p>
        </p:txBody>
      </p:sp>
      <p:sp>
        <p:nvSpPr>
          <p:cNvPr id="15" name="Shape 13"/>
          <p:cNvSpPr/>
          <p:nvPr/>
        </p:nvSpPr>
        <p:spPr>
          <a:xfrm>
            <a:off x="548640" y="5202936"/>
            <a:ext cx="11091672" cy="1024128"/>
          </a:xfrm>
          <a:prstGeom prst="roundRect">
            <a:avLst>
              <a:gd name="adj" fmla="val 6250"/>
            </a:avLst>
          </a:prstGeom>
          <a:solidFill>
            <a:srgbClr val="F1F6F8"/>
          </a:solidFill>
          <a:ln/>
        </p:spPr>
        <p:txBody>
          <a:bodyPr/>
          <a:lstStyle/>
          <a:p>
            <a:endParaRPr lang="en-US"/>
          </a:p>
        </p:txBody>
      </p:sp>
      <p:sp>
        <p:nvSpPr>
          <p:cNvPr id="16" name="Shape 14"/>
          <p:cNvSpPr/>
          <p:nvPr/>
        </p:nvSpPr>
        <p:spPr>
          <a:xfrm>
            <a:off x="694944" y="5522976"/>
            <a:ext cx="1417320" cy="384048"/>
          </a:xfrm>
          <a:prstGeom prst="roundRect">
            <a:avLst>
              <a:gd name="adj" fmla="val 50000"/>
            </a:avLst>
          </a:prstGeom>
          <a:solidFill>
            <a:srgbClr val="14213D"/>
          </a:solidFill>
          <a:ln/>
        </p:spPr>
        <p:txBody>
          <a:bodyPr/>
          <a:lstStyle/>
          <a:p>
            <a:endParaRPr lang="en-US"/>
          </a:p>
        </p:txBody>
      </p:sp>
      <p:sp>
        <p:nvSpPr>
          <p:cNvPr id="17" name="Text 15"/>
          <p:cNvSpPr/>
          <p:nvPr/>
        </p:nvSpPr>
        <p:spPr>
          <a:xfrm>
            <a:off x="694944" y="5522976"/>
            <a:ext cx="141732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Clinical Note</a:t>
            </a:r>
            <a:endParaRPr lang="en-US" sz="1600" dirty="0"/>
          </a:p>
        </p:txBody>
      </p:sp>
      <p:sp>
        <p:nvSpPr>
          <p:cNvPr id="18" name="Text 16"/>
          <p:cNvSpPr/>
          <p:nvPr/>
        </p:nvSpPr>
        <p:spPr>
          <a:xfrm>
            <a:off x="2313432" y="5257800"/>
            <a:ext cx="9125712" cy="914400"/>
          </a:xfrm>
          <a:prstGeom prst="rect">
            <a:avLst/>
          </a:prstGeom>
          <a:noFill/>
          <a:ln/>
        </p:spPr>
        <p:txBody>
          <a:bodyPr wrap="square" lIns="0" tIns="0" rIns="0" bIns="0" rtlCol="0" anchor="ctr"/>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A high fever can impair sweating, and severe dehydration reduces the fluid available to evaporate — both can prevent this important body cooling mechanism.</a:t>
            </a:r>
            <a:endParaRPr lang="en-US" dirty="0"/>
          </a:p>
        </p:txBody>
      </p:sp>
      <p:sp>
        <p:nvSpPr>
          <p:cNvPr id="19" name="Text 17"/>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20" name="Text 18"/>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5367528" y="2148840"/>
            <a:ext cx="1463040" cy="1463040"/>
          </a:xfrm>
          <a:prstGeom prst="ellipse">
            <a:avLst/>
          </a:prstGeom>
          <a:solidFill>
            <a:srgbClr val="C00000"/>
          </a:solidFill>
          <a:ln/>
        </p:spPr>
        <p:txBody>
          <a:bodyPr/>
          <a:lstStyle/>
          <a:p>
            <a:endParaRPr lang="en-US"/>
          </a:p>
        </p:txBody>
      </p:sp>
      <p:pic>
        <p:nvPicPr>
          <p:cNvPr id="3" name="Image 0" descr="icon_link_white.png"/>
          <p:cNvPicPr>
            <a:picLocks noChangeAspect="1"/>
          </p:cNvPicPr>
          <p:nvPr/>
        </p:nvPicPr>
        <p:blipFill>
          <a:blip r:embed="rId3"/>
          <a:stretch>
            <a:fillRect/>
          </a:stretch>
        </p:blipFill>
        <p:spPr>
          <a:xfrm>
            <a:off x="5696712" y="2478024"/>
            <a:ext cx="804672" cy="804672"/>
          </a:xfrm>
          <a:prstGeom prst="rect">
            <a:avLst/>
          </a:prstGeom>
        </p:spPr>
      </p:pic>
      <p:sp>
        <p:nvSpPr>
          <p:cNvPr id="4" name="Text 1"/>
          <p:cNvSpPr/>
          <p:nvPr/>
        </p:nvSpPr>
        <p:spPr>
          <a:xfrm>
            <a:off x="822960" y="3840480"/>
            <a:ext cx="10543032" cy="8229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Classifying Matter</a:t>
            </a:r>
            <a:endParaRPr lang="en-US" sz="3600" dirty="0"/>
          </a:p>
        </p:txBody>
      </p:sp>
      <p:sp>
        <p:nvSpPr>
          <p:cNvPr id="5" name="Text 2"/>
          <p:cNvSpPr/>
          <p:nvPr/>
        </p:nvSpPr>
        <p:spPr>
          <a:xfrm>
            <a:off x="822960" y="4617720"/>
            <a:ext cx="10543032" cy="457200"/>
          </a:xfrm>
          <a:prstGeom prst="rect">
            <a:avLst/>
          </a:prstGeom>
          <a:noFill/>
          <a:ln/>
        </p:spPr>
        <p:txBody>
          <a:bodyPr wrap="square" lIns="0" tIns="0" rIns="0" bIns="0" rtlCol="0" anchor="ctr"/>
          <a:lstStyle/>
          <a:p>
            <a:pPr marL="0" indent="0" algn="ctr">
              <a:buNone/>
            </a:pPr>
            <a:r>
              <a:rPr lang="en-US" dirty="0">
                <a:solidFill>
                  <a:srgbClr val="CFE3EA"/>
                </a:solidFill>
                <a:latin typeface="Garamond" pitchFamily="34" charset="0"/>
                <a:ea typeface="Garamond" pitchFamily="34" charset="-122"/>
                <a:cs typeface="Garamond" pitchFamily="34" charset="-120"/>
              </a:rPr>
              <a:t>Elements, compounds, and mixtures — how matter is sorted by composition</a:t>
            </a:r>
            <a:endParaRPr lang="en-US" dirty="0"/>
          </a:p>
        </p:txBody>
      </p:sp>
      <p:sp>
        <p:nvSpPr>
          <p:cNvPr id="6" name="Text 3"/>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A9B7C9"/>
                </a:solidFill>
                <a:latin typeface="Garamond" pitchFamily="34" charset="0"/>
                <a:ea typeface="Garamond" pitchFamily="34" charset="-122"/>
                <a:cs typeface="Garamond" pitchFamily="34" charset="-120"/>
              </a:rPr>
              <a:t>CHEM 101 · Topic 3: Matter and Energy</a:t>
            </a:r>
            <a:endParaRPr lang="en-US" sz="1000" dirty="0"/>
          </a:p>
        </p:txBody>
      </p:sp>
      <p:sp>
        <p:nvSpPr>
          <p:cNvPr id="7" name="Text 4"/>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A9B7C9"/>
                </a:solidFill>
                <a:latin typeface="Garamond" pitchFamily="34" charset="0"/>
                <a:ea typeface="Garamond" pitchFamily="34" charset="-122"/>
                <a:cs typeface="Garamond"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Pure Substances (Elements or Compounds) and Mixtures</a:t>
            </a:r>
            <a:endParaRPr lang="en-US" sz="3000" dirty="0"/>
          </a:p>
        </p:txBody>
      </p:sp>
      <p:sp>
        <p:nvSpPr>
          <p:cNvPr id="3" name="Text 1"/>
          <p:cNvSpPr/>
          <p:nvPr/>
        </p:nvSpPr>
        <p:spPr>
          <a:xfrm>
            <a:off x="457200" y="1225948"/>
            <a:ext cx="11274552" cy="457200"/>
          </a:xfrm>
          <a:prstGeom prst="rect">
            <a:avLst/>
          </a:prstGeom>
          <a:noFill/>
          <a:ln/>
        </p:spPr>
        <p:txBody>
          <a:bodyPr wrap="square" lIns="0" tIns="0" rIns="0" bIns="0" rtlCol="0" anchor="ctr"/>
          <a:lstStyle/>
          <a:p>
            <a:pPr marL="0" indent="0" algn="l">
              <a:buNone/>
            </a:pPr>
            <a:r>
              <a:rPr lang="en-US" sz="2000" dirty="0">
                <a:solidFill>
                  <a:srgbClr val="5B6B7A"/>
                </a:solidFill>
                <a:latin typeface="Garamond" pitchFamily="34" charset="0"/>
                <a:ea typeface="Garamond" pitchFamily="34" charset="-122"/>
                <a:cs typeface="Garamond" pitchFamily="34" charset="-120"/>
              </a:rPr>
              <a:t>Every sample of matter is either a </a:t>
            </a:r>
            <a:r>
              <a:rPr lang="en-US" sz="2000" b="1" u="sng" dirty="0">
                <a:solidFill>
                  <a:srgbClr val="5B6B7A"/>
                </a:solidFill>
                <a:latin typeface="Garamond" pitchFamily="34" charset="0"/>
                <a:ea typeface="Garamond" pitchFamily="34" charset="-122"/>
                <a:cs typeface="Garamond" pitchFamily="34" charset="-120"/>
              </a:rPr>
              <a:t>pure substance</a:t>
            </a:r>
            <a:r>
              <a:rPr lang="en-US" sz="2000" dirty="0">
                <a:solidFill>
                  <a:srgbClr val="5B6B7A"/>
                </a:solidFill>
                <a:latin typeface="Garamond" pitchFamily="34" charset="0"/>
                <a:ea typeface="Garamond" pitchFamily="34" charset="-122"/>
                <a:cs typeface="Garamond" pitchFamily="34" charset="-120"/>
              </a:rPr>
              <a:t> or a </a:t>
            </a:r>
            <a:r>
              <a:rPr lang="en-US" sz="2000" b="1" u="sng" dirty="0">
                <a:solidFill>
                  <a:srgbClr val="5B6B7A"/>
                </a:solidFill>
                <a:latin typeface="Garamond" pitchFamily="34" charset="0"/>
                <a:ea typeface="Garamond" pitchFamily="34" charset="-122"/>
                <a:cs typeface="Garamond" pitchFamily="34" charset="-120"/>
              </a:rPr>
              <a:t>mixture</a:t>
            </a:r>
            <a:r>
              <a:rPr lang="en-US" sz="2000" b="1" dirty="0">
                <a:solidFill>
                  <a:srgbClr val="5B6B7A"/>
                </a:solidFill>
                <a:latin typeface="Garamond" pitchFamily="34" charset="0"/>
                <a:ea typeface="Garamond" pitchFamily="34" charset="-122"/>
                <a:cs typeface="Garamond" pitchFamily="34" charset="-120"/>
              </a:rPr>
              <a:t> </a:t>
            </a:r>
            <a:r>
              <a:rPr lang="en-US" sz="2000" dirty="0">
                <a:solidFill>
                  <a:srgbClr val="5B6B7A"/>
                </a:solidFill>
                <a:latin typeface="Garamond" pitchFamily="34" charset="0"/>
                <a:ea typeface="Garamond" pitchFamily="34" charset="-122"/>
                <a:cs typeface="Garamond" pitchFamily="34" charset="-120"/>
              </a:rPr>
              <a:t>of pure substances</a:t>
            </a:r>
            <a:endParaRPr lang="en-US" sz="2000" dirty="0"/>
          </a:p>
        </p:txBody>
      </p:sp>
      <p:sp>
        <p:nvSpPr>
          <p:cNvPr id="4" name="Shape 2"/>
          <p:cNvSpPr/>
          <p:nvPr/>
        </p:nvSpPr>
        <p:spPr>
          <a:xfrm>
            <a:off x="640080" y="1920240"/>
            <a:ext cx="457200" cy="457200"/>
          </a:xfrm>
          <a:prstGeom prst="ellipse">
            <a:avLst/>
          </a:prstGeom>
          <a:solidFill>
            <a:srgbClr val="14213D"/>
          </a:solidFill>
          <a:ln/>
        </p:spPr>
        <p:txBody>
          <a:bodyPr/>
          <a:lstStyle/>
          <a:p>
            <a:endParaRPr lang="en-US"/>
          </a:p>
        </p:txBody>
      </p:sp>
      <p:pic>
        <p:nvPicPr>
          <p:cNvPr id="5" name="Image 0" descr="icon_atom_white.png"/>
          <p:cNvPicPr>
            <a:picLocks noChangeAspect="1"/>
          </p:cNvPicPr>
          <p:nvPr/>
        </p:nvPicPr>
        <p:blipFill>
          <a:blip r:embed="rId3"/>
          <a:stretch>
            <a:fillRect/>
          </a:stretch>
        </p:blipFill>
        <p:spPr>
          <a:xfrm>
            <a:off x="736092" y="2016252"/>
            <a:ext cx="265176" cy="265176"/>
          </a:xfrm>
          <a:prstGeom prst="rect">
            <a:avLst/>
          </a:prstGeom>
        </p:spPr>
      </p:pic>
      <p:sp>
        <p:nvSpPr>
          <p:cNvPr id="6" name="Text 3"/>
          <p:cNvSpPr/>
          <p:nvPr/>
        </p:nvSpPr>
        <p:spPr>
          <a:xfrm>
            <a:off x="1280160" y="2011680"/>
            <a:ext cx="10222992" cy="777240"/>
          </a:xfrm>
          <a:prstGeom prst="rect">
            <a:avLst/>
          </a:prstGeom>
          <a:noFill/>
          <a:ln/>
        </p:spPr>
        <p:txBody>
          <a:bodyPr wrap="square" lIns="0" tIns="0" rIns="0" bIns="0" rtlCol="0" anchor="t"/>
          <a:lstStyle/>
          <a:p>
            <a:pPr marL="0" indent="0" algn="l">
              <a:lnSpc>
                <a:spcPct val="108000"/>
              </a:lnSpc>
              <a:buNone/>
            </a:pPr>
            <a:r>
              <a:rPr lang="en-US" sz="2000" b="1" dirty="0">
                <a:solidFill>
                  <a:srgbClr val="14213D"/>
                </a:solidFill>
                <a:latin typeface="Cambria" pitchFamily="34" charset="0"/>
                <a:ea typeface="Cambria" pitchFamily="34" charset="-122"/>
                <a:cs typeface="Cambria" pitchFamily="34" charset="-120"/>
              </a:rPr>
              <a:t>Elemental —  </a:t>
            </a:r>
            <a:r>
              <a:rPr lang="en-US" dirty="0">
                <a:solidFill>
                  <a:srgbClr val="14213D"/>
                </a:solidFill>
                <a:latin typeface="Garamond" pitchFamily="34" charset="0"/>
                <a:ea typeface="Garamond" pitchFamily="34" charset="-122"/>
                <a:cs typeface="Garamond" pitchFamily="34" charset="-120"/>
              </a:rPr>
              <a:t> the simplest form of matter; can’t be broken down into anything simpler by chemical means (e.g., Copper (Cu pipe), Oxygen (O), iron (Fe), Carbon (C pencil lead))</a:t>
            </a:r>
            <a:endParaRPr lang="en-US" sz="2000" dirty="0"/>
          </a:p>
        </p:txBody>
      </p:sp>
      <p:sp>
        <p:nvSpPr>
          <p:cNvPr id="7" name="Shape 4"/>
          <p:cNvSpPr/>
          <p:nvPr/>
        </p:nvSpPr>
        <p:spPr>
          <a:xfrm>
            <a:off x="640080" y="2684416"/>
            <a:ext cx="457200" cy="457200"/>
          </a:xfrm>
          <a:prstGeom prst="ellipse">
            <a:avLst/>
          </a:prstGeom>
          <a:solidFill>
            <a:srgbClr val="1C7293"/>
          </a:solidFill>
          <a:ln/>
        </p:spPr>
        <p:txBody>
          <a:bodyPr/>
          <a:lstStyle/>
          <a:p>
            <a:endParaRPr lang="en-US"/>
          </a:p>
        </p:txBody>
      </p:sp>
      <p:pic>
        <p:nvPicPr>
          <p:cNvPr id="8" name="Image 1" descr="icon_link_white.png"/>
          <p:cNvPicPr>
            <a:picLocks noChangeAspect="1"/>
          </p:cNvPicPr>
          <p:nvPr/>
        </p:nvPicPr>
        <p:blipFill>
          <a:blip r:embed="rId4"/>
          <a:stretch>
            <a:fillRect/>
          </a:stretch>
        </p:blipFill>
        <p:spPr>
          <a:xfrm>
            <a:off x="736092" y="2780428"/>
            <a:ext cx="265176" cy="265176"/>
          </a:xfrm>
          <a:prstGeom prst="rect">
            <a:avLst/>
          </a:prstGeom>
        </p:spPr>
      </p:pic>
      <p:sp>
        <p:nvSpPr>
          <p:cNvPr id="9" name="Text 5"/>
          <p:cNvSpPr/>
          <p:nvPr/>
        </p:nvSpPr>
        <p:spPr>
          <a:xfrm>
            <a:off x="1280160" y="2784348"/>
            <a:ext cx="10222992" cy="777240"/>
          </a:xfrm>
          <a:prstGeom prst="rect">
            <a:avLst/>
          </a:prstGeom>
          <a:noFill/>
          <a:ln/>
        </p:spPr>
        <p:txBody>
          <a:bodyPr wrap="square" lIns="0" tIns="0" rIns="0" bIns="0" rtlCol="0" anchor="t"/>
          <a:lstStyle/>
          <a:p>
            <a:pPr marL="0" indent="0" algn="l">
              <a:lnSpc>
                <a:spcPct val="108000"/>
              </a:lnSpc>
              <a:buNone/>
            </a:pPr>
            <a:r>
              <a:rPr lang="en-US" sz="2000" b="1" dirty="0">
                <a:solidFill>
                  <a:srgbClr val="14213D"/>
                </a:solidFill>
                <a:latin typeface="Cambria" pitchFamily="34" charset="0"/>
                <a:ea typeface="Cambria" pitchFamily="34" charset="-122"/>
                <a:cs typeface="Cambria" pitchFamily="34" charset="-120"/>
              </a:rPr>
              <a:t>Compound —  </a:t>
            </a:r>
            <a:r>
              <a:rPr lang="en-US" dirty="0">
                <a:solidFill>
                  <a:srgbClr val="14213D"/>
                </a:solidFill>
                <a:latin typeface="Garamond" pitchFamily="34" charset="0"/>
                <a:ea typeface="Garamond" pitchFamily="34" charset="-122"/>
                <a:cs typeface="Garamond" pitchFamily="34" charset="-120"/>
              </a:rPr>
              <a:t> two or more elements chemically combined in a fixed ratio, with new properties (e.g., water H</a:t>
            </a:r>
            <a:r>
              <a:rPr lang="en-US" baseline="-25000" dirty="0">
                <a:solidFill>
                  <a:srgbClr val="14213D"/>
                </a:solidFill>
                <a:latin typeface="Garamond" pitchFamily="34" charset="0"/>
                <a:ea typeface="Garamond" pitchFamily="34" charset="-122"/>
                <a:cs typeface="Garamond" pitchFamily="34" charset="-120"/>
              </a:rPr>
              <a:t>2</a:t>
            </a:r>
            <a:r>
              <a:rPr lang="en-US" dirty="0">
                <a:solidFill>
                  <a:srgbClr val="14213D"/>
                </a:solidFill>
                <a:latin typeface="Garamond" pitchFamily="34" charset="0"/>
                <a:ea typeface="Garamond" pitchFamily="34" charset="-122"/>
                <a:cs typeface="Garamond" pitchFamily="34" charset="-120"/>
              </a:rPr>
              <a:t>O, table salt NaCl)</a:t>
            </a:r>
            <a:endParaRPr lang="en-US" sz="2000" dirty="0"/>
          </a:p>
        </p:txBody>
      </p:sp>
      <p:sp>
        <p:nvSpPr>
          <p:cNvPr id="10" name="Shape 6"/>
          <p:cNvSpPr/>
          <p:nvPr/>
        </p:nvSpPr>
        <p:spPr>
          <a:xfrm>
            <a:off x="640080" y="4389120"/>
            <a:ext cx="457200" cy="457200"/>
          </a:xfrm>
          <a:prstGeom prst="ellipse">
            <a:avLst/>
          </a:prstGeom>
          <a:solidFill>
            <a:srgbClr val="C00000"/>
          </a:solidFill>
          <a:ln/>
        </p:spPr>
        <p:txBody>
          <a:bodyPr/>
          <a:lstStyle/>
          <a:p>
            <a:endParaRPr lang="en-US"/>
          </a:p>
        </p:txBody>
      </p:sp>
      <p:pic>
        <p:nvPicPr>
          <p:cNvPr id="11" name="Image 2" descr="icon_flask_white.png"/>
          <p:cNvPicPr>
            <a:picLocks noChangeAspect="1"/>
          </p:cNvPicPr>
          <p:nvPr/>
        </p:nvPicPr>
        <p:blipFill>
          <a:blip r:embed="rId5"/>
          <a:stretch>
            <a:fillRect/>
          </a:stretch>
        </p:blipFill>
        <p:spPr>
          <a:xfrm>
            <a:off x="736092" y="4485132"/>
            <a:ext cx="265176" cy="265176"/>
          </a:xfrm>
          <a:prstGeom prst="rect">
            <a:avLst/>
          </a:prstGeom>
        </p:spPr>
      </p:pic>
      <p:sp>
        <p:nvSpPr>
          <p:cNvPr id="12" name="Text 7"/>
          <p:cNvSpPr/>
          <p:nvPr/>
        </p:nvSpPr>
        <p:spPr>
          <a:xfrm>
            <a:off x="1298448" y="4334256"/>
            <a:ext cx="10222992" cy="777240"/>
          </a:xfrm>
          <a:prstGeom prst="rect">
            <a:avLst/>
          </a:prstGeom>
          <a:noFill/>
          <a:ln/>
        </p:spPr>
        <p:txBody>
          <a:bodyPr wrap="square" lIns="0" tIns="0" rIns="0" bIns="0" rtlCol="0" anchor="t"/>
          <a:lstStyle/>
          <a:p>
            <a:pPr marL="0" indent="0" algn="l">
              <a:lnSpc>
                <a:spcPct val="108000"/>
              </a:lnSpc>
              <a:buNone/>
            </a:pPr>
            <a:r>
              <a:rPr lang="en-US" sz="2000" b="1" dirty="0">
                <a:solidFill>
                  <a:srgbClr val="14213D"/>
                </a:solidFill>
                <a:latin typeface="Cambria" pitchFamily="34" charset="0"/>
                <a:ea typeface="Cambria" pitchFamily="34" charset="-122"/>
                <a:cs typeface="Cambria" pitchFamily="34" charset="-120"/>
              </a:rPr>
              <a:t>Mixture —  </a:t>
            </a:r>
            <a:r>
              <a:rPr lang="en-US" dirty="0">
                <a:solidFill>
                  <a:srgbClr val="14213D"/>
                </a:solidFill>
                <a:latin typeface="Garamond" pitchFamily="34" charset="0"/>
                <a:ea typeface="Garamond" pitchFamily="34" charset="-122"/>
                <a:cs typeface="Garamond" pitchFamily="34" charset="-120"/>
              </a:rPr>
              <a:t> two or more substances physically combined in a variable ratio; each keeps its own properties and can be separated by physical means</a:t>
            </a:r>
            <a:endParaRPr lang="en-US" sz="2000" dirty="0"/>
          </a:p>
        </p:txBody>
      </p:sp>
      <p:sp>
        <p:nvSpPr>
          <p:cNvPr id="13" name="Text 8"/>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14" name="Text 9"/>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Types of Mixtures: Homogeneous vs. Heterogeneous</a:t>
            </a:r>
            <a:endParaRPr lang="en-US" sz="3000" dirty="0"/>
          </a:p>
        </p:txBody>
      </p:sp>
      <p:sp>
        <p:nvSpPr>
          <p:cNvPr id="3" name="Shape 1"/>
          <p:cNvSpPr/>
          <p:nvPr/>
        </p:nvSpPr>
        <p:spPr>
          <a:xfrm>
            <a:off x="566928" y="1737360"/>
            <a:ext cx="5349240" cy="3794760"/>
          </a:xfrm>
          <a:prstGeom prst="roundRect">
            <a:avLst>
              <a:gd name="adj" fmla="val 2169"/>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4" name="Shape 2"/>
          <p:cNvSpPr/>
          <p:nvPr/>
        </p:nvSpPr>
        <p:spPr>
          <a:xfrm>
            <a:off x="804672" y="1975104"/>
            <a:ext cx="530352" cy="530352"/>
          </a:xfrm>
          <a:prstGeom prst="ellipse">
            <a:avLst/>
          </a:prstGeom>
          <a:solidFill>
            <a:srgbClr val="1C7293"/>
          </a:solidFill>
          <a:ln/>
        </p:spPr>
        <p:txBody>
          <a:bodyPr/>
          <a:lstStyle/>
          <a:p>
            <a:endParaRPr lang="en-US"/>
          </a:p>
        </p:txBody>
      </p:sp>
      <p:sp>
        <p:nvSpPr>
          <p:cNvPr id="6" name="Text 3"/>
          <p:cNvSpPr/>
          <p:nvPr/>
        </p:nvSpPr>
        <p:spPr>
          <a:xfrm>
            <a:off x="1499616" y="1938528"/>
            <a:ext cx="4215384" cy="603504"/>
          </a:xfrm>
          <a:prstGeom prst="rect">
            <a:avLst/>
          </a:prstGeom>
          <a:noFill/>
          <a:ln/>
        </p:spPr>
        <p:txBody>
          <a:bodyPr wrap="square" lIns="0" tIns="0" rIns="0" bIns="0" rtlCol="0" anchor="ctr"/>
          <a:lstStyle/>
          <a:p>
            <a:pPr marL="0" indent="0" algn="l">
              <a:buNone/>
            </a:pPr>
            <a:r>
              <a:rPr lang="en-US" sz="2000" b="1" dirty="0">
                <a:solidFill>
                  <a:srgbClr val="14213D"/>
                </a:solidFill>
                <a:latin typeface="Cambria" pitchFamily="34" charset="0"/>
                <a:ea typeface="Cambria" pitchFamily="34" charset="-122"/>
                <a:cs typeface="Cambria" pitchFamily="34" charset="-120"/>
              </a:rPr>
              <a:t>Homogeneous Mixture</a:t>
            </a:r>
            <a:endParaRPr lang="en-US" sz="2000" dirty="0"/>
          </a:p>
        </p:txBody>
      </p:sp>
      <p:sp>
        <p:nvSpPr>
          <p:cNvPr id="7" name="Text 4"/>
          <p:cNvSpPr/>
          <p:nvPr/>
        </p:nvSpPr>
        <p:spPr>
          <a:xfrm>
            <a:off x="804672" y="3054096"/>
            <a:ext cx="4873752" cy="2314738"/>
          </a:xfrm>
          <a:prstGeom prst="rect">
            <a:avLst/>
          </a:prstGeom>
          <a:noFill/>
          <a:ln/>
        </p:spPr>
        <p:txBody>
          <a:bodyPr wrap="square" lIns="0" tIns="0" rIns="0" bIns="0" rtlCol="0" anchor="t"/>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Uniform composition throughout — you can’t see individual components, even under a microscope. Also called a solution.</a:t>
            </a:r>
            <a:endParaRPr lang="en-US" dirty="0"/>
          </a:p>
          <a:p>
            <a:pPr marL="0" indent="0" algn="l">
              <a:lnSpc>
                <a:spcPct val="105000"/>
              </a:lnSpc>
              <a:buNone/>
            </a:pPr>
            <a:endParaRPr lang="en-US" dirty="0"/>
          </a:p>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Example: normal saline IV fluid; a cup of coffee with sugar dissolved or a glass of milk</a:t>
            </a:r>
            <a:endParaRPr lang="en-US" dirty="0"/>
          </a:p>
        </p:txBody>
      </p:sp>
      <p:sp>
        <p:nvSpPr>
          <p:cNvPr id="8" name="Shape 5"/>
          <p:cNvSpPr/>
          <p:nvPr/>
        </p:nvSpPr>
        <p:spPr>
          <a:xfrm>
            <a:off x="6236208" y="1737360"/>
            <a:ext cx="5349240" cy="3794760"/>
          </a:xfrm>
          <a:prstGeom prst="roundRect">
            <a:avLst>
              <a:gd name="adj" fmla="val 2169"/>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9" name="Shape 6"/>
          <p:cNvSpPr/>
          <p:nvPr/>
        </p:nvSpPr>
        <p:spPr>
          <a:xfrm>
            <a:off x="6473952" y="1975104"/>
            <a:ext cx="530352" cy="530352"/>
          </a:xfrm>
          <a:prstGeom prst="ellipse">
            <a:avLst/>
          </a:prstGeom>
          <a:gradFill>
            <a:gsLst>
              <a:gs pos="72000">
                <a:srgbClr val="FF0000"/>
              </a:gs>
              <a:gs pos="27000">
                <a:srgbClr val="00B050"/>
              </a:gs>
            </a:gsLst>
            <a:lin ang="6000000" scaled="0"/>
          </a:gradFill>
          <a:ln/>
        </p:spPr>
        <p:txBody>
          <a:bodyPr/>
          <a:lstStyle/>
          <a:p>
            <a:endParaRPr lang="en-US"/>
          </a:p>
        </p:txBody>
      </p:sp>
      <p:sp>
        <p:nvSpPr>
          <p:cNvPr id="11" name="Text 7"/>
          <p:cNvSpPr/>
          <p:nvPr/>
        </p:nvSpPr>
        <p:spPr>
          <a:xfrm>
            <a:off x="7168896" y="1938528"/>
            <a:ext cx="4215384" cy="603504"/>
          </a:xfrm>
          <a:prstGeom prst="rect">
            <a:avLst/>
          </a:prstGeom>
          <a:noFill/>
          <a:ln/>
        </p:spPr>
        <p:txBody>
          <a:bodyPr wrap="square" lIns="0" tIns="0" rIns="0" bIns="0" rtlCol="0" anchor="ctr"/>
          <a:lstStyle/>
          <a:p>
            <a:pPr marL="0" indent="0" algn="l">
              <a:buNone/>
            </a:pPr>
            <a:r>
              <a:rPr lang="en-US" sz="2000" b="1" dirty="0">
                <a:solidFill>
                  <a:srgbClr val="14213D"/>
                </a:solidFill>
                <a:latin typeface="Cambria" pitchFamily="34" charset="0"/>
                <a:ea typeface="Cambria" pitchFamily="34" charset="-122"/>
                <a:cs typeface="Cambria" pitchFamily="34" charset="-120"/>
              </a:rPr>
              <a:t>Heterogeneous Mixture</a:t>
            </a:r>
            <a:endParaRPr lang="en-US" sz="2000" dirty="0"/>
          </a:p>
        </p:txBody>
      </p:sp>
      <p:sp>
        <p:nvSpPr>
          <p:cNvPr id="12" name="Text 8"/>
          <p:cNvSpPr/>
          <p:nvPr/>
        </p:nvSpPr>
        <p:spPr>
          <a:xfrm>
            <a:off x="6473952" y="3054096"/>
            <a:ext cx="4873752" cy="2314738"/>
          </a:xfrm>
          <a:prstGeom prst="rect">
            <a:avLst/>
          </a:prstGeom>
          <a:noFill/>
          <a:ln/>
        </p:spPr>
        <p:txBody>
          <a:bodyPr wrap="square" lIns="0" tIns="0" rIns="0" bIns="0" rtlCol="0" anchor="t"/>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Non-uniform composition — individual components remain visibly distinct, or settle out over time.</a:t>
            </a:r>
            <a:endParaRPr lang="en-US" dirty="0"/>
          </a:p>
          <a:p>
            <a:pPr marL="0" indent="0" algn="l">
              <a:lnSpc>
                <a:spcPct val="105000"/>
              </a:lnSpc>
              <a:buNone/>
            </a:pPr>
            <a:endParaRPr lang="en-US" dirty="0"/>
          </a:p>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Examples: whole blood (cells suspended in plasma); a suspension medication that must be shaken before use.</a:t>
            </a:r>
          </a:p>
          <a:p>
            <a:pPr marL="0" indent="0" algn="l">
              <a:lnSpc>
                <a:spcPct val="105000"/>
              </a:lnSpc>
              <a:buNone/>
            </a:pPr>
            <a:r>
              <a:rPr lang="en-US" dirty="0">
                <a:solidFill>
                  <a:srgbClr val="14213D"/>
                </a:solidFill>
                <a:latin typeface="Garamond" pitchFamily="34" charset="0"/>
              </a:rPr>
              <a:t>Also think about ice cream flavors or oatmeal raisin cookies where each scoop or bite is different. </a:t>
            </a:r>
            <a:endParaRPr lang="en-US" dirty="0"/>
          </a:p>
        </p:txBody>
      </p:sp>
      <p:sp>
        <p:nvSpPr>
          <p:cNvPr id="13" name="Text 9"/>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14" name="Text 10"/>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Separating Mixtures</a:t>
            </a:r>
            <a:endParaRPr lang="en-US" sz="3000" dirty="0"/>
          </a:p>
        </p:txBody>
      </p:sp>
      <p:sp>
        <p:nvSpPr>
          <p:cNvPr id="3" name="Text 1"/>
          <p:cNvSpPr/>
          <p:nvPr/>
        </p:nvSpPr>
        <p:spPr>
          <a:xfrm>
            <a:off x="457200" y="960120"/>
            <a:ext cx="11274552" cy="457200"/>
          </a:xfrm>
          <a:prstGeom prst="rect">
            <a:avLst/>
          </a:prstGeom>
          <a:noFill/>
          <a:ln/>
        </p:spPr>
        <p:txBody>
          <a:bodyPr wrap="square" lIns="0" tIns="0" rIns="0" bIns="0" rtlCol="0" anchor="ctr"/>
          <a:lstStyle/>
          <a:p>
            <a:pPr marL="0" indent="0" algn="l">
              <a:buNone/>
            </a:pPr>
            <a:r>
              <a:rPr lang="en-US" dirty="0">
                <a:solidFill>
                  <a:srgbClr val="5B6B7A"/>
                </a:solidFill>
                <a:latin typeface="Garamond" pitchFamily="34" charset="0"/>
                <a:ea typeface="Garamond" pitchFamily="34" charset="-122"/>
                <a:cs typeface="Garamond" pitchFamily="34" charset="-120"/>
              </a:rPr>
              <a:t>Because a mixture’s components keep their own properties, they can be separated by physical methods</a:t>
            </a:r>
            <a:endParaRPr lang="en-US" dirty="0"/>
          </a:p>
        </p:txBody>
      </p:sp>
      <p:sp>
        <p:nvSpPr>
          <p:cNvPr id="4" name="Shape 2"/>
          <p:cNvSpPr/>
          <p:nvPr/>
        </p:nvSpPr>
        <p:spPr>
          <a:xfrm>
            <a:off x="548640" y="1965960"/>
            <a:ext cx="3520440" cy="2743200"/>
          </a:xfrm>
          <a:prstGeom prst="roundRect">
            <a:avLst>
              <a:gd name="adj" fmla="val 3000"/>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5" name="Shape 3"/>
          <p:cNvSpPr/>
          <p:nvPr/>
        </p:nvSpPr>
        <p:spPr>
          <a:xfrm>
            <a:off x="786384" y="2203704"/>
            <a:ext cx="530352" cy="530352"/>
          </a:xfrm>
          <a:prstGeom prst="ellipse">
            <a:avLst/>
          </a:prstGeom>
          <a:solidFill>
            <a:srgbClr val="C00000"/>
          </a:solidFill>
          <a:ln/>
        </p:spPr>
        <p:txBody>
          <a:bodyPr/>
          <a:lstStyle/>
          <a:p>
            <a:endParaRPr lang="en-US"/>
          </a:p>
        </p:txBody>
      </p:sp>
      <p:pic>
        <p:nvPicPr>
          <p:cNvPr id="6" name="Image 0" descr="icon_filter_white.png"/>
          <p:cNvPicPr>
            <a:picLocks noChangeAspect="1"/>
          </p:cNvPicPr>
          <p:nvPr/>
        </p:nvPicPr>
        <p:blipFill>
          <a:blip r:embed="rId3"/>
          <a:stretch>
            <a:fillRect/>
          </a:stretch>
        </p:blipFill>
        <p:spPr>
          <a:xfrm>
            <a:off x="903061" y="2320381"/>
            <a:ext cx="296997" cy="296997"/>
          </a:xfrm>
          <a:prstGeom prst="rect">
            <a:avLst/>
          </a:prstGeom>
        </p:spPr>
      </p:pic>
      <p:sp>
        <p:nvSpPr>
          <p:cNvPr id="7" name="Text 4"/>
          <p:cNvSpPr/>
          <p:nvPr/>
        </p:nvSpPr>
        <p:spPr>
          <a:xfrm>
            <a:off x="1481328" y="2167128"/>
            <a:ext cx="2386584" cy="603504"/>
          </a:xfrm>
          <a:prstGeom prst="rect">
            <a:avLst/>
          </a:prstGeom>
          <a:noFill/>
          <a:ln/>
        </p:spPr>
        <p:txBody>
          <a:bodyPr wrap="square" lIns="0" tIns="0" rIns="0" bIns="0" rtlCol="0" anchor="ctr"/>
          <a:lstStyle/>
          <a:p>
            <a:pPr marL="0" indent="0" algn="l">
              <a:buNone/>
            </a:pPr>
            <a:r>
              <a:rPr lang="en-US" sz="2000" b="1" dirty="0">
                <a:solidFill>
                  <a:srgbClr val="14213D"/>
                </a:solidFill>
                <a:latin typeface="Cambria" pitchFamily="34" charset="0"/>
                <a:ea typeface="Cambria" pitchFamily="34" charset="-122"/>
                <a:cs typeface="Cambria" pitchFamily="34" charset="-120"/>
              </a:rPr>
              <a:t>Filtration</a:t>
            </a:r>
            <a:endParaRPr lang="en-US" sz="2000" dirty="0"/>
          </a:p>
        </p:txBody>
      </p:sp>
      <p:sp>
        <p:nvSpPr>
          <p:cNvPr id="8" name="Text 5"/>
          <p:cNvSpPr/>
          <p:nvPr/>
        </p:nvSpPr>
        <p:spPr>
          <a:xfrm>
            <a:off x="786384" y="2862072"/>
            <a:ext cx="3044952" cy="1664208"/>
          </a:xfrm>
          <a:prstGeom prst="rect">
            <a:avLst/>
          </a:prstGeom>
          <a:noFill/>
          <a:ln/>
        </p:spPr>
        <p:txBody>
          <a:bodyPr wrap="square" lIns="0" tIns="0" rIns="0" bIns="0" rtlCol="0" anchor="t"/>
          <a:lstStyle/>
          <a:p>
            <a:pPr marL="0" indent="0" algn="just">
              <a:lnSpc>
                <a:spcPct val="105000"/>
              </a:lnSpc>
              <a:buNone/>
            </a:pPr>
            <a:r>
              <a:rPr lang="en-US" dirty="0">
                <a:solidFill>
                  <a:srgbClr val="14213D"/>
                </a:solidFill>
                <a:latin typeface="Garamond" pitchFamily="34" charset="0"/>
                <a:ea typeface="Garamond" pitchFamily="34" charset="-122"/>
                <a:cs typeface="Garamond" pitchFamily="34" charset="-120"/>
              </a:rPr>
              <a:t>Passes a mixture through a barrier that traps larger particles while liquid or gas passes through. Clinical parallel: kidney dialysis filters waste from blood.</a:t>
            </a:r>
            <a:endParaRPr lang="en-US" dirty="0"/>
          </a:p>
        </p:txBody>
      </p:sp>
      <p:sp>
        <p:nvSpPr>
          <p:cNvPr id="9" name="Shape 6"/>
          <p:cNvSpPr/>
          <p:nvPr/>
        </p:nvSpPr>
        <p:spPr>
          <a:xfrm>
            <a:off x="4361688" y="1965960"/>
            <a:ext cx="3520440" cy="2743200"/>
          </a:xfrm>
          <a:prstGeom prst="roundRect">
            <a:avLst>
              <a:gd name="adj" fmla="val 3000"/>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10" name="Shape 7"/>
          <p:cNvSpPr/>
          <p:nvPr/>
        </p:nvSpPr>
        <p:spPr>
          <a:xfrm>
            <a:off x="4599432" y="2203704"/>
            <a:ext cx="530352" cy="530352"/>
          </a:xfrm>
          <a:prstGeom prst="ellipse">
            <a:avLst/>
          </a:prstGeom>
          <a:solidFill>
            <a:srgbClr val="F4A100"/>
          </a:solidFill>
          <a:ln/>
        </p:spPr>
        <p:txBody>
          <a:bodyPr/>
          <a:lstStyle/>
          <a:p>
            <a:endParaRPr lang="en-US"/>
          </a:p>
        </p:txBody>
      </p:sp>
      <p:pic>
        <p:nvPicPr>
          <p:cNvPr id="11" name="Image 1" descr="icon_flask_white.png"/>
          <p:cNvPicPr>
            <a:picLocks noChangeAspect="1"/>
          </p:cNvPicPr>
          <p:nvPr/>
        </p:nvPicPr>
        <p:blipFill>
          <a:blip r:embed="rId4"/>
          <a:stretch>
            <a:fillRect/>
          </a:stretch>
        </p:blipFill>
        <p:spPr>
          <a:xfrm>
            <a:off x="4716109" y="2320381"/>
            <a:ext cx="296997" cy="296997"/>
          </a:xfrm>
          <a:prstGeom prst="rect">
            <a:avLst/>
          </a:prstGeom>
        </p:spPr>
      </p:pic>
      <p:sp>
        <p:nvSpPr>
          <p:cNvPr id="12" name="Text 8"/>
          <p:cNvSpPr/>
          <p:nvPr/>
        </p:nvSpPr>
        <p:spPr>
          <a:xfrm>
            <a:off x="5294376" y="2167128"/>
            <a:ext cx="2386584" cy="603504"/>
          </a:xfrm>
          <a:prstGeom prst="rect">
            <a:avLst/>
          </a:prstGeom>
          <a:noFill/>
          <a:ln/>
        </p:spPr>
        <p:txBody>
          <a:bodyPr wrap="square" lIns="0" tIns="0" rIns="0" bIns="0" rtlCol="0" anchor="ctr"/>
          <a:lstStyle/>
          <a:p>
            <a:pPr marL="0" indent="0" algn="l">
              <a:buNone/>
            </a:pPr>
            <a:r>
              <a:rPr lang="en-US" sz="2000" b="1" dirty="0">
                <a:solidFill>
                  <a:srgbClr val="14213D"/>
                </a:solidFill>
                <a:latin typeface="Cambria" pitchFamily="34" charset="0"/>
                <a:ea typeface="Cambria" pitchFamily="34" charset="-122"/>
                <a:cs typeface="Cambria" pitchFamily="34" charset="-120"/>
              </a:rPr>
              <a:t>Distillation</a:t>
            </a:r>
            <a:endParaRPr lang="en-US" sz="2000" dirty="0"/>
          </a:p>
        </p:txBody>
      </p:sp>
      <p:sp>
        <p:nvSpPr>
          <p:cNvPr id="13" name="Text 9"/>
          <p:cNvSpPr/>
          <p:nvPr/>
        </p:nvSpPr>
        <p:spPr>
          <a:xfrm>
            <a:off x="4599432" y="2862072"/>
            <a:ext cx="3044952" cy="1664208"/>
          </a:xfrm>
          <a:prstGeom prst="rect">
            <a:avLst/>
          </a:prstGeom>
          <a:noFill/>
          <a:ln/>
        </p:spPr>
        <p:txBody>
          <a:bodyPr wrap="square" lIns="0" tIns="0" rIns="0" bIns="0" rtlCol="0" anchor="t"/>
          <a:lstStyle/>
          <a:p>
            <a:pPr marL="0" indent="0" algn="just">
              <a:lnSpc>
                <a:spcPct val="105000"/>
              </a:lnSpc>
              <a:buNone/>
            </a:pPr>
            <a:r>
              <a:rPr lang="en-US" dirty="0">
                <a:solidFill>
                  <a:srgbClr val="14213D"/>
                </a:solidFill>
                <a:latin typeface="Garamond" pitchFamily="34" charset="0"/>
                <a:ea typeface="Garamond" pitchFamily="34" charset="-122"/>
                <a:cs typeface="Garamond" pitchFamily="34" charset="-120"/>
              </a:rPr>
              <a:t>Heats a mixture so one component vaporizes and is collected separately, then condensed back to a liquid. Used to purify water and separate alcohol for spirits.</a:t>
            </a:r>
            <a:endParaRPr lang="en-US" dirty="0"/>
          </a:p>
        </p:txBody>
      </p:sp>
      <p:sp>
        <p:nvSpPr>
          <p:cNvPr id="14" name="Shape 10"/>
          <p:cNvSpPr/>
          <p:nvPr/>
        </p:nvSpPr>
        <p:spPr>
          <a:xfrm>
            <a:off x="8174736" y="1965960"/>
            <a:ext cx="3520440" cy="2743200"/>
          </a:xfrm>
          <a:prstGeom prst="roundRect">
            <a:avLst>
              <a:gd name="adj" fmla="val 3000"/>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15" name="Shape 11"/>
          <p:cNvSpPr/>
          <p:nvPr/>
        </p:nvSpPr>
        <p:spPr>
          <a:xfrm>
            <a:off x="8412480" y="2203704"/>
            <a:ext cx="530352" cy="530352"/>
          </a:xfrm>
          <a:prstGeom prst="ellipse">
            <a:avLst/>
          </a:prstGeom>
          <a:solidFill>
            <a:srgbClr val="14213D"/>
          </a:solidFill>
          <a:ln/>
        </p:spPr>
        <p:txBody>
          <a:bodyPr/>
          <a:lstStyle/>
          <a:p>
            <a:endParaRPr lang="en-US"/>
          </a:p>
        </p:txBody>
      </p:sp>
      <p:pic>
        <p:nvPicPr>
          <p:cNvPr id="16" name="Image 2" descr="icon_palette_white.png"/>
          <p:cNvPicPr>
            <a:picLocks noChangeAspect="1"/>
          </p:cNvPicPr>
          <p:nvPr/>
        </p:nvPicPr>
        <p:blipFill>
          <a:blip r:embed="rId5"/>
          <a:stretch>
            <a:fillRect/>
          </a:stretch>
        </p:blipFill>
        <p:spPr>
          <a:xfrm>
            <a:off x="8529157" y="2320381"/>
            <a:ext cx="296997" cy="296997"/>
          </a:xfrm>
          <a:prstGeom prst="rect">
            <a:avLst/>
          </a:prstGeom>
        </p:spPr>
      </p:pic>
      <p:sp>
        <p:nvSpPr>
          <p:cNvPr id="17" name="Text 12"/>
          <p:cNvSpPr/>
          <p:nvPr/>
        </p:nvSpPr>
        <p:spPr>
          <a:xfrm>
            <a:off x="9107424" y="2167128"/>
            <a:ext cx="2386584" cy="603504"/>
          </a:xfrm>
          <a:prstGeom prst="rect">
            <a:avLst/>
          </a:prstGeom>
          <a:noFill/>
          <a:ln/>
        </p:spPr>
        <p:txBody>
          <a:bodyPr wrap="square" lIns="0" tIns="0" rIns="0" bIns="0" rtlCol="0" anchor="ctr"/>
          <a:lstStyle/>
          <a:p>
            <a:pPr marL="0" indent="0" algn="l">
              <a:buNone/>
            </a:pPr>
            <a:r>
              <a:rPr lang="en-US" sz="2000" b="1" dirty="0">
                <a:solidFill>
                  <a:srgbClr val="14213D"/>
                </a:solidFill>
                <a:latin typeface="Cambria" pitchFamily="34" charset="0"/>
                <a:ea typeface="Cambria" pitchFamily="34" charset="-122"/>
                <a:cs typeface="Cambria" pitchFamily="34" charset="-120"/>
              </a:rPr>
              <a:t>Chromatography</a:t>
            </a:r>
            <a:endParaRPr lang="en-US" sz="2000" dirty="0"/>
          </a:p>
        </p:txBody>
      </p:sp>
      <p:sp>
        <p:nvSpPr>
          <p:cNvPr id="18" name="Text 13"/>
          <p:cNvSpPr/>
          <p:nvPr/>
        </p:nvSpPr>
        <p:spPr>
          <a:xfrm>
            <a:off x="8412480" y="2862072"/>
            <a:ext cx="3044952" cy="1664208"/>
          </a:xfrm>
          <a:prstGeom prst="rect">
            <a:avLst/>
          </a:prstGeom>
          <a:noFill/>
          <a:ln/>
        </p:spPr>
        <p:txBody>
          <a:bodyPr wrap="square" lIns="0" tIns="0" rIns="0" bIns="0" rtlCol="0" anchor="t"/>
          <a:lstStyle/>
          <a:p>
            <a:pPr marL="0" indent="0" algn="just">
              <a:lnSpc>
                <a:spcPct val="105000"/>
              </a:lnSpc>
              <a:buNone/>
            </a:pPr>
            <a:r>
              <a:rPr lang="en-US" dirty="0">
                <a:solidFill>
                  <a:srgbClr val="14213D"/>
                </a:solidFill>
                <a:latin typeface="Garamond" pitchFamily="34" charset="0"/>
                <a:ea typeface="Garamond" pitchFamily="34" charset="-122"/>
                <a:cs typeface="Garamond" pitchFamily="34" charset="-120"/>
              </a:rPr>
              <a:t>Separates a mixture as its components travel at different speeds through a medium. Used in labs to identify drugs and toxins in a sample.</a:t>
            </a:r>
            <a:endParaRPr lang="en-US" dirty="0"/>
          </a:p>
        </p:txBody>
      </p:sp>
      <p:sp>
        <p:nvSpPr>
          <p:cNvPr id="19" name="Text 14"/>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20" name="Text 15"/>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11</a:t>
            </a:r>
            <a:endParaRPr lang="en-US" sz="1000" dirty="0"/>
          </a:p>
        </p:txBody>
      </p:sp>
      <p:sp>
        <p:nvSpPr>
          <p:cNvPr id="21" name="Shape 2">
            <a:extLst>
              <a:ext uri="{FF2B5EF4-FFF2-40B4-BE49-F238E27FC236}">
                <a16:creationId xmlns:a16="http://schemas.microsoft.com/office/drawing/2014/main" id="{49B1AD8C-A161-BE1A-A64D-361BA3E83EE4}"/>
              </a:ext>
            </a:extLst>
          </p:cNvPr>
          <p:cNvSpPr/>
          <p:nvPr/>
        </p:nvSpPr>
        <p:spPr>
          <a:xfrm>
            <a:off x="1808988" y="4946903"/>
            <a:ext cx="8625840" cy="1344169"/>
          </a:xfrm>
          <a:prstGeom prst="roundRect">
            <a:avLst>
              <a:gd name="adj" fmla="val 3000"/>
            </a:avLst>
          </a:prstGeom>
          <a:solidFill>
            <a:srgbClr val="F1F6F8"/>
          </a:solidFill>
          <a:ln/>
          <a:effectLst>
            <a:outerShdw blurRad="76200" dist="25400" dir="5400000" algn="bl" rotWithShape="0">
              <a:srgbClr val="000000">
                <a:alpha val="12000"/>
              </a:srgbClr>
            </a:outerShdw>
          </a:effectLst>
        </p:spPr>
        <p:txBody>
          <a:bodyPr anchor="ctr"/>
          <a:lstStyle/>
          <a:p>
            <a:pPr algn="ctr"/>
            <a:r>
              <a:rPr lang="en-US" dirty="0">
                <a:latin typeface="Garamond" panose="02020404030301010803" pitchFamily="18" charset="0"/>
              </a:rPr>
              <a:t>All these technique take advantage of either physical or chemical differences between the substances in a mixture that we want to separate.</a:t>
            </a:r>
          </a:p>
          <a:p>
            <a:pPr algn="ctr"/>
            <a:endParaRPr lang="en-US" dirty="0">
              <a:latin typeface="Garamond" panose="02020404030301010803" pitchFamily="18" charset="0"/>
            </a:endParaRPr>
          </a:p>
          <a:p>
            <a:pPr algn="ctr"/>
            <a:r>
              <a:rPr lang="en-US" dirty="0">
                <a:latin typeface="Garamond" panose="02020404030301010803" pitchFamily="18" charset="0"/>
              </a:rPr>
              <a:t>This includes </a:t>
            </a:r>
            <a:r>
              <a:rPr lang="en-US" u="sng" dirty="0">
                <a:latin typeface="Garamond" panose="02020404030301010803" pitchFamily="18" charset="0"/>
              </a:rPr>
              <a:t>particle size, phase, boiling points, and chemical reactivity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5367528" y="2148840"/>
            <a:ext cx="1463040" cy="1463040"/>
          </a:xfrm>
          <a:prstGeom prst="ellipse">
            <a:avLst/>
          </a:prstGeom>
          <a:solidFill>
            <a:srgbClr val="C00000"/>
          </a:solidFill>
          <a:ln/>
        </p:spPr>
        <p:txBody>
          <a:bodyPr/>
          <a:lstStyle/>
          <a:p>
            <a:endParaRPr lang="en-US"/>
          </a:p>
        </p:txBody>
      </p:sp>
      <p:pic>
        <p:nvPicPr>
          <p:cNvPr id="3" name="Image 0" descr="icon_exchange_white.png"/>
          <p:cNvPicPr>
            <a:picLocks noChangeAspect="1"/>
          </p:cNvPicPr>
          <p:nvPr/>
        </p:nvPicPr>
        <p:blipFill>
          <a:blip r:embed="rId3"/>
          <a:stretch>
            <a:fillRect/>
          </a:stretch>
        </p:blipFill>
        <p:spPr>
          <a:xfrm>
            <a:off x="5696712" y="2478024"/>
            <a:ext cx="804672" cy="804672"/>
          </a:xfrm>
          <a:prstGeom prst="rect">
            <a:avLst/>
          </a:prstGeom>
        </p:spPr>
      </p:pic>
      <p:sp>
        <p:nvSpPr>
          <p:cNvPr id="4" name="Text 1"/>
          <p:cNvSpPr/>
          <p:nvPr/>
        </p:nvSpPr>
        <p:spPr>
          <a:xfrm>
            <a:off x="822960" y="3840480"/>
            <a:ext cx="10543032" cy="8229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Changes in Matter</a:t>
            </a:r>
            <a:endParaRPr lang="en-US" sz="3600" dirty="0"/>
          </a:p>
        </p:txBody>
      </p:sp>
      <p:sp>
        <p:nvSpPr>
          <p:cNvPr id="5" name="Text 2"/>
          <p:cNvSpPr/>
          <p:nvPr/>
        </p:nvSpPr>
        <p:spPr>
          <a:xfrm>
            <a:off x="822960" y="4617720"/>
            <a:ext cx="10543032" cy="457200"/>
          </a:xfrm>
          <a:prstGeom prst="rect">
            <a:avLst/>
          </a:prstGeom>
          <a:noFill/>
          <a:ln/>
        </p:spPr>
        <p:txBody>
          <a:bodyPr wrap="square" lIns="0" tIns="0" rIns="0" bIns="0" rtlCol="0" anchor="ctr"/>
          <a:lstStyle/>
          <a:p>
            <a:pPr marL="0" indent="0" algn="ctr">
              <a:buNone/>
            </a:pPr>
            <a:r>
              <a:rPr lang="en-US" dirty="0">
                <a:solidFill>
                  <a:srgbClr val="CFE3EA"/>
                </a:solidFill>
                <a:latin typeface="Garamond" pitchFamily="34" charset="0"/>
                <a:ea typeface="Garamond" pitchFamily="34" charset="-122"/>
                <a:cs typeface="Garamond" pitchFamily="34" charset="-120"/>
              </a:rPr>
              <a:t>Physical vs. chemical change — and what stays the same either way</a:t>
            </a:r>
            <a:endParaRPr lang="en-US" dirty="0"/>
          </a:p>
        </p:txBody>
      </p:sp>
      <p:sp>
        <p:nvSpPr>
          <p:cNvPr id="6" name="Text 3"/>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A9B7C9"/>
                </a:solidFill>
                <a:latin typeface="Garamond" pitchFamily="34" charset="0"/>
                <a:ea typeface="Garamond" pitchFamily="34" charset="-122"/>
                <a:cs typeface="Garamond" pitchFamily="34" charset="-120"/>
              </a:rPr>
              <a:t>CHEM 101 · Topic 3: Matter and Energy</a:t>
            </a:r>
            <a:endParaRPr lang="en-US" sz="1000" dirty="0"/>
          </a:p>
        </p:txBody>
      </p:sp>
      <p:sp>
        <p:nvSpPr>
          <p:cNvPr id="7" name="Text 4"/>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A9B7C9"/>
                </a:solidFill>
                <a:latin typeface="Garamond" pitchFamily="34" charset="0"/>
                <a:ea typeface="Garamond" pitchFamily="34" charset="-122"/>
                <a:cs typeface="Garamond"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lIns="0" tIns="0" rIns="0" bIns="0" rtlCol="0" anchor="ctr"/>
          <a:lstStyle/>
          <a:p>
            <a:pPr marL="0" indent="0" algn="ctr">
              <a:buNone/>
            </a:pPr>
            <a:r>
              <a:rPr lang="en-US" sz="3000" b="1" dirty="0">
                <a:solidFill>
                  <a:srgbClr val="14213D"/>
                </a:solidFill>
                <a:latin typeface="Cambria" pitchFamily="34" charset="0"/>
                <a:ea typeface="Cambria" pitchFamily="34" charset="-122"/>
                <a:cs typeface="Cambria" pitchFamily="34" charset="-120"/>
              </a:rPr>
              <a:t>Physical vs. Chemical Changes of Matter</a:t>
            </a:r>
            <a:endParaRPr lang="en-US" sz="3000" dirty="0"/>
          </a:p>
        </p:txBody>
      </p:sp>
      <p:sp>
        <p:nvSpPr>
          <p:cNvPr id="3" name="Shape 1"/>
          <p:cNvSpPr/>
          <p:nvPr/>
        </p:nvSpPr>
        <p:spPr>
          <a:xfrm>
            <a:off x="566928" y="1600199"/>
            <a:ext cx="5349240" cy="4552405"/>
          </a:xfrm>
          <a:prstGeom prst="roundRect">
            <a:avLst>
              <a:gd name="adj" fmla="val 2000"/>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4" name="Shape 2"/>
          <p:cNvSpPr/>
          <p:nvPr/>
        </p:nvSpPr>
        <p:spPr>
          <a:xfrm>
            <a:off x="804672" y="1837944"/>
            <a:ext cx="530352" cy="530352"/>
          </a:xfrm>
          <a:prstGeom prst="ellipse">
            <a:avLst/>
          </a:prstGeom>
          <a:solidFill>
            <a:srgbClr val="C00000"/>
          </a:solidFill>
          <a:ln/>
        </p:spPr>
        <p:txBody>
          <a:bodyPr/>
          <a:lstStyle/>
          <a:p>
            <a:endParaRPr lang="en-US"/>
          </a:p>
        </p:txBody>
      </p:sp>
      <p:pic>
        <p:nvPicPr>
          <p:cNvPr id="5" name="Image 0" descr="icon_cut_white.png"/>
          <p:cNvPicPr>
            <a:picLocks noChangeAspect="1"/>
          </p:cNvPicPr>
          <p:nvPr/>
        </p:nvPicPr>
        <p:blipFill>
          <a:blip r:embed="rId3"/>
          <a:stretch>
            <a:fillRect/>
          </a:stretch>
        </p:blipFill>
        <p:spPr>
          <a:xfrm>
            <a:off x="921349" y="1954621"/>
            <a:ext cx="296997" cy="296997"/>
          </a:xfrm>
          <a:prstGeom prst="rect">
            <a:avLst/>
          </a:prstGeom>
        </p:spPr>
      </p:pic>
      <p:sp>
        <p:nvSpPr>
          <p:cNvPr id="6" name="Text 3"/>
          <p:cNvSpPr/>
          <p:nvPr/>
        </p:nvSpPr>
        <p:spPr>
          <a:xfrm>
            <a:off x="1499616" y="1801368"/>
            <a:ext cx="4215384" cy="603504"/>
          </a:xfrm>
          <a:prstGeom prst="rect">
            <a:avLst/>
          </a:prstGeom>
          <a:noFill/>
          <a:ln/>
        </p:spPr>
        <p:txBody>
          <a:bodyPr wrap="square" lIns="0" tIns="0" rIns="0" bIns="0" rtlCol="0" anchor="ctr"/>
          <a:lstStyle/>
          <a:p>
            <a:pPr marL="0" indent="0" algn="l">
              <a:buNone/>
            </a:pPr>
            <a:r>
              <a:rPr lang="en-US" sz="2400" b="1" dirty="0">
                <a:solidFill>
                  <a:srgbClr val="14213D"/>
                </a:solidFill>
                <a:latin typeface="Cambria" pitchFamily="34" charset="0"/>
                <a:ea typeface="Cambria" pitchFamily="34" charset="-122"/>
                <a:cs typeface="Cambria" pitchFamily="34" charset="-120"/>
              </a:rPr>
              <a:t>Physical Change</a:t>
            </a:r>
            <a:endParaRPr lang="en-US" sz="2400" dirty="0"/>
          </a:p>
        </p:txBody>
      </p:sp>
      <p:sp>
        <p:nvSpPr>
          <p:cNvPr id="7" name="Text 4"/>
          <p:cNvSpPr/>
          <p:nvPr/>
        </p:nvSpPr>
        <p:spPr>
          <a:xfrm>
            <a:off x="685799" y="2535918"/>
            <a:ext cx="5111497" cy="3035808"/>
          </a:xfrm>
          <a:prstGeom prst="rect">
            <a:avLst/>
          </a:prstGeom>
          <a:noFill/>
          <a:ln/>
        </p:spPr>
        <p:txBody>
          <a:bodyPr wrap="square" lIns="0" tIns="0" rIns="0" bIns="0" rtlCol="0" anchor="t"/>
          <a:lstStyle/>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Alters a substance’s form or appearance, but not its composition. </a:t>
            </a:r>
          </a:p>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It’s usually easy to reverse.</a:t>
            </a:r>
            <a:endParaRPr lang="en-US" sz="2000" dirty="0"/>
          </a:p>
          <a:p>
            <a:pPr marL="0" indent="0" algn="l">
              <a:lnSpc>
                <a:spcPct val="105000"/>
              </a:lnSpc>
              <a:buNone/>
            </a:pPr>
            <a:endParaRPr lang="en-US" sz="2000" dirty="0"/>
          </a:p>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Examples:</a:t>
            </a:r>
            <a:endParaRPr lang="en-US" sz="2000" dirty="0"/>
          </a:p>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 Ice melting into water (solid – liquid)</a:t>
            </a:r>
            <a:endParaRPr lang="en-US" sz="2000" dirty="0"/>
          </a:p>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 Cutting or crushing a tablet (only size change)</a:t>
            </a:r>
            <a:endParaRPr lang="en-US" sz="2000" dirty="0"/>
          </a:p>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 Dissolving salt in water (solid/liquid → solution)</a:t>
            </a:r>
            <a:endParaRPr lang="en-US" sz="2000" dirty="0"/>
          </a:p>
        </p:txBody>
      </p:sp>
      <p:sp>
        <p:nvSpPr>
          <p:cNvPr id="8" name="Shape 5"/>
          <p:cNvSpPr/>
          <p:nvPr/>
        </p:nvSpPr>
        <p:spPr>
          <a:xfrm>
            <a:off x="6236208" y="1600200"/>
            <a:ext cx="5349240" cy="4552406"/>
          </a:xfrm>
          <a:prstGeom prst="roundRect">
            <a:avLst>
              <a:gd name="adj" fmla="val 2000"/>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9" name="Shape 6"/>
          <p:cNvSpPr/>
          <p:nvPr/>
        </p:nvSpPr>
        <p:spPr>
          <a:xfrm>
            <a:off x="6473952" y="1837944"/>
            <a:ext cx="530352" cy="530352"/>
          </a:xfrm>
          <a:prstGeom prst="ellipse">
            <a:avLst/>
          </a:prstGeom>
          <a:solidFill>
            <a:srgbClr val="F4A100"/>
          </a:solidFill>
          <a:ln/>
        </p:spPr>
        <p:txBody>
          <a:bodyPr/>
          <a:lstStyle/>
          <a:p>
            <a:endParaRPr lang="en-US"/>
          </a:p>
        </p:txBody>
      </p:sp>
      <p:pic>
        <p:nvPicPr>
          <p:cNvPr id="10" name="Image 1" descr="icon_fire_white.png"/>
          <p:cNvPicPr>
            <a:picLocks noChangeAspect="1"/>
          </p:cNvPicPr>
          <p:nvPr/>
        </p:nvPicPr>
        <p:blipFill>
          <a:blip r:embed="rId4"/>
          <a:stretch>
            <a:fillRect/>
          </a:stretch>
        </p:blipFill>
        <p:spPr>
          <a:xfrm>
            <a:off x="6590629" y="1954621"/>
            <a:ext cx="296997" cy="296997"/>
          </a:xfrm>
          <a:prstGeom prst="rect">
            <a:avLst/>
          </a:prstGeom>
        </p:spPr>
      </p:pic>
      <p:sp>
        <p:nvSpPr>
          <p:cNvPr id="11" name="Text 7"/>
          <p:cNvSpPr/>
          <p:nvPr/>
        </p:nvSpPr>
        <p:spPr>
          <a:xfrm>
            <a:off x="7168896" y="1801368"/>
            <a:ext cx="4215384" cy="603504"/>
          </a:xfrm>
          <a:prstGeom prst="rect">
            <a:avLst/>
          </a:prstGeom>
          <a:noFill/>
          <a:ln/>
        </p:spPr>
        <p:txBody>
          <a:bodyPr wrap="square" lIns="0" tIns="0" rIns="0" bIns="0" rtlCol="0" anchor="ctr"/>
          <a:lstStyle/>
          <a:p>
            <a:pPr marL="0" indent="0" algn="l">
              <a:buNone/>
            </a:pPr>
            <a:r>
              <a:rPr lang="en-US" sz="2400" b="1" dirty="0">
                <a:solidFill>
                  <a:srgbClr val="14213D"/>
                </a:solidFill>
                <a:latin typeface="Cambria" pitchFamily="34" charset="0"/>
                <a:ea typeface="Cambria" pitchFamily="34" charset="-122"/>
                <a:cs typeface="Cambria" pitchFamily="34" charset="-120"/>
              </a:rPr>
              <a:t>Chemical Change</a:t>
            </a:r>
            <a:endParaRPr lang="en-US" sz="2400" dirty="0"/>
          </a:p>
        </p:txBody>
      </p:sp>
      <p:sp>
        <p:nvSpPr>
          <p:cNvPr id="12" name="Text 8"/>
          <p:cNvSpPr/>
          <p:nvPr/>
        </p:nvSpPr>
        <p:spPr>
          <a:xfrm>
            <a:off x="6473952" y="2496312"/>
            <a:ext cx="4910328" cy="3035808"/>
          </a:xfrm>
          <a:prstGeom prst="rect">
            <a:avLst/>
          </a:prstGeom>
          <a:noFill/>
          <a:ln/>
        </p:spPr>
        <p:txBody>
          <a:bodyPr wrap="square" lIns="0" tIns="0" rIns="0" bIns="0" rtlCol="0" anchor="t"/>
          <a:lstStyle/>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Initial substances and mixtures produce one or more new substances with different properties than what you started with. </a:t>
            </a:r>
          </a:p>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It’s usually very difficult to reverse.</a:t>
            </a:r>
            <a:endParaRPr lang="en-US" sz="2000" dirty="0"/>
          </a:p>
          <a:p>
            <a:pPr marL="0" indent="0" algn="l">
              <a:lnSpc>
                <a:spcPct val="105000"/>
              </a:lnSpc>
              <a:buNone/>
            </a:pPr>
            <a:endParaRPr lang="en-US" sz="2000" dirty="0"/>
          </a:p>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Examples:</a:t>
            </a:r>
            <a:endParaRPr lang="en-US" sz="2000" dirty="0"/>
          </a:p>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 Iron rusting (Iron and oxygen react)</a:t>
            </a:r>
            <a:endParaRPr lang="en-US" sz="2000" dirty="0"/>
          </a:p>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 Wood burning (fuel and oxygen react)</a:t>
            </a:r>
            <a:endParaRPr lang="en-US" sz="2000" dirty="0"/>
          </a:p>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 Food being digested (food react → body fuel)</a:t>
            </a:r>
            <a:endParaRPr lang="en-US" sz="2000" dirty="0"/>
          </a:p>
        </p:txBody>
      </p:sp>
      <p:sp>
        <p:nvSpPr>
          <p:cNvPr id="13" name="Text 9"/>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14" name="Text 10"/>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079171" y="493776"/>
            <a:ext cx="8033657" cy="640080"/>
          </a:xfrm>
          <a:prstGeom prst="rect">
            <a:avLst/>
          </a:prstGeom>
          <a:noFill/>
          <a:ln/>
        </p:spPr>
        <p:txBody>
          <a:bodyPr wrap="square" lIns="0" tIns="0" rIns="0" bIns="0" rtlCol="0" anchor="ctr"/>
          <a:lstStyle/>
          <a:p>
            <a:pPr marL="0" indent="0" algn="ctr">
              <a:buNone/>
            </a:pPr>
            <a:r>
              <a:rPr lang="en-US" sz="3000" b="1" dirty="0">
                <a:solidFill>
                  <a:srgbClr val="14213D"/>
                </a:solidFill>
                <a:latin typeface="Cambria" pitchFamily="34" charset="0"/>
                <a:ea typeface="Cambria" pitchFamily="34" charset="-122"/>
                <a:cs typeface="Cambria" pitchFamily="34" charset="-120"/>
              </a:rPr>
              <a:t>Visuals and Simple Measurements that a Chemical Change (Reaction) Has Happened</a:t>
            </a:r>
            <a:endParaRPr lang="en-US" sz="3000" dirty="0"/>
          </a:p>
        </p:txBody>
      </p:sp>
      <p:sp>
        <p:nvSpPr>
          <p:cNvPr id="3" name="Shape 1"/>
          <p:cNvSpPr/>
          <p:nvPr/>
        </p:nvSpPr>
        <p:spPr>
          <a:xfrm>
            <a:off x="566928" y="1737360"/>
            <a:ext cx="5349240" cy="1965960"/>
          </a:xfrm>
          <a:prstGeom prst="roundRect">
            <a:avLst>
              <a:gd name="adj" fmla="val 4186"/>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4" name="Shape 2"/>
          <p:cNvSpPr/>
          <p:nvPr/>
        </p:nvSpPr>
        <p:spPr>
          <a:xfrm>
            <a:off x="804672" y="1975104"/>
            <a:ext cx="530352" cy="530352"/>
          </a:xfrm>
          <a:prstGeom prst="ellipse">
            <a:avLst/>
          </a:prstGeom>
          <a:solidFill>
            <a:srgbClr val="C00000"/>
          </a:solidFill>
          <a:ln/>
        </p:spPr>
        <p:txBody>
          <a:bodyPr/>
          <a:lstStyle/>
          <a:p>
            <a:endParaRPr lang="en-US"/>
          </a:p>
        </p:txBody>
      </p:sp>
      <p:pic>
        <p:nvPicPr>
          <p:cNvPr id="5" name="Image 0" descr="icon_palette_white.png"/>
          <p:cNvPicPr>
            <a:picLocks noChangeAspect="1"/>
          </p:cNvPicPr>
          <p:nvPr/>
        </p:nvPicPr>
        <p:blipFill>
          <a:blip r:embed="rId3"/>
          <a:stretch>
            <a:fillRect/>
          </a:stretch>
        </p:blipFill>
        <p:spPr>
          <a:xfrm>
            <a:off x="921349" y="2091781"/>
            <a:ext cx="296997" cy="296997"/>
          </a:xfrm>
          <a:prstGeom prst="rect">
            <a:avLst/>
          </a:prstGeom>
        </p:spPr>
      </p:pic>
      <p:sp>
        <p:nvSpPr>
          <p:cNvPr id="6" name="Text 3"/>
          <p:cNvSpPr/>
          <p:nvPr/>
        </p:nvSpPr>
        <p:spPr>
          <a:xfrm>
            <a:off x="1499616" y="1938528"/>
            <a:ext cx="4215384" cy="603504"/>
          </a:xfrm>
          <a:prstGeom prst="rect">
            <a:avLst/>
          </a:prstGeom>
          <a:noFill/>
          <a:ln/>
        </p:spPr>
        <p:txBody>
          <a:bodyPr wrap="square" lIns="0" tIns="0" rIns="0" bIns="0" rtlCol="0" anchor="ctr"/>
          <a:lstStyle/>
          <a:p>
            <a:pPr marL="0" indent="0" algn="l">
              <a:buNone/>
            </a:pPr>
            <a:r>
              <a:rPr lang="en-US" sz="2000" b="1" dirty="0">
                <a:solidFill>
                  <a:srgbClr val="14213D"/>
                </a:solidFill>
                <a:latin typeface="Cambria" pitchFamily="34" charset="0"/>
                <a:ea typeface="Cambria" pitchFamily="34" charset="-122"/>
                <a:cs typeface="Cambria" pitchFamily="34" charset="-120"/>
              </a:rPr>
              <a:t>Color Change</a:t>
            </a:r>
            <a:endParaRPr lang="en-US" sz="2000" dirty="0"/>
          </a:p>
        </p:txBody>
      </p:sp>
      <p:sp>
        <p:nvSpPr>
          <p:cNvPr id="7" name="Text 4"/>
          <p:cNvSpPr/>
          <p:nvPr/>
        </p:nvSpPr>
        <p:spPr>
          <a:xfrm>
            <a:off x="804672" y="2633472"/>
            <a:ext cx="4873752" cy="886968"/>
          </a:xfrm>
          <a:prstGeom prst="rect">
            <a:avLst/>
          </a:prstGeom>
          <a:noFill/>
          <a:ln/>
        </p:spPr>
        <p:txBody>
          <a:bodyPr wrap="square" lIns="0" tIns="0" rIns="0" bIns="0" rtlCol="0" anchor="t"/>
          <a:lstStyle/>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The product looks visibly different in color than the starting materials.</a:t>
            </a:r>
            <a:endParaRPr lang="en-US" sz="2000" dirty="0"/>
          </a:p>
        </p:txBody>
      </p:sp>
      <p:sp>
        <p:nvSpPr>
          <p:cNvPr id="8" name="Shape 5"/>
          <p:cNvSpPr/>
          <p:nvPr/>
        </p:nvSpPr>
        <p:spPr>
          <a:xfrm>
            <a:off x="6236208" y="1737360"/>
            <a:ext cx="5349240" cy="1965960"/>
          </a:xfrm>
          <a:prstGeom prst="roundRect">
            <a:avLst>
              <a:gd name="adj" fmla="val 4186"/>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9" name="Shape 6"/>
          <p:cNvSpPr/>
          <p:nvPr/>
        </p:nvSpPr>
        <p:spPr>
          <a:xfrm>
            <a:off x="6473952" y="1975104"/>
            <a:ext cx="530352" cy="530352"/>
          </a:xfrm>
          <a:prstGeom prst="ellipse">
            <a:avLst/>
          </a:prstGeom>
          <a:solidFill>
            <a:srgbClr val="F4A100"/>
          </a:solidFill>
          <a:ln/>
        </p:spPr>
        <p:txBody>
          <a:bodyPr/>
          <a:lstStyle/>
          <a:p>
            <a:endParaRPr lang="en-US"/>
          </a:p>
        </p:txBody>
      </p:sp>
      <p:pic>
        <p:nvPicPr>
          <p:cNvPr id="10" name="Image 1" descr="icon_cloud_white.png"/>
          <p:cNvPicPr>
            <a:picLocks noChangeAspect="1"/>
          </p:cNvPicPr>
          <p:nvPr/>
        </p:nvPicPr>
        <p:blipFill>
          <a:blip r:embed="rId4"/>
          <a:stretch>
            <a:fillRect/>
          </a:stretch>
        </p:blipFill>
        <p:spPr>
          <a:xfrm>
            <a:off x="6590629" y="2091781"/>
            <a:ext cx="296997" cy="296997"/>
          </a:xfrm>
          <a:prstGeom prst="rect">
            <a:avLst/>
          </a:prstGeom>
        </p:spPr>
      </p:pic>
      <p:sp>
        <p:nvSpPr>
          <p:cNvPr id="11" name="Text 7"/>
          <p:cNvSpPr/>
          <p:nvPr/>
        </p:nvSpPr>
        <p:spPr>
          <a:xfrm>
            <a:off x="7168896" y="1938528"/>
            <a:ext cx="4215384" cy="603504"/>
          </a:xfrm>
          <a:prstGeom prst="rect">
            <a:avLst/>
          </a:prstGeom>
          <a:noFill/>
          <a:ln/>
        </p:spPr>
        <p:txBody>
          <a:bodyPr wrap="square" lIns="0" tIns="0" rIns="0" bIns="0" rtlCol="0" anchor="ctr"/>
          <a:lstStyle/>
          <a:p>
            <a:pPr marL="0" indent="0" algn="l">
              <a:buNone/>
            </a:pPr>
            <a:r>
              <a:rPr lang="en-US" sz="2000" b="1" dirty="0">
                <a:solidFill>
                  <a:srgbClr val="14213D"/>
                </a:solidFill>
                <a:latin typeface="Cambria" pitchFamily="34" charset="0"/>
                <a:ea typeface="Cambria" pitchFamily="34" charset="-122"/>
                <a:cs typeface="Cambria" pitchFamily="34" charset="-120"/>
              </a:rPr>
              <a:t>Gas Production</a:t>
            </a:r>
            <a:endParaRPr lang="en-US" sz="2000" dirty="0"/>
          </a:p>
        </p:txBody>
      </p:sp>
      <p:sp>
        <p:nvSpPr>
          <p:cNvPr id="12" name="Text 8"/>
          <p:cNvSpPr/>
          <p:nvPr/>
        </p:nvSpPr>
        <p:spPr>
          <a:xfrm>
            <a:off x="6473952" y="2633472"/>
            <a:ext cx="4873752" cy="886968"/>
          </a:xfrm>
          <a:prstGeom prst="rect">
            <a:avLst/>
          </a:prstGeom>
          <a:noFill/>
          <a:ln/>
        </p:spPr>
        <p:txBody>
          <a:bodyPr wrap="square" lIns="0" tIns="0" rIns="0" bIns="0" rtlCol="0" anchor="t"/>
          <a:lstStyle/>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Bubbling or fizzing signals a new gas is being released.</a:t>
            </a:r>
            <a:endParaRPr lang="en-US" sz="2000" dirty="0"/>
          </a:p>
        </p:txBody>
      </p:sp>
      <p:sp>
        <p:nvSpPr>
          <p:cNvPr id="13" name="Shape 9"/>
          <p:cNvSpPr/>
          <p:nvPr/>
        </p:nvSpPr>
        <p:spPr>
          <a:xfrm>
            <a:off x="566928" y="4023360"/>
            <a:ext cx="5349240" cy="1965960"/>
          </a:xfrm>
          <a:prstGeom prst="roundRect">
            <a:avLst>
              <a:gd name="adj" fmla="val 4186"/>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14" name="Shape 10"/>
          <p:cNvSpPr/>
          <p:nvPr/>
        </p:nvSpPr>
        <p:spPr>
          <a:xfrm>
            <a:off x="804672" y="4261104"/>
            <a:ext cx="530352" cy="530352"/>
          </a:xfrm>
          <a:prstGeom prst="ellipse">
            <a:avLst/>
          </a:prstGeom>
          <a:solidFill>
            <a:srgbClr val="14213D"/>
          </a:solidFill>
          <a:ln/>
        </p:spPr>
        <p:txBody>
          <a:bodyPr/>
          <a:lstStyle/>
          <a:p>
            <a:endParaRPr lang="en-US"/>
          </a:p>
        </p:txBody>
      </p:sp>
      <p:pic>
        <p:nvPicPr>
          <p:cNvPr id="15" name="Image 2" descr="icon_vial_white.png"/>
          <p:cNvPicPr>
            <a:picLocks noChangeAspect="1"/>
          </p:cNvPicPr>
          <p:nvPr/>
        </p:nvPicPr>
        <p:blipFill>
          <a:blip r:embed="rId5"/>
          <a:stretch>
            <a:fillRect/>
          </a:stretch>
        </p:blipFill>
        <p:spPr>
          <a:xfrm>
            <a:off x="921349" y="4377781"/>
            <a:ext cx="296997" cy="296997"/>
          </a:xfrm>
          <a:prstGeom prst="rect">
            <a:avLst/>
          </a:prstGeom>
        </p:spPr>
      </p:pic>
      <p:sp>
        <p:nvSpPr>
          <p:cNvPr id="16" name="Text 11"/>
          <p:cNvSpPr/>
          <p:nvPr/>
        </p:nvSpPr>
        <p:spPr>
          <a:xfrm>
            <a:off x="1499616" y="4224528"/>
            <a:ext cx="4215384" cy="603504"/>
          </a:xfrm>
          <a:prstGeom prst="rect">
            <a:avLst/>
          </a:prstGeom>
          <a:noFill/>
          <a:ln/>
        </p:spPr>
        <p:txBody>
          <a:bodyPr wrap="square" lIns="0" tIns="0" rIns="0" bIns="0" rtlCol="0" anchor="ctr"/>
          <a:lstStyle/>
          <a:p>
            <a:pPr marL="0" indent="0" algn="l">
              <a:buNone/>
            </a:pPr>
            <a:r>
              <a:rPr lang="en-US" sz="2000" b="1" dirty="0">
                <a:solidFill>
                  <a:srgbClr val="14213D"/>
                </a:solidFill>
                <a:latin typeface="Cambria" pitchFamily="34" charset="0"/>
                <a:ea typeface="Cambria" pitchFamily="34" charset="-122"/>
                <a:cs typeface="Cambria" pitchFamily="34" charset="-120"/>
              </a:rPr>
              <a:t>Precipitate Forms</a:t>
            </a:r>
            <a:endParaRPr lang="en-US" sz="2000" dirty="0"/>
          </a:p>
        </p:txBody>
      </p:sp>
      <p:sp>
        <p:nvSpPr>
          <p:cNvPr id="17" name="Text 12"/>
          <p:cNvSpPr/>
          <p:nvPr/>
        </p:nvSpPr>
        <p:spPr>
          <a:xfrm>
            <a:off x="804672" y="4919472"/>
            <a:ext cx="4873752" cy="886968"/>
          </a:xfrm>
          <a:prstGeom prst="rect">
            <a:avLst/>
          </a:prstGeom>
          <a:noFill/>
          <a:ln/>
        </p:spPr>
        <p:txBody>
          <a:bodyPr wrap="square" lIns="0" tIns="0" rIns="0" bIns="0" rtlCol="0" anchor="t"/>
          <a:lstStyle/>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A new solid appears out of a mixture or solution that was clear moments before.</a:t>
            </a:r>
            <a:endParaRPr lang="en-US" sz="2000" dirty="0"/>
          </a:p>
        </p:txBody>
      </p:sp>
      <p:sp>
        <p:nvSpPr>
          <p:cNvPr id="18" name="Shape 13"/>
          <p:cNvSpPr/>
          <p:nvPr/>
        </p:nvSpPr>
        <p:spPr>
          <a:xfrm>
            <a:off x="6236208" y="4023360"/>
            <a:ext cx="5349240" cy="1965960"/>
          </a:xfrm>
          <a:prstGeom prst="roundRect">
            <a:avLst>
              <a:gd name="adj" fmla="val 4186"/>
            </a:avLst>
          </a:prstGeom>
          <a:solidFill>
            <a:srgbClr val="F1F6F8"/>
          </a:solidFill>
          <a:ln/>
          <a:effectLst>
            <a:outerShdw blurRad="76200" dist="25400" dir="5400000" algn="bl" rotWithShape="0">
              <a:srgbClr val="000000">
                <a:alpha val="12000"/>
              </a:srgbClr>
            </a:outerShdw>
          </a:effectLst>
        </p:spPr>
        <p:txBody>
          <a:bodyPr/>
          <a:lstStyle/>
          <a:p>
            <a:endParaRPr lang="en-US"/>
          </a:p>
        </p:txBody>
      </p:sp>
      <p:sp>
        <p:nvSpPr>
          <p:cNvPr id="19" name="Shape 14"/>
          <p:cNvSpPr/>
          <p:nvPr/>
        </p:nvSpPr>
        <p:spPr>
          <a:xfrm>
            <a:off x="6473952" y="4261104"/>
            <a:ext cx="530352" cy="530352"/>
          </a:xfrm>
          <a:prstGeom prst="ellipse">
            <a:avLst/>
          </a:prstGeom>
          <a:solidFill>
            <a:srgbClr val="C00000"/>
          </a:solidFill>
          <a:ln/>
        </p:spPr>
        <p:txBody>
          <a:bodyPr/>
          <a:lstStyle/>
          <a:p>
            <a:endParaRPr lang="en-US"/>
          </a:p>
        </p:txBody>
      </p:sp>
      <p:pic>
        <p:nvPicPr>
          <p:cNvPr id="20" name="Image 3" descr="icon_thermometerHalf_white.png"/>
          <p:cNvPicPr>
            <a:picLocks noChangeAspect="1"/>
          </p:cNvPicPr>
          <p:nvPr/>
        </p:nvPicPr>
        <p:blipFill>
          <a:blip r:embed="rId6"/>
          <a:stretch>
            <a:fillRect/>
          </a:stretch>
        </p:blipFill>
        <p:spPr>
          <a:xfrm>
            <a:off x="6590629" y="4377781"/>
            <a:ext cx="296997" cy="296997"/>
          </a:xfrm>
          <a:prstGeom prst="rect">
            <a:avLst/>
          </a:prstGeom>
        </p:spPr>
      </p:pic>
      <p:sp>
        <p:nvSpPr>
          <p:cNvPr id="21" name="Text 15"/>
          <p:cNvSpPr/>
          <p:nvPr/>
        </p:nvSpPr>
        <p:spPr>
          <a:xfrm>
            <a:off x="7168896" y="4224528"/>
            <a:ext cx="4215384" cy="603504"/>
          </a:xfrm>
          <a:prstGeom prst="rect">
            <a:avLst/>
          </a:prstGeom>
          <a:noFill/>
          <a:ln/>
        </p:spPr>
        <p:txBody>
          <a:bodyPr wrap="square" lIns="0" tIns="0" rIns="0" bIns="0" rtlCol="0" anchor="ctr"/>
          <a:lstStyle/>
          <a:p>
            <a:pPr marL="0" indent="0" algn="l">
              <a:buNone/>
            </a:pPr>
            <a:r>
              <a:rPr lang="en-US" sz="2000" b="1" dirty="0">
                <a:solidFill>
                  <a:srgbClr val="14213D"/>
                </a:solidFill>
                <a:latin typeface="Cambria" pitchFamily="34" charset="0"/>
                <a:ea typeface="Cambria" pitchFamily="34" charset="-122"/>
                <a:cs typeface="Cambria" pitchFamily="34" charset="-120"/>
              </a:rPr>
              <a:t>Temperature Change</a:t>
            </a:r>
            <a:endParaRPr lang="en-US" sz="2000" dirty="0"/>
          </a:p>
        </p:txBody>
      </p:sp>
      <p:sp>
        <p:nvSpPr>
          <p:cNvPr id="22" name="Text 16"/>
          <p:cNvSpPr/>
          <p:nvPr/>
        </p:nvSpPr>
        <p:spPr>
          <a:xfrm>
            <a:off x="6473952" y="4919472"/>
            <a:ext cx="4873752" cy="886968"/>
          </a:xfrm>
          <a:prstGeom prst="rect">
            <a:avLst/>
          </a:prstGeom>
          <a:noFill/>
          <a:ln/>
        </p:spPr>
        <p:txBody>
          <a:bodyPr wrap="square" lIns="0" tIns="0" rIns="0" bIns="0" rtlCol="0" anchor="t"/>
          <a:lstStyle/>
          <a:p>
            <a:pPr marL="0" indent="0" algn="l">
              <a:lnSpc>
                <a:spcPct val="105000"/>
              </a:lnSpc>
              <a:buNone/>
            </a:pPr>
            <a:r>
              <a:rPr lang="en-US" sz="2000" dirty="0">
                <a:solidFill>
                  <a:srgbClr val="14213D"/>
                </a:solidFill>
                <a:latin typeface="Garamond" pitchFamily="34" charset="0"/>
                <a:ea typeface="Garamond" pitchFamily="34" charset="-122"/>
                <a:cs typeface="Garamond" pitchFamily="34" charset="-120"/>
              </a:rPr>
              <a:t>Energy is absorbed or released, so the reaction feels colder or hotter.</a:t>
            </a:r>
            <a:endParaRPr lang="en-US" sz="2000" dirty="0"/>
          </a:p>
        </p:txBody>
      </p:sp>
      <p:sp>
        <p:nvSpPr>
          <p:cNvPr id="23" name="Text 17"/>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24" name="Text 18"/>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Conservation of Mass and Energy</a:t>
            </a:r>
            <a:endParaRPr lang="en-US" sz="3000" dirty="0"/>
          </a:p>
        </p:txBody>
      </p:sp>
      <p:sp>
        <p:nvSpPr>
          <p:cNvPr id="3" name="Text 1"/>
          <p:cNvSpPr/>
          <p:nvPr/>
        </p:nvSpPr>
        <p:spPr>
          <a:xfrm>
            <a:off x="457200" y="960120"/>
            <a:ext cx="11274552" cy="457200"/>
          </a:xfrm>
          <a:prstGeom prst="rect">
            <a:avLst/>
          </a:prstGeom>
          <a:noFill/>
          <a:ln/>
        </p:spPr>
        <p:txBody>
          <a:bodyPr wrap="square" lIns="0" tIns="0" rIns="0" bIns="0" rtlCol="0" anchor="ctr"/>
          <a:lstStyle/>
          <a:p>
            <a:pPr marL="0" indent="0" algn="l">
              <a:buNone/>
            </a:pPr>
            <a:r>
              <a:rPr lang="en-US" b="1" u="sng" dirty="0">
                <a:solidFill>
                  <a:srgbClr val="5B6B7A"/>
                </a:solidFill>
                <a:latin typeface="Garamond" pitchFamily="34" charset="0"/>
                <a:ea typeface="Garamond" pitchFamily="34" charset="-122"/>
                <a:cs typeface="Garamond" pitchFamily="34" charset="-120"/>
              </a:rPr>
              <a:t>Two laws</a:t>
            </a:r>
            <a:r>
              <a:rPr lang="en-US" dirty="0">
                <a:solidFill>
                  <a:srgbClr val="5B6B7A"/>
                </a:solidFill>
                <a:latin typeface="Garamond" pitchFamily="34" charset="0"/>
                <a:ea typeface="Garamond" pitchFamily="34" charset="-122"/>
                <a:cs typeface="Garamond" pitchFamily="34" charset="-120"/>
              </a:rPr>
              <a:t> that hold true for every physical and chemical change you’ll study in this course</a:t>
            </a:r>
            <a:endParaRPr lang="en-US" dirty="0"/>
          </a:p>
        </p:txBody>
      </p:sp>
      <p:sp>
        <p:nvSpPr>
          <p:cNvPr id="4" name="Shape 2"/>
          <p:cNvSpPr/>
          <p:nvPr/>
        </p:nvSpPr>
        <p:spPr>
          <a:xfrm>
            <a:off x="640080" y="1965960"/>
            <a:ext cx="457200" cy="457200"/>
          </a:xfrm>
          <a:prstGeom prst="ellipse">
            <a:avLst/>
          </a:prstGeom>
          <a:solidFill>
            <a:srgbClr val="14213D"/>
          </a:solidFill>
          <a:ln/>
        </p:spPr>
        <p:txBody>
          <a:bodyPr/>
          <a:lstStyle/>
          <a:p>
            <a:endParaRPr lang="en-US"/>
          </a:p>
        </p:txBody>
      </p:sp>
      <p:pic>
        <p:nvPicPr>
          <p:cNvPr id="5" name="Image 0" descr="icon_balanceScale_white.png"/>
          <p:cNvPicPr>
            <a:picLocks noChangeAspect="1"/>
          </p:cNvPicPr>
          <p:nvPr/>
        </p:nvPicPr>
        <p:blipFill>
          <a:blip r:embed="rId3"/>
          <a:stretch>
            <a:fillRect/>
          </a:stretch>
        </p:blipFill>
        <p:spPr>
          <a:xfrm>
            <a:off x="736092" y="2061972"/>
            <a:ext cx="265176" cy="265176"/>
          </a:xfrm>
          <a:prstGeom prst="rect">
            <a:avLst/>
          </a:prstGeom>
        </p:spPr>
      </p:pic>
      <p:sp>
        <p:nvSpPr>
          <p:cNvPr id="6" name="Text 3"/>
          <p:cNvSpPr/>
          <p:nvPr/>
        </p:nvSpPr>
        <p:spPr>
          <a:xfrm>
            <a:off x="1298448" y="1911096"/>
            <a:ext cx="10222992" cy="777240"/>
          </a:xfrm>
          <a:prstGeom prst="rect">
            <a:avLst/>
          </a:prstGeom>
          <a:noFill/>
          <a:ln/>
        </p:spPr>
        <p:txBody>
          <a:bodyPr wrap="square" lIns="0" tIns="0" rIns="0" bIns="0" rtlCol="0" anchor="t"/>
          <a:lstStyle/>
          <a:p>
            <a:pPr marL="0" indent="0" algn="l">
              <a:lnSpc>
                <a:spcPct val="108000"/>
              </a:lnSpc>
              <a:buNone/>
            </a:pPr>
            <a:r>
              <a:rPr lang="en-US" sz="2400" b="1" dirty="0">
                <a:solidFill>
                  <a:srgbClr val="14213D"/>
                </a:solidFill>
                <a:latin typeface="Cambria" pitchFamily="34" charset="0"/>
                <a:ea typeface="Cambria" pitchFamily="34" charset="-122"/>
                <a:cs typeface="Cambria" pitchFamily="34" charset="-120"/>
              </a:rPr>
              <a:t>Conservation of Mass </a:t>
            </a:r>
            <a:r>
              <a:rPr lang="en-US" sz="2000" dirty="0">
                <a:solidFill>
                  <a:srgbClr val="14213D"/>
                </a:solidFill>
                <a:latin typeface="Garamond" pitchFamily="34" charset="0"/>
                <a:ea typeface="Garamond" pitchFamily="34" charset="-122"/>
                <a:cs typeface="Garamond" pitchFamily="34" charset="-120"/>
              </a:rPr>
              <a:t> </a:t>
            </a:r>
          </a:p>
          <a:p>
            <a:pPr lvl="1">
              <a:lnSpc>
                <a:spcPct val="108000"/>
              </a:lnSpc>
            </a:pPr>
            <a:r>
              <a:rPr lang="en-US" sz="2000" dirty="0">
                <a:solidFill>
                  <a:srgbClr val="14213D"/>
                </a:solidFill>
                <a:latin typeface="Garamond" pitchFamily="34" charset="0"/>
                <a:ea typeface="Garamond" pitchFamily="34" charset="-122"/>
                <a:cs typeface="Garamond" pitchFamily="34" charset="-120"/>
              </a:rPr>
              <a:t>Mass is neither created nor destroyed in a chemical reaction; it only changes form. Total mass before a reaction always equals total mass after (Lavoisier, Topic 1).</a:t>
            </a:r>
            <a:endParaRPr lang="en-US" sz="2400" dirty="0"/>
          </a:p>
        </p:txBody>
      </p:sp>
      <p:sp>
        <p:nvSpPr>
          <p:cNvPr id="7" name="Shape 4"/>
          <p:cNvSpPr/>
          <p:nvPr/>
        </p:nvSpPr>
        <p:spPr>
          <a:xfrm>
            <a:off x="640080" y="3383280"/>
            <a:ext cx="457200" cy="457200"/>
          </a:xfrm>
          <a:prstGeom prst="ellipse">
            <a:avLst/>
          </a:prstGeom>
          <a:solidFill>
            <a:srgbClr val="1C7293"/>
          </a:solidFill>
          <a:ln/>
        </p:spPr>
        <p:txBody>
          <a:bodyPr/>
          <a:lstStyle/>
          <a:p>
            <a:endParaRPr lang="en-US"/>
          </a:p>
        </p:txBody>
      </p:sp>
      <p:pic>
        <p:nvPicPr>
          <p:cNvPr id="8" name="Image 1" descr="icon_bolt_white.png"/>
          <p:cNvPicPr>
            <a:picLocks noChangeAspect="1"/>
          </p:cNvPicPr>
          <p:nvPr/>
        </p:nvPicPr>
        <p:blipFill>
          <a:blip r:embed="rId4"/>
          <a:stretch>
            <a:fillRect/>
          </a:stretch>
        </p:blipFill>
        <p:spPr>
          <a:xfrm>
            <a:off x="736092" y="3479292"/>
            <a:ext cx="265176" cy="265176"/>
          </a:xfrm>
          <a:prstGeom prst="rect">
            <a:avLst/>
          </a:prstGeom>
        </p:spPr>
      </p:pic>
      <p:sp>
        <p:nvSpPr>
          <p:cNvPr id="9" name="Text 5"/>
          <p:cNvSpPr/>
          <p:nvPr/>
        </p:nvSpPr>
        <p:spPr>
          <a:xfrm>
            <a:off x="1298448" y="3328416"/>
            <a:ext cx="10222992" cy="777240"/>
          </a:xfrm>
          <a:prstGeom prst="rect">
            <a:avLst/>
          </a:prstGeom>
          <a:noFill/>
          <a:ln/>
        </p:spPr>
        <p:txBody>
          <a:bodyPr wrap="square" lIns="0" tIns="0" rIns="0" bIns="0" rtlCol="0" anchor="t"/>
          <a:lstStyle/>
          <a:p>
            <a:pPr marL="0" indent="0" algn="l">
              <a:lnSpc>
                <a:spcPct val="108000"/>
              </a:lnSpc>
              <a:buNone/>
            </a:pPr>
            <a:r>
              <a:rPr lang="en-US" sz="2400" b="1" dirty="0">
                <a:solidFill>
                  <a:srgbClr val="14213D"/>
                </a:solidFill>
                <a:latin typeface="Cambria" pitchFamily="34" charset="0"/>
                <a:ea typeface="Cambria" pitchFamily="34" charset="-122"/>
                <a:cs typeface="Cambria" pitchFamily="34" charset="-120"/>
              </a:rPr>
              <a:t>Conservation of Energy </a:t>
            </a:r>
            <a:r>
              <a:rPr lang="en-US" sz="2000" dirty="0">
                <a:solidFill>
                  <a:srgbClr val="14213D"/>
                </a:solidFill>
                <a:latin typeface="Garamond" pitchFamily="34" charset="0"/>
                <a:ea typeface="Garamond" pitchFamily="34" charset="-122"/>
                <a:cs typeface="Garamond" pitchFamily="34" charset="-120"/>
              </a:rPr>
              <a:t> </a:t>
            </a:r>
          </a:p>
          <a:p>
            <a:pPr lvl="1">
              <a:lnSpc>
                <a:spcPct val="108000"/>
              </a:lnSpc>
            </a:pPr>
            <a:r>
              <a:rPr lang="en-US" sz="2000" dirty="0">
                <a:solidFill>
                  <a:srgbClr val="14213D"/>
                </a:solidFill>
                <a:latin typeface="Garamond" pitchFamily="34" charset="0"/>
                <a:ea typeface="Garamond" pitchFamily="34" charset="-122"/>
                <a:cs typeface="Garamond" pitchFamily="34" charset="-120"/>
              </a:rPr>
              <a:t>Energy is neither created nor destroyed; it only converts from one form to another — chemical energy into heat, heat into motion, and so on.</a:t>
            </a:r>
            <a:endParaRPr lang="en-US" sz="2400" dirty="0"/>
          </a:p>
        </p:txBody>
      </p:sp>
      <p:sp>
        <p:nvSpPr>
          <p:cNvPr id="10" name="Shape 6"/>
          <p:cNvSpPr/>
          <p:nvPr/>
        </p:nvSpPr>
        <p:spPr>
          <a:xfrm>
            <a:off x="640080" y="4892040"/>
            <a:ext cx="10881360" cy="1051560"/>
          </a:xfrm>
          <a:prstGeom prst="roundRect">
            <a:avLst>
              <a:gd name="adj" fmla="val 6957"/>
            </a:avLst>
          </a:prstGeom>
          <a:solidFill>
            <a:srgbClr val="F1F6F8"/>
          </a:solidFill>
          <a:ln/>
        </p:spPr>
        <p:txBody>
          <a:bodyPr/>
          <a:lstStyle/>
          <a:p>
            <a:endParaRPr lang="en-US"/>
          </a:p>
        </p:txBody>
      </p:sp>
      <p:sp>
        <p:nvSpPr>
          <p:cNvPr id="11" name="Text 7"/>
          <p:cNvSpPr/>
          <p:nvPr/>
        </p:nvSpPr>
        <p:spPr>
          <a:xfrm>
            <a:off x="914400" y="5029200"/>
            <a:ext cx="10332720" cy="777240"/>
          </a:xfrm>
          <a:prstGeom prst="rect">
            <a:avLst/>
          </a:prstGeom>
          <a:noFill/>
          <a:ln/>
        </p:spPr>
        <p:txBody>
          <a:bodyPr wrap="square" lIns="0" tIns="0" rIns="0" bIns="0" rtlCol="0" anchor="ctr"/>
          <a:lstStyle/>
          <a:p>
            <a:pPr marL="0" indent="0" algn="ctr">
              <a:lnSpc>
                <a:spcPct val="110000"/>
              </a:lnSpc>
              <a:buNone/>
            </a:pPr>
            <a:r>
              <a:rPr lang="en-US" sz="2000" dirty="0">
                <a:solidFill>
                  <a:srgbClr val="14213D"/>
                </a:solidFill>
                <a:latin typeface="Garamond" pitchFamily="34" charset="0"/>
                <a:ea typeface="Garamond" pitchFamily="34" charset="-122"/>
                <a:cs typeface="Garamond" pitchFamily="34" charset="-120"/>
              </a:rPr>
              <a:t>Together, these two laws are why chemists and scientists (and nurses) can always account for every gram and every unit of energy in a system — nothing simply vanishes.</a:t>
            </a:r>
            <a:endParaRPr lang="en-US" sz="2000" dirty="0"/>
          </a:p>
        </p:txBody>
      </p:sp>
      <p:sp>
        <p:nvSpPr>
          <p:cNvPr id="12" name="Text 8"/>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13" name="Text 9"/>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Applied Example: Conservation of Mass in a Reaction</a:t>
            </a:r>
            <a:endParaRPr lang="en-US" sz="3000" dirty="0"/>
          </a:p>
        </p:txBody>
      </p:sp>
      <p:sp>
        <p:nvSpPr>
          <p:cNvPr id="3" name="Shape 1"/>
          <p:cNvSpPr/>
          <p:nvPr/>
        </p:nvSpPr>
        <p:spPr>
          <a:xfrm>
            <a:off x="548640" y="1691640"/>
            <a:ext cx="11091672" cy="1024128"/>
          </a:xfrm>
          <a:prstGeom prst="roundRect">
            <a:avLst>
              <a:gd name="adj" fmla="val 6250"/>
            </a:avLst>
          </a:prstGeom>
          <a:solidFill>
            <a:srgbClr val="F1F6F8"/>
          </a:solidFill>
          <a:ln/>
        </p:spPr>
        <p:txBody>
          <a:bodyPr/>
          <a:lstStyle/>
          <a:p>
            <a:endParaRPr lang="en-US"/>
          </a:p>
        </p:txBody>
      </p:sp>
      <p:sp>
        <p:nvSpPr>
          <p:cNvPr id="4" name="Shape 2"/>
          <p:cNvSpPr/>
          <p:nvPr/>
        </p:nvSpPr>
        <p:spPr>
          <a:xfrm>
            <a:off x="624078" y="1948120"/>
            <a:ext cx="1559052" cy="511168"/>
          </a:xfrm>
          <a:prstGeom prst="roundRect">
            <a:avLst>
              <a:gd name="adj" fmla="val 50000"/>
            </a:avLst>
          </a:prstGeom>
          <a:solidFill>
            <a:srgbClr val="C00000"/>
          </a:solidFill>
          <a:ln/>
        </p:spPr>
        <p:txBody>
          <a:bodyPr/>
          <a:lstStyle/>
          <a:p>
            <a:endParaRPr lang="en-US"/>
          </a:p>
        </p:txBody>
      </p:sp>
      <p:sp>
        <p:nvSpPr>
          <p:cNvPr id="5" name="Text 3"/>
          <p:cNvSpPr/>
          <p:nvPr/>
        </p:nvSpPr>
        <p:spPr>
          <a:xfrm>
            <a:off x="694944" y="2011680"/>
            <a:ext cx="1417320" cy="384048"/>
          </a:xfrm>
          <a:prstGeom prst="rect">
            <a:avLst/>
          </a:prstGeom>
          <a:noFill/>
          <a:ln/>
        </p:spPr>
        <p:txBody>
          <a:bodyPr wrap="square" lIns="0" tIns="0" rIns="0" bIns="0" rtlCol="0" anchor="ctr"/>
          <a:lstStyle/>
          <a:p>
            <a:pPr marL="0" indent="0" algn="ctr">
              <a:buNone/>
            </a:pPr>
            <a:r>
              <a:rPr lang="en-US" b="1" dirty="0">
                <a:solidFill>
                  <a:srgbClr val="FFFFFF"/>
                </a:solidFill>
                <a:latin typeface="Cambria" pitchFamily="34" charset="0"/>
                <a:ea typeface="Cambria" pitchFamily="34" charset="-122"/>
                <a:cs typeface="Cambria" pitchFamily="34" charset="-120"/>
              </a:rPr>
              <a:t>Scenario</a:t>
            </a:r>
            <a:endParaRPr lang="en-US" sz="1600" dirty="0"/>
          </a:p>
        </p:txBody>
      </p:sp>
      <p:sp>
        <p:nvSpPr>
          <p:cNvPr id="6" name="Text 4"/>
          <p:cNvSpPr/>
          <p:nvPr/>
        </p:nvSpPr>
        <p:spPr>
          <a:xfrm>
            <a:off x="2496312" y="1746504"/>
            <a:ext cx="8778240" cy="914400"/>
          </a:xfrm>
          <a:prstGeom prst="rect">
            <a:avLst/>
          </a:prstGeom>
          <a:noFill/>
          <a:ln/>
        </p:spPr>
        <p:txBody>
          <a:bodyPr wrap="square" lIns="0" tIns="0" rIns="0" bIns="0" rtlCol="0" anchor="ctr"/>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A sealed container holds 10 g of wood and enough oxygen gas to let it burn completely, with no gas able to escape.</a:t>
            </a:r>
            <a:endParaRPr lang="en-US" dirty="0"/>
          </a:p>
        </p:txBody>
      </p:sp>
      <p:sp>
        <p:nvSpPr>
          <p:cNvPr id="7" name="Shape 5"/>
          <p:cNvSpPr/>
          <p:nvPr/>
        </p:nvSpPr>
        <p:spPr>
          <a:xfrm>
            <a:off x="548640" y="2862072"/>
            <a:ext cx="11091672" cy="1024128"/>
          </a:xfrm>
          <a:prstGeom prst="roundRect">
            <a:avLst>
              <a:gd name="adj" fmla="val 6250"/>
            </a:avLst>
          </a:prstGeom>
          <a:solidFill>
            <a:srgbClr val="F1F6F8"/>
          </a:solidFill>
          <a:ln/>
        </p:spPr>
        <p:txBody>
          <a:bodyPr/>
          <a:lstStyle/>
          <a:p>
            <a:endParaRPr lang="en-US"/>
          </a:p>
        </p:txBody>
      </p:sp>
      <p:sp>
        <p:nvSpPr>
          <p:cNvPr id="8" name="Shape 6"/>
          <p:cNvSpPr/>
          <p:nvPr/>
        </p:nvSpPr>
        <p:spPr>
          <a:xfrm>
            <a:off x="624078" y="3118552"/>
            <a:ext cx="1559052" cy="511168"/>
          </a:xfrm>
          <a:prstGeom prst="roundRect">
            <a:avLst>
              <a:gd name="adj" fmla="val 50000"/>
            </a:avLst>
          </a:prstGeom>
          <a:solidFill>
            <a:srgbClr val="F4A100"/>
          </a:solidFill>
          <a:ln/>
        </p:spPr>
        <p:txBody>
          <a:bodyPr/>
          <a:lstStyle/>
          <a:p>
            <a:endParaRPr lang="en-US"/>
          </a:p>
        </p:txBody>
      </p:sp>
      <p:sp>
        <p:nvSpPr>
          <p:cNvPr id="9" name="Text 7"/>
          <p:cNvSpPr/>
          <p:nvPr/>
        </p:nvSpPr>
        <p:spPr>
          <a:xfrm>
            <a:off x="694944" y="3182112"/>
            <a:ext cx="141732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What You See</a:t>
            </a:r>
            <a:endParaRPr lang="en-US" sz="1600" dirty="0"/>
          </a:p>
        </p:txBody>
      </p:sp>
      <p:sp>
        <p:nvSpPr>
          <p:cNvPr id="10" name="Text 8"/>
          <p:cNvSpPr/>
          <p:nvPr/>
        </p:nvSpPr>
        <p:spPr>
          <a:xfrm>
            <a:off x="2496312" y="2916936"/>
            <a:ext cx="8778240" cy="914400"/>
          </a:xfrm>
          <a:prstGeom prst="rect">
            <a:avLst/>
          </a:prstGeom>
          <a:noFill/>
          <a:ln/>
        </p:spPr>
        <p:txBody>
          <a:bodyPr wrap="square" lIns="0" tIns="0" rIns="0" bIns="0" rtlCol="0" anchor="ctr"/>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After burning, only a small pile of ash is left — it looks like most of the mass disappeared as smoke.</a:t>
            </a:r>
            <a:endParaRPr lang="en-US" dirty="0"/>
          </a:p>
        </p:txBody>
      </p:sp>
      <p:sp>
        <p:nvSpPr>
          <p:cNvPr id="11" name="Shape 9"/>
          <p:cNvSpPr/>
          <p:nvPr/>
        </p:nvSpPr>
        <p:spPr>
          <a:xfrm>
            <a:off x="548640" y="4032504"/>
            <a:ext cx="11091672" cy="1024128"/>
          </a:xfrm>
          <a:prstGeom prst="roundRect">
            <a:avLst>
              <a:gd name="adj" fmla="val 6250"/>
            </a:avLst>
          </a:prstGeom>
          <a:solidFill>
            <a:srgbClr val="F1F6F8"/>
          </a:solidFill>
          <a:ln/>
        </p:spPr>
        <p:txBody>
          <a:bodyPr/>
          <a:lstStyle/>
          <a:p>
            <a:endParaRPr lang="en-US"/>
          </a:p>
        </p:txBody>
      </p:sp>
      <p:sp>
        <p:nvSpPr>
          <p:cNvPr id="12" name="Shape 10"/>
          <p:cNvSpPr/>
          <p:nvPr/>
        </p:nvSpPr>
        <p:spPr>
          <a:xfrm>
            <a:off x="624078" y="4263426"/>
            <a:ext cx="1559052" cy="562285"/>
          </a:xfrm>
          <a:prstGeom prst="roundRect">
            <a:avLst>
              <a:gd name="adj" fmla="val 50000"/>
            </a:avLst>
          </a:prstGeom>
          <a:solidFill>
            <a:srgbClr val="14213D"/>
          </a:solidFill>
          <a:ln/>
        </p:spPr>
        <p:txBody>
          <a:bodyPr/>
          <a:lstStyle/>
          <a:p>
            <a:endParaRPr lang="en-US"/>
          </a:p>
        </p:txBody>
      </p:sp>
      <p:sp>
        <p:nvSpPr>
          <p:cNvPr id="13" name="Text 11"/>
          <p:cNvSpPr/>
          <p:nvPr/>
        </p:nvSpPr>
        <p:spPr>
          <a:xfrm>
            <a:off x="694944" y="4352544"/>
            <a:ext cx="141732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What Really Happened</a:t>
            </a:r>
            <a:endParaRPr lang="en-US" sz="1600" dirty="0"/>
          </a:p>
        </p:txBody>
      </p:sp>
      <p:sp>
        <p:nvSpPr>
          <p:cNvPr id="14" name="Text 12"/>
          <p:cNvSpPr/>
          <p:nvPr/>
        </p:nvSpPr>
        <p:spPr>
          <a:xfrm>
            <a:off x="2496312" y="4087368"/>
            <a:ext cx="8778240" cy="914400"/>
          </a:xfrm>
          <a:prstGeom prst="rect">
            <a:avLst/>
          </a:prstGeom>
          <a:noFill/>
          <a:ln/>
        </p:spPr>
        <p:txBody>
          <a:bodyPr wrap="square" lIns="0" tIns="0" rIns="0" bIns="0" rtlCol="0" anchor="ctr"/>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The wood’s mass didn’t vanish — it combined with oxygen to form carbon dioxide and water vapor; both invisible gases trapped in the container.</a:t>
            </a:r>
            <a:endParaRPr lang="en-US" dirty="0"/>
          </a:p>
        </p:txBody>
      </p:sp>
      <p:sp>
        <p:nvSpPr>
          <p:cNvPr id="15" name="Shape 13"/>
          <p:cNvSpPr/>
          <p:nvPr/>
        </p:nvSpPr>
        <p:spPr>
          <a:xfrm>
            <a:off x="548640" y="5202936"/>
            <a:ext cx="11091672" cy="1024128"/>
          </a:xfrm>
          <a:prstGeom prst="roundRect">
            <a:avLst>
              <a:gd name="adj" fmla="val 6250"/>
            </a:avLst>
          </a:prstGeom>
          <a:solidFill>
            <a:srgbClr val="F1F6F8"/>
          </a:solidFill>
          <a:ln/>
        </p:spPr>
        <p:txBody>
          <a:bodyPr/>
          <a:lstStyle/>
          <a:p>
            <a:endParaRPr lang="en-US"/>
          </a:p>
        </p:txBody>
      </p:sp>
      <p:sp>
        <p:nvSpPr>
          <p:cNvPr id="16" name="Shape 14"/>
          <p:cNvSpPr/>
          <p:nvPr/>
        </p:nvSpPr>
        <p:spPr>
          <a:xfrm>
            <a:off x="624078" y="5459416"/>
            <a:ext cx="1559052" cy="511168"/>
          </a:xfrm>
          <a:prstGeom prst="roundRect">
            <a:avLst>
              <a:gd name="adj" fmla="val 50000"/>
            </a:avLst>
          </a:prstGeom>
          <a:solidFill>
            <a:srgbClr val="1C7293"/>
          </a:solidFill>
          <a:ln/>
        </p:spPr>
        <p:txBody>
          <a:bodyPr/>
          <a:lstStyle/>
          <a:p>
            <a:endParaRPr lang="en-US"/>
          </a:p>
        </p:txBody>
      </p:sp>
      <p:sp>
        <p:nvSpPr>
          <p:cNvPr id="17" name="Text 15"/>
          <p:cNvSpPr/>
          <p:nvPr/>
        </p:nvSpPr>
        <p:spPr>
          <a:xfrm>
            <a:off x="694944" y="5522976"/>
            <a:ext cx="1417320" cy="384048"/>
          </a:xfrm>
          <a:prstGeom prst="rect">
            <a:avLst/>
          </a:prstGeom>
          <a:noFill/>
          <a:ln/>
        </p:spPr>
        <p:txBody>
          <a:bodyPr wrap="square" lIns="0" tIns="0" rIns="0" bIns="0" rtlCol="0" anchor="ctr"/>
          <a:lstStyle/>
          <a:p>
            <a:pPr marL="0" indent="0" algn="ctr">
              <a:buNone/>
            </a:pPr>
            <a:r>
              <a:rPr lang="en-US" b="1" dirty="0">
                <a:solidFill>
                  <a:srgbClr val="FFFFFF"/>
                </a:solidFill>
                <a:latin typeface="Cambria" pitchFamily="34" charset="0"/>
                <a:ea typeface="Cambria" pitchFamily="34" charset="-122"/>
                <a:cs typeface="Cambria" pitchFamily="34" charset="-120"/>
              </a:rPr>
              <a:t>Check</a:t>
            </a:r>
            <a:endParaRPr lang="en-US" sz="1600" dirty="0"/>
          </a:p>
        </p:txBody>
      </p:sp>
      <p:sp>
        <p:nvSpPr>
          <p:cNvPr id="18" name="Text 16"/>
          <p:cNvSpPr/>
          <p:nvPr/>
        </p:nvSpPr>
        <p:spPr>
          <a:xfrm>
            <a:off x="2496312" y="5257800"/>
            <a:ext cx="8778240" cy="914400"/>
          </a:xfrm>
          <a:prstGeom prst="rect">
            <a:avLst/>
          </a:prstGeom>
          <a:noFill/>
          <a:ln/>
        </p:spPr>
        <p:txBody>
          <a:bodyPr wrap="square" lIns="0" tIns="0" rIns="0" bIns="0" rtlCol="0" anchor="ctr"/>
          <a:lstStyle/>
          <a:p>
            <a:pPr marL="0" indent="0" algn="l">
              <a:lnSpc>
                <a:spcPct val="105000"/>
              </a:lnSpc>
              <a:buNone/>
            </a:pPr>
            <a:r>
              <a:rPr lang="en-US" dirty="0">
                <a:solidFill>
                  <a:srgbClr val="14213D"/>
                </a:solidFill>
                <a:latin typeface="Garamond" pitchFamily="34" charset="0"/>
                <a:ea typeface="Garamond" pitchFamily="34" charset="-122"/>
                <a:cs typeface="Garamond" pitchFamily="34" charset="-120"/>
              </a:rPr>
              <a:t>Weigh everything inside the sealed container — ash + CO₂ + water vapor. That total mass equals the original 10 g of wood plus the oxygen it reacted with.</a:t>
            </a:r>
            <a:endParaRPr lang="en-US" dirty="0"/>
          </a:p>
        </p:txBody>
      </p:sp>
      <p:sp>
        <p:nvSpPr>
          <p:cNvPr id="19" name="Text 17"/>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20" name="Text 18"/>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64008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Key Terms to Know and Understand </a:t>
            </a:r>
            <a:endParaRPr lang="en-US" sz="3000" dirty="0"/>
          </a:p>
        </p:txBody>
      </p:sp>
      <p:sp>
        <p:nvSpPr>
          <p:cNvPr id="3" name="Text 1"/>
          <p:cNvSpPr/>
          <p:nvPr/>
        </p:nvSpPr>
        <p:spPr>
          <a:xfrm>
            <a:off x="548640" y="1691640"/>
            <a:ext cx="4754880" cy="1024128"/>
          </a:xfrm>
          <a:prstGeom prst="rect">
            <a:avLst/>
          </a:prstGeom>
          <a:noFill/>
          <a:ln/>
        </p:spPr>
        <p:txBody>
          <a:bodyPr wrap="square" lIns="0" tIns="0" rIns="0" bIns="0" rtlCol="0" anchor="t"/>
          <a:lstStyle/>
          <a:p>
            <a:pPr marL="0" indent="0" algn="l">
              <a:lnSpc>
                <a:spcPct val="108000"/>
              </a:lnSpc>
              <a:buNone/>
            </a:pPr>
            <a:r>
              <a:rPr lang="en-US" sz="2000" b="1" dirty="0">
                <a:solidFill>
                  <a:srgbClr val="1C7293"/>
                </a:solidFill>
                <a:latin typeface="Cambria" pitchFamily="34" charset="0"/>
                <a:ea typeface="Cambria" pitchFamily="34" charset="-122"/>
                <a:cs typeface="Cambria" pitchFamily="34" charset="-120"/>
              </a:rPr>
              <a:t>Matter:  </a:t>
            </a:r>
            <a:r>
              <a:rPr lang="en-US" dirty="0">
                <a:solidFill>
                  <a:srgbClr val="14213D"/>
                </a:solidFill>
                <a:latin typeface="Garamond" pitchFamily="34" charset="0"/>
                <a:ea typeface="Garamond" pitchFamily="34" charset="-122"/>
                <a:cs typeface="Garamond" pitchFamily="34" charset="-120"/>
              </a:rPr>
              <a:t>Anything that has mass and takes up space</a:t>
            </a:r>
            <a:endParaRPr lang="en-US" sz="2000" dirty="0"/>
          </a:p>
        </p:txBody>
      </p:sp>
      <p:sp>
        <p:nvSpPr>
          <p:cNvPr id="4" name="Text 2"/>
          <p:cNvSpPr/>
          <p:nvPr/>
        </p:nvSpPr>
        <p:spPr>
          <a:xfrm>
            <a:off x="6172200" y="1691640"/>
            <a:ext cx="4754880" cy="1024128"/>
          </a:xfrm>
          <a:prstGeom prst="rect">
            <a:avLst/>
          </a:prstGeom>
          <a:noFill/>
          <a:ln/>
        </p:spPr>
        <p:txBody>
          <a:bodyPr wrap="square" lIns="0" tIns="0" rIns="0" bIns="0" rtlCol="0" anchor="t"/>
          <a:lstStyle/>
          <a:p>
            <a:pPr marL="0" indent="0" algn="l">
              <a:lnSpc>
                <a:spcPct val="108000"/>
              </a:lnSpc>
              <a:buNone/>
            </a:pPr>
            <a:r>
              <a:rPr lang="en-US" sz="2000" b="1" dirty="0">
                <a:solidFill>
                  <a:srgbClr val="1C7293"/>
                </a:solidFill>
                <a:latin typeface="Cambria" pitchFamily="34" charset="0"/>
                <a:ea typeface="Cambria" pitchFamily="34" charset="-122"/>
                <a:cs typeface="Cambria" pitchFamily="34" charset="-120"/>
              </a:rPr>
              <a:t>Element:  </a:t>
            </a:r>
            <a:r>
              <a:rPr lang="en-US" dirty="0">
                <a:solidFill>
                  <a:srgbClr val="14213D"/>
                </a:solidFill>
                <a:latin typeface="Garamond" pitchFamily="34" charset="0"/>
                <a:ea typeface="Garamond" pitchFamily="34" charset="-122"/>
                <a:cs typeface="Garamond" pitchFamily="34" charset="-120"/>
              </a:rPr>
              <a:t>The simplest form of matter; can’t be broken down further</a:t>
            </a:r>
            <a:endParaRPr lang="en-US" sz="2000" dirty="0"/>
          </a:p>
        </p:txBody>
      </p:sp>
      <p:sp>
        <p:nvSpPr>
          <p:cNvPr id="5" name="Text 3"/>
          <p:cNvSpPr/>
          <p:nvPr/>
        </p:nvSpPr>
        <p:spPr>
          <a:xfrm>
            <a:off x="548640" y="2788920"/>
            <a:ext cx="4754880" cy="1024128"/>
          </a:xfrm>
          <a:prstGeom prst="rect">
            <a:avLst/>
          </a:prstGeom>
          <a:noFill/>
          <a:ln/>
        </p:spPr>
        <p:txBody>
          <a:bodyPr wrap="square" lIns="0" tIns="0" rIns="0" bIns="0" rtlCol="0" anchor="t"/>
          <a:lstStyle/>
          <a:p>
            <a:pPr marL="0" indent="0" algn="l">
              <a:lnSpc>
                <a:spcPct val="108000"/>
              </a:lnSpc>
              <a:buNone/>
            </a:pPr>
            <a:r>
              <a:rPr lang="en-US" sz="2000" b="1" dirty="0">
                <a:solidFill>
                  <a:srgbClr val="1C7293"/>
                </a:solidFill>
                <a:latin typeface="Cambria" pitchFamily="34" charset="0"/>
                <a:ea typeface="Cambria" pitchFamily="34" charset="-122"/>
                <a:cs typeface="Cambria" pitchFamily="34" charset="-120"/>
              </a:rPr>
              <a:t>Compound:  </a:t>
            </a:r>
            <a:r>
              <a:rPr lang="en-US" dirty="0">
                <a:solidFill>
                  <a:srgbClr val="14213D"/>
                </a:solidFill>
                <a:latin typeface="Garamond" pitchFamily="34" charset="0"/>
                <a:ea typeface="Garamond" pitchFamily="34" charset="-122"/>
                <a:cs typeface="Garamond" pitchFamily="34" charset="-120"/>
              </a:rPr>
              <a:t>Elements chemically combined in a fixed ratio</a:t>
            </a:r>
            <a:endParaRPr lang="en-US" sz="2000" dirty="0"/>
          </a:p>
        </p:txBody>
      </p:sp>
      <p:sp>
        <p:nvSpPr>
          <p:cNvPr id="6" name="Text 4"/>
          <p:cNvSpPr/>
          <p:nvPr/>
        </p:nvSpPr>
        <p:spPr>
          <a:xfrm>
            <a:off x="6172200" y="2788920"/>
            <a:ext cx="4754880" cy="1024128"/>
          </a:xfrm>
          <a:prstGeom prst="rect">
            <a:avLst/>
          </a:prstGeom>
          <a:noFill/>
          <a:ln/>
        </p:spPr>
        <p:txBody>
          <a:bodyPr wrap="square" lIns="0" tIns="0" rIns="0" bIns="0" rtlCol="0" anchor="t"/>
          <a:lstStyle/>
          <a:p>
            <a:pPr marL="0" indent="0" algn="l">
              <a:lnSpc>
                <a:spcPct val="108000"/>
              </a:lnSpc>
              <a:buNone/>
            </a:pPr>
            <a:r>
              <a:rPr lang="en-US" sz="2000" b="1" dirty="0">
                <a:solidFill>
                  <a:srgbClr val="1C7293"/>
                </a:solidFill>
                <a:latin typeface="Cambria" pitchFamily="34" charset="0"/>
                <a:ea typeface="Cambria" pitchFamily="34" charset="-122"/>
                <a:cs typeface="Cambria" pitchFamily="34" charset="-120"/>
              </a:rPr>
              <a:t>Mixture:  </a:t>
            </a:r>
            <a:r>
              <a:rPr lang="en-US" dirty="0">
                <a:solidFill>
                  <a:srgbClr val="14213D"/>
                </a:solidFill>
                <a:latin typeface="Garamond" pitchFamily="34" charset="0"/>
                <a:ea typeface="Garamond" pitchFamily="34" charset="-122"/>
                <a:cs typeface="Garamond" pitchFamily="34" charset="-120"/>
              </a:rPr>
              <a:t>Substances physically combined in a variable ratio</a:t>
            </a:r>
            <a:endParaRPr lang="en-US" sz="2000" dirty="0"/>
          </a:p>
        </p:txBody>
      </p:sp>
      <p:sp>
        <p:nvSpPr>
          <p:cNvPr id="7" name="Text 5"/>
          <p:cNvSpPr/>
          <p:nvPr/>
        </p:nvSpPr>
        <p:spPr>
          <a:xfrm>
            <a:off x="548640" y="3886200"/>
            <a:ext cx="4754880" cy="1024128"/>
          </a:xfrm>
          <a:prstGeom prst="rect">
            <a:avLst/>
          </a:prstGeom>
          <a:noFill/>
          <a:ln/>
        </p:spPr>
        <p:txBody>
          <a:bodyPr wrap="square" lIns="0" tIns="0" rIns="0" bIns="0" rtlCol="0" anchor="t"/>
          <a:lstStyle/>
          <a:p>
            <a:pPr marL="0" indent="0" algn="l">
              <a:lnSpc>
                <a:spcPct val="108000"/>
              </a:lnSpc>
              <a:buNone/>
            </a:pPr>
            <a:r>
              <a:rPr lang="en-US" sz="2000" b="1" dirty="0">
                <a:solidFill>
                  <a:srgbClr val="1C7293"/>
                </a:solidFill>
                <a:latin typeface="Cambria" pitchFamily="34" charset="0"/>
                <a:ea typeface="Cambria" pitchFamily="34" charset="-122"/>
                <a:cs typeface="Cambria" pitchFamily="34" charset="-120"/>
              </a:rPr>
              <a:t>Homogeneous:  </a:t>
            </a:r>
            <a:r>
              <a:rPr lang="en-US" dirty="0">
                <a:solidFill>
                  <a:srgbClr val="14213D"/>
                </a:solidFill>
                <a:latin typeface="Garamond" pitchFamily="34" charset="0"/>
                <a:ea typeface="Garamond" pitchFamily="34" charset="-122"/>
                <a:cs typeface="Garamond" pitchFamily="34" charset="-120"/>
              </a:rPr>
              <a:t>Uniform composition throughout (a solution)</a:t>
            </a:r>
            <a:endParaRPr lang="en-US" sz="2000" dirty="0"/>
          </a:p>
        </p:txBody>
      </p:sp>
      <p:sp>
        <p:nvSpPr>
          <p:cNvPr id="8" name="Text 6"/>
          <p:cNvSpPr/>
          <p:nvPr/>
        </p:nvSpPr>
        <p:spPr>
          <a:xfrm>
            <a:off x="6172200" y="3886200"/>
            <a:ext cx="4754880" cy="1024128"/>
          </a:xfrm>
          <a:prstGeom prst="rect">
            <a:avLst/>
          </a:prstGeom>
          <a:noFill/>
          <a:ln/>
        </p:spPr>
        <p:txBody>
          <a:bodyPr wrap="square" lIns="0" tIns="0" rIns="0" bIns="0" rtlCol="0" anchor="t"/>
          <a:lstStyle/>
          <a:p>
            <a:pPr marL="0" indent="0" algn="l">
              <a:lnSpc>
                <a:spcPct val="108000"/>
              </a:lnSpc>
              <a:buNone/>
            </a:pPr>
            <a:r>
              <a:rPr lang="en-US" sz="2000" b="1" dirty="0">
                <a:solidFill>
                  <a:srgbClr val="1C7293"/>
                </a:solidFill>
                <a:latin typeface="Cambria" pitchFamily="34" charset="0"/>
                <a:ea typeface="Cambria" pitchFamily="34" charset="-122"/>
                <a:cs typeface="Cambria" pitchFamily="34" charset="-120"/>
              </a:rPr>
              <a:t>Heterogeneous:  </a:t>
            </a:r>
            <a:r>
              <a:rPr lang="en-US" dirty="0">
                <a:solidFill>
                  <a:srgbClr val="14213D"/>
                </a:solidFill>
                <a:latin typeface="Garamond" pitchFamily="34" charset="0"/>
                <a:ea typeface="Garamond" pitchFamily="34" charset="-122"/>
                <a:cs typeface="Garamond" pitchFamily="34" charset="-120"/>
              </a:rPr>
              <a:t>Non-uniform composition; components stay distinct</a:t>
            </a:r>
            <a:endParaRPr lang="en-US" sz="2000" dirty="0"/>
          </a:p>
        </p:txBody>
      </p:sp>
      <p:sp>
        <p:nvSpPr>
          <p:cNvPr id="9" name="Text 7"/>
          <p:cNvSpPr/>
          <p:nvPr/>
        </p:nvSpPr>
        <p:spPr>
          <a:xfrm>
            <a:off x="548640" y="4983480"/>
            <a:ext cx="4754880" cy="1024128"/>
          </a:xfrm>
          <a:prstGeom prst="rect">
            <a:avLst/>
          </a:prstGeom>
          <a:noFill/>
          <a:ln/>
        </p:spPr>
        <p:txBody>
          <a:bodyPr wrap="square" lIns="0" tIns="0" rIns="0" bIns="0" rtlCol="0" anchor="t"/>
          <a:lstStyle/>
          <a:p>
            <a:pPr marL="0" indent="0" algn="l">
              <a:lnSpc>
                <a:spcPct val="108000"/>
              </a:lnSpc>
              <a:buNone/>
            </a:pPr>
            <a:r>
              <a:rPr lang="en-US" sz="2000" b="1" dirty="0">
                <a:solidFill>
                  <a:srgbClr val="1C7293"/>
                </a:solidFill>
                <a:latin typeface="Cambria" pitchFamily="34" charset="0"/>
                <a:ea typeface="Cambria" pitchFamily="34" charset="-122"/>
                <a:cs typeface="Cambria" pitchFamily="34" charset="-120"/>
              </a:rPr>
              <a:t>Physical change:  </a:t>
            </a:r>
            <a:r>
              <a:rPr lang="en-US" dirty="0">
                <a:solidFill>
                  <a:srgbClr val="14213D"/>
                </a:solidFill>
                <a:latin typeface="Garamond" pitchFamily="34" charset="0"/>
                <a:ea typeface="Garamond" pitchFamily="34" charset="-122"/>
                <a:cs typeface="Garamond" pitchFamily="34" charset="-120"/>
              </a:rPr>
              <a:t>Alters form/appearance, not composition</a:t>
            </a:r>
            <a:endParaRPr lang="en-US" sz="2000" dirty="0"/>
          </a:p>
        </p:txBody>
      </p:sp>
      <p:sp>
        <p:nvSpPr>
          <p:cNvPr id="10" name="Text 8"/>
          <p:cNvSpPr/>
          <p:nvPr/>
        </p:nvSpPr>
        <p:spPr>
          <a:xfrm>
            <a:off x="6172200" y="4983480"/>
            <a:ext cx="4754880" cy="1024128"/>
          </a:xfrm>
          <a:prstGeom prst="rect">
            <a:avLst/>
          </a:prstGeom>
          <a:noFill/>
          <a:ln/>
        </p:spPr>
        <p:txBody>
          <a:bodyPr wrap="square" lIns="0" tIns="0" rIns="0" bIns="0" rtlCol="0" anchor="t"/>
          <a:lstStyle/>
          <a:p>
            <a:pPr marL="0" indent="0" algn="l">
              <a:lnSpc>
                <a:spcPct val="108000"/>
              </a:lnSpc>
              <a:buNone/>
            </a:pPr>
            <a:r>
              <a:rPr lang="en-US" sz="2000" b="1" dirty="0">
                <a:solidFill>
                  <a:srgbClr val="1C7293"/>
                </a:solidFill>
                <a:latin typeface="Cambria" pitchFamily="34" charset="0"/>
                <a:ea typeface="Cambria" pitchFamily="34" charset="-122"/>
                <a:cs typeface="Cambria" pitchFamily="34" charset="-120"/>
              </a:rPr>
              <a:t>Chemical change:  </a:t>
            </a:r>
            <a:r>
              <a:rPr lang="en-US" dirty="0">
                <a:solidFill>
                  <a:srgbClr val="14213D"/>
                </a:solidFill>
                <a:latin typeface="Garamond" pitchFamily="34" charset="0"/>
                <a:ea typeface="Garamond" pitchFamily="34" charset="-122"/>
                <a:cs typeface="Garamond" pitchFamily="34" charset="-120"/>
              </a:rPr>
              <a:t>Produces a new substance with new properties</a:t>
            </a:r>
            <a:endParaRPr lang="en-US" sz="2000" dirty="0"/>
          </a:p>
        </p:txBody>
      </p:sp>
      <p:sp>
        <p:nvSpPr>
          <p:cNvPr id="11" name="Text 9"/>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5B6B7A"/>
                </a:solidFill>
                <a:latin typeface="Garamond" pitchFamily="34" charset="0"/>
                <a:ea typeface="Garamond" pitchFamily="34" charset="-122"/>
                <a:cs typeface="Garamond" pitchFamily="34" charset="-120"/>
              </a:rPr>
              <a:t>CHEM 101 · Topic 3: Matter and Energy</a:t>
            </a:r>
            <a:endParaRPr lang="en-US" sz="1000" dirty="0"/>
          </a:p>
        </p:txBody>
      </p:sp>
      <p:sp>
        <p:nvSpPr>
          <p:cNvPr id="12" name="Text 10"/>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5B6B7A"/>
                </a:solidFill>
                <a:latin typeface="Garamond" pitchFamily="34" charset="0"/>
                <a:ea typeface="Garamond" pitchFamily="34" charset="-122"/>
                <a:cs typeface="Garamond"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22960" y="502920"/>
            <a:ext cx="10543032"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Summary &amp; What’s Next</a:t>
            </a:r>
            <a:endParaRPr lang="en-US" sz="3200" dirty="0"/>
          </a:p>
        </p:txBody>
      </p:sp>
      <p:sp>
        <p:nvSpPr>
          <p:cNvPr id="3" name="Text 1"/>
          <p:cNvSpPr/>
          <p:nvPr/>
        </p:nvSpPr>
        <p:spPr>
          <a:xfrm>
            <a:off x="822960" y="1417320"/>
            <a:ext cx="10058400" cy="2743200"/>
          </a:xfrm>
          <a:prstGeom prst="rect">
            <a:avLst/>
          </a:prstGeom>
          <a:noFill/>
          <a:ln/>
        </p:spPr>
        <p:txBody>
          <a:bodyPr wrap="square" lIns="0" tIns="0" rIns="0" bIns="0" rtlCol="0" anchor="t"/>
          <a:lstStyle/>
          <a:p>
            <a:pPr marL="342900" indent="-342900" algn="l">
              <a:spcAft>
                <a:spcPts val="1200"/>
              </a:spcAft>
              <a:buSzPct val="100000"/>
              <a:buChar char="●"/>
            </a:pPr>
            <a:r>
              <a:rPr lang="en-US" sz="2000" dirty="0">
                <a:solidFill>
                  <a:srgbClr val="E7EEF3"/>
                </a:solidFill>
                <a:latin typeface="Garamond" pitchFamily="34" charset="0"/>
                <a:ea typeface="Garamond" pitchFamily="34" charset="-122"/>
                <a:cs typeface="Garamond" pitchFamily="34" charset="-120"/>
              </a:rPr>
              <a:t>Matter exists in states — solid, liquid, gas — determined by particle arrangement and energy</a:t>
            </a:r>
            <a:endParaRPr lang="en-US" sz="2000" dirty="0"/>
          </a:p>
          <a:p>
            <a:pPr marL="342900" indent="-342900" algn="l">
              <a:spcAft>
                <a:spcPts val="1200"/>
              </a:spcAft>
              <a:buSzPct val="100000"/>
              <a:buChar char="●"/>
            </a:pPr>
            <a:r>
              <a:rPr lang="en-US" sz="2000" dirty="0">
                <a:solidFill>
                  <a:srgbClr val="E7EEF3"/>
                </a:solidFill>
                <a:latin typeface="Garamond" pitchFamily="34" charset="0"/>
                <a:ea typeface="Garamond" pitchFamily="34" charset="-122"/>
                <a:cs typeface="Garamond" pitchFamily="34" charset="-120"/>
              </a:rPr>
              <a:t>Matter classifies into elements, compounds, and mixtures based on composition</a:t>
            </a:r>
            <a:endParaRPr lang="en-US" sz="2000" dirty="0"/>
          </a:p>
          <a:p>
            <a:pPr marL="342900" indent="-342900" algn="l">
              <a:spcAft>
                <a:spcPts val="1200"/>
              </a:spcAft>
              <a:buSzPct val="100000"/>
              <a:buChar char="●"/>
            </a:pPr>
            <a:r>
              <a:rPr lang="en-US" sz="2000" dirty="0">
                <a:solidFill>
                  <a:srgbClr val="E7EEF3"/>
                </a:solidFill>
                <a:latin typeface="Garamond" pitchFamily="34" charset="0"/>
                <a:ea typeface="Garamond" pitchFamily="34" charset="-122"/>
                <a:cs typeface="Garamond" pitchFamily="34" charset="-120"/>
              </a:rPr>
              <a:t>Physical changes alter form; chemical changes create new substances entirely</a:t>
            </a:r>
            <a:endParaRPr lang="en-US" sz="2000" dirty="0"/>
          </a:p>
          <a:p>
            <a:pPr marL="342900" indent="-342900" algn="l">
              <a:spcAft>
                <a:spcPts val="1200"/>
              </a:spcAft>
              <a:buSzPct val="100000"/>
              <a:buChar char="●"/>
            </a:pPr>
            <a:r>
              <a:rPr lang="en-US" sz="2000" dirty="0">
                <a:solidFill>
                  <a:srgbClr val="E7EEF3"/>
                </a:solidFill>
                <a:latin typeface="Garamond" pitchFamily="34" charset="0"/>
                <a:ea typeface="Garamond" pitchFamily="34" charset="-122"/>
                <a:cs typeface="Garamond" pitchFamily="34" charset="-120"/>
              </a:rPr>
              <a:t>Mass and energy are conserved in every physical and chemical change we’ll study</a:t>
            </a:r>
            <a:endParaRPr lang="en-US" sz="2000" dirty="0"/>
          </a:p>
        </p:txBody>
      </p:sp>
      <p:sp>
        <p:nvSpPr>
          <p:cNvPr id="4" name="Shape 2"/>
          <p:cNvSpPr/>
          <p:nvPr/>
        </p:nvSpPr>
        <p:spPr>
          <a:xfrm>
            <a:off x="822960" y="4617720"/>
            <a:ext cx="10543032" cy="1417320"/>
          </a:xfrm>
          <a:prstGeom prst="roundRect">
            <a:avLst>
              <a:gd name="adj" fmla="val 5806"/>
            </a:avLst>
          </a:prstGeom>
          <a:solidFill>
            <a:srgbClr val="1B2C52"/>
          </a:solidFill>
          <a:ln/>
        </p:spPr>
        <p:txBody>
          <a:bodyPr/>
          <a:lstStyle/>
          <a:p>
            <a:endParaRPr lang="en-US"/>
          </a:p>
        </p:txBody>
      </p:sp>
      <p:sp>
        <p:nvSpPr>
          <p:cNvPr id="5" name="Text 3"/>
          <p:cNvSpPr/>
          <p:nvPr/>
        </p:nvSpPr>
        <p:spPr>
          <a:xfrm>
            <a:off x="1097280" y="4727448"/>
            <a:ext cx="3657600" cy="365760"/>
          </a:xfrm>
          <a:prstGeom prst="rect">
            <a:avLst/>
          </a:prstGeom>
          <a:noFill/>
          <a:ln/>
        </p:spPr>
        <p:txBody>
          <a:bodyPr wrap="square" lIns="0" tIns="0" rIns="0" bIns="0" rtlCol="0" anchor="ctr"/>
          <a:lstStyle/>
          <a:p>
            <a:pPr marL="0" indent="0">
              <a:buNone/>
            </a:pPr>
            <a:r>
              <a:rPr lang="en-US" sz="1600" b="1" kern="0" spc="200" dirty="0">
                <a:solidFill>
                  <a:srgbClr val="F4A100"/>
                </a:solidFill>
                <a:latin typeface="Garamond" pitchFamily="34" charset="0"/>
                <a:ea typeface="Garamond" pitchFamily="34" charset="-122"/>
                <a:cs typeface="Garamond" pitchFamily="34" charset="-120"/>
              </a:rPr>
              <a:t>UP NEXT</a:t>
            </a:r>
            <a:endParaRPr lang="en-US" sz="1600" dirty="0"/>
          </a:p>
        </p:txBody>
      </p:sp>
      <p:sp>
        <p:nvSpPr>
          <p:cNvPr id="6" name="Text 4"/>
          <p:cNvSpPr/>
          <p:nvPr/>
        </p:nvSpPr>
        <p:spPr>
          <a:xfrm>
            <a:off x="1097280" y="5166360"/>
            <a:ext cx="10058400" cy="777240"/>
          </a:xfrm>
          <a:prstGeom prst="rect">
            <a:avLst/>
          </a:prstGeom>
          <a:noFill/>
          <a:ln/>
        </p:spPr>
        <p:txBody>
          <a:bodyPr wrap="square" lIns="0" tIns="0" rIns="0" bIns="0" rtlCol="0" anchor="t"/>
          <a:lstStyle/>
          <a:p>
            <a:pPr marL="0" indent="0">
              <a:lnSpc>
                <a:spcPct val="110000"/>
              </a:lnSpc>
              <a:buNone/>
            </a:pPr>
            <a:r>
              <a:rPr lang="en-US" sz="2000" dirty="0">
                <a:solidFill>
                  <a:srgbClr val="FFFFFF"/>
                </a:solidFill>
                <a:latin typeface="Garamond" pitchFamily="34" charset="0"/>
                <a:ea typeface="Garamond" pitchFamily="34" charset="-122"/>
                <a:cs typeface="Garamond" pitchFamily="34" charset="-120"/>
              </a:rPr>
              <a:t>Topic 4: Atomic Structure — history of atomic models, atomic notation and mass, energy levels and orbitals, and electron configurations.</a:t>
            </a:r>
            <a:endParaRPr lang="en-US" sz="2000" dirty="0"/>
          </a:p>
        </p:txBody>
      </p:sp>
      <p:sp>
        <p:nvSpPr>
          <p:cNvPr id="7" name="Text 5"/>
          <p:cNvSpPr/>
          <p:nvPr/>
        </p:nvSpPr>
        <p:spPr>
          <a:xfrm>
            <a:off x="457200" y="6473952"/>
            <a:ext cx="7315200" cy="292608"/>
          </a:xfrm>
          <a:prstGeom prst="rect">
            <a:avLst/>
          </a:prstGeom>
          <a:noFill/>
          <a:ln/>
        </p:spPr>
        <p:txBody>
          <a:bodyPr wrap="square" lIns="0" tIns="0" rIns="0" bIns="0" rtlCol="0" anchor="ctr"/>
          <a:lstStyle/>
          <a:p>
            <a:pPr marL="0" indent="0" algn="l">
              <a:buNone/>
            </a:pPr>
            <a:r>
              <a:rPr lang="en-US" sz="1000" dirty="0">
                <a:solidFill>
                  <a:srgbClr val="A9B7C9"/>
                </a:solidFill>
                <a:latin typeface="Garamond" pitchFamily="34" charset="0"/>
                <a:ea typeface="Garamond" pitchFamily="34" charset="-122"/>
                <a:cs typeface="Garamond" pitchFamily="34" charset="-120"/>
              </a:rPr>
              <a:t>CHEM 101 · Topic 3: Matter and Energy</a:t>
            </a:r>
            <a:endParaRPr lang="en-US" sz="1000" dirty="0"/>
          </a:p>
        </p:txBody>
      </p:sp>
      <p:sp>
        <p:nvSpPr>
          <p:cNvPr id="8" name="Text 6"/>
          <p:cNvSpPr/>
          <p:nvPr/>
        </p:nvSpPr>
        <p:spPr>
          <a:xfrm>
            <a:off x="11274552" y="6473952"/>
            <a:ext cx="457200" cy="292608"/>
          </a:xfrm>
          <a:prstGeom prst="rect">
            <a:avLst/>
          </a:prstGeom>
          <a:noFill/>
          <a:ln/>
        </p:spPr>
        <p:txBody>
          <a:bodyPr wrap="square" lIns="0" tIns="0" rIns="0" bIns="0" rtlCol="0" anchor="ctr"/>
          <a:lstStyle/>
          <a:p>
            <a:pPr marL="0" indent="0" algn="r">
              <a:buNone/>
            </a:pPr>
            <a:r>
              <a:rPr lang="en-US" sz="1000" dirty="0">
                <a:solidFill>
                  <a:srgbClr val="A9B7C9"/>
                </a:solidFill>
                <a:latin typeface="Garamond" pitchFamily="34" charset="0"/>
                <a:ea typeface="Garamond" pitchFamily="34" charset="-122"/>
                <a:cs typeface="Garamond"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1864</Words>
  <Application>Microsoft Macintosh PowerPoint</Application>
  <PresentationFormat>Widescreen</PresentationFormat>
  <Paragraphs>222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Cambria</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Patridge, Christopher</cp:lastModifiedBy>
  <cp:revision>2</cp:revision>
  <dcterms:created xsi:type="dcterms:W3CDTF">2026-09-06T10:41:03Z</dcterms:created>
  <dcterms:modified xsi:type="dcterms:W3CDTF">2026-09-19T14:48:16Z</dcterms:modified>
</cp:coreProperties>
</file>
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F4A1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ELEMENTS OF GENERAL CHEMISTRY 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12: Introduction to Organic Chemistry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Carbon, the element behind medicine, biology, and life itself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6B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Asynchronous Online Lecture  ·  Time Permitting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covered in this lecture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icon_ato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" y="183337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1682496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chemistry "organic" —  </a:t>
            </a:r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Carbon’s unique bonding ability, and how it differs from inorganic chemistry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9077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1" descr="icon_lin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" y="3003804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2852928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Hydrocarbons —  </a:t>
            </a:r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The simplest organic compounds: alkanes, alkenes, and alkynes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407822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2" descr="icon_flas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" y="4174236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07008" y="4023360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groups —  </a:t>
            </a:r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The small structural pieces that give organic molecules their properties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48640" y="52486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3" descr="icon_exchang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5344668"/>
            <a:ext cx="265176" cy="2651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07008" y="5193792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Isomers and biomolecules —  </a:t>
            </a:r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Why structure matters, and the four organic molecules that build the body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12: Introduction to Organic Chemistry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Organic Chemistry Matters in Healthcare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97510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_pill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349" y="2091781"/>
            <a:ext cx="296997" cy="2969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616" y="1938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Carbon-Based Medications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" y="2633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vast majority of medications are organic molecules — a carbon backbone with specific functional groups that determine how they work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36208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73952" y="1975104"/>
            <a:ext cx="530352" cy="530352"/>
          </a:xfrm>
          <a:prstGeom prst="ellipse">
            <a:avLst/>
          </a:prstGeom>
          <a:solidFill>
            <a:srgbClr val="F4A100"/>
          </a:solidFill>
          <a:ln/>
        </p:spPr>
      </p:sp>
      <p:pic>
        <p:nvPicPr>
          <p:cNvPr id="10" name="Image 1" descr="icon_heartbea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629" y="2091781"/>
            <a:ext cx="296997" cy="2969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68896" y="1938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Biomolecules &amp; the Body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73952" y="2633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Carbohydrates, proteins, lipids, and nucleic acids — the molecules that build the body itself — are all organic compounds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66928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04672" y="4261104"/>
            <a:ext cx="530352" cy="530352"/>
          </a:xfrm>
          <a:prstGeom prst="ellipse">
            <a:avLst/>
          </a:prstGeom>
          <a:solidFill>
            <a:srgbClr val="A52C29"/>
          </a:solidFill>
          <a:ln/>
        </p:spPr>
      </p:sp>
      <p:pic>
        <p:nvPicPr>
          <p:cNvPr id="15" name="Image 2" descr="icon_listO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49" y="4377781"/>
            <a:ext cx="296997" cy="29699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99616" y="4224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Drug Names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04672" y="4919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Functional groups often show up right in a drug’s name — the "-ol" in propofol or menthol signals an alcohol group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36208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73952" y="426110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icon_syring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629" y="4377781"/>
            <a:ext cx="296997" cy="29699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68896" y="4224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 Fluids &amp; Organic Solutes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473952" y="4919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Dextrose, a common IV solute, is an organic sugar — the same category of molecule covered in this lecture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12: Introduction to Organic Chemistry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icon_ato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Chemistry "Organic"?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One element, carbon, is responsible for an entire branch of chemistry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12: Introduction to Organic Chemistry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Carbon: The Backbone of Life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icon_hasht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97053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196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Bonds, Every Time —  </a:t>
            </a:r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carbon has 4 valence electrons (Topic 5) and almost always forms 4 covalent bonds (Topic 10).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</p:sp>
      <p:pic>
        <p:nvPicPr>
          <p:cNvPr id="7" name="Image 1" descr="icon_lin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325069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998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Bonds to Itself —  </a:t>
            </a:r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unlike most elements, carbon readily bonds to other carbon atoms, forming long chains, branches, and rings.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A52C29"/>
          </a:solidFill>
          <a:ln/>
        </p:spPr>
      </p:sp>
      <p:pic>
        <p:nvPicPr>
          <p:cNvPr id="10" name="Image 2" descr="icon_ato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4530852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799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Enormous Diversity —  </a:t>
            </a:r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that self-bonding ability is why chemists have identified more organic compounds than every other type of compound combined.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12: Introduction to Organic Chemistry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Organic vs. Inorganic Chemistry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3840480"/>
        </p:xfrm>
        <a:graphic>
          <a:graphicData uri="http://schemas.openxmlformats.org/drawingml/2006/table">
            <a:tbl>
              <a:tblPr/>
              <a:tblGrid>
                <a:gridCol w="3108960"/>
                <a:gridCol w="4078224"/>
                <a:gridCol w="4087368"/>
              </a:tblGrid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Organic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Inorganic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Primary element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Carbon, with H, O, N common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Any element; rarely carbon-based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Typical bonding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Almost always covalent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Often ionic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Commonly found in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Living things and their derivatives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Minerals, salts, metals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Example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Glucose (C₆H₁₂O₆)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Table salt (NaCl)</a:t>
                      </a:r>
                      <a:endParaRPr lang="en-US" sz="13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12: Introduction to Organic Chemistry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F4A100"/>
          </a:solidFill>
          <a:ln/>
        </p:spPr>
      </p:sp>
      <p:pic>
        <p:nvPicPr>
          <p:cNvPr id="3" name="Image 0" descr="icon_lin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Hydrocarbons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simplest organic compounds — just carbon and hydrogen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12: Introduction to Organic Chemistry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Alkanes, Alkenes, and Alkynes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3108960"/>
        </p:xfrm>
        <a:graphic>
          <a:graphicData uri="http://schemas.openxmlformats.org/drawingml/2006/table">
            <a:tbl>
              <a:tblPr/>
              <a:tblGrid>
                <a:gridCol w="2286000"/>
                <a:gridCol w="2834640"/>
                <a:gridCol w="2862072"/>
                <a:gridCol w="329184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Type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Carbon-Carbon Bond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General Formula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Example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Alkane</a:t>
                      </a:r>
                      <a:endParaRPr lang="en-US" sz="13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Single bond</a:t>
                      </a:r>
                      <a:endParaRPr lang="en-US" sz="13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CₙH₂ₙ₊₂</a:t>
                      </a:r>
                      <a:endParaRPr lang="en-US" sz="13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Methane (CH₄)</a:t>
                      </a:r>
                      <a:endParaRPr lang="en-US" sz="13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Alkene</a:t>
                      </a:r>
                      <a:endParaRPr lang="en-US" sz="13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Double bond</a:t>
                      </a:r>
                      <a:endParaRPr lang="en-US" sz="13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CₙH₂ₙ</a:t>
                      </a:r>
                      <a:endParaRPr lang="en-US" sz="13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Ethylene (C₂H₄)</a:t>
                      </a:r>
                      <a:endParaRPr lang="en-US" sz="13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Alkyne</a:t>
                      </a:r>
                      <a:endParaRPr lang="en-US" sz="13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Triple bond</a:t>
                      </a:r>
                      <a:endParaRPr lang="en-US" sz="13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CₙH₂ₙ₋₂</a:t>
                      </a:r>
                      <a:endParaRPr lang="en-US" sz="13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Acetylene (C₂H₂)</a:t>
                      </a:r>
                      <a:endParaRPr lang="en-US" sz="13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0749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more bonds shared between two carbons, the fewer hydrogens fit around them — that’s why the general formulas shrink from alkane to alkyne.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12: Introduction to Organic Chemistry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Simple Alkanes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icon_list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97053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196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Prefix Tells You the Chain Length —  </a:t>
            </a:r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meth- (1 carbon), eth- (2), prop- (3), but- (4) — the same prefixes used throughout organic chemistry.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</p:sp>
      <p:pic>
        <p:nvPicPr>
          <p:cNvPr id="7" name="Image 1" descr="icon_hashta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325069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998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Suffix Tells You the Bond Type —  </a:t>
            </a:r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"-ane" for all single bonds, "-ene" for a double bond, "-yne" for a triple bond (Topic 6’s naming logic, extended to carbon chains).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44348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1F6F8"/>
          </a:solidFill>
          <a:ln/>
        </p:spPr>
      </p:sp>
      <p:sp>
        <p:nvSpPr>
          <p:cNvPr id="10" name="Text 6"/>
          <p:cNvSpPr/>
          <p:nvPr/>
        </p:nvSpPr>
        <p:spPr>
          <a:xfrm>
            <a:off x="914400" y="45720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four alkanes:  </a:t>
            </a:r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methane (CH₄), ethane (C₂H₆), propane (C₃H₈), and butane (C₄H₁₀) — familiar as the fuels in stoves, grills, and lighters.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12: Introduction to Organic Chemistry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A52C29"/>
          </a:solidFill>
          <a:ln/>
        </p:spPr>
      </p:sp>
      <p:pic>
        <p:nvPicPr>
          <p:cNvPr id="3" name="Image 0" descr="icon_flas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Groups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small structural pieces that give an organic molecule its properties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12: Introduction to Organic Chemistry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Functional Groups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4552" cy="4709160"/>
        </p:xfrm>
        <a:graphic>
          <a:graphicData uri="http://schemas.openxmlformats.org/drawingml/2006/table">
            <a:tbl>
              <a:tblPr/>
              <a:tblGrid>
                <a:gridCol w="4206240"/>
                <a:gridCol w="3108960"/>
                <a:gridCol w="3959352"/>
              </a:tblGrid>
              <a:tr h="5886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Functional Group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Structure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Example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Hydroxyl (alcohol)</a:t>
                      </a:r>
                      <a:endParaRPr lang="en-US" sz="12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–OH</a:t>
                      </a:r>
                      <a:endParaRPr lang="en-US" sz="12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Ethanol</a:t>
                      </a:r>
                      <a:endParaRPr lang="en-US" sz="12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Aldehyde</a:t>
                      </a:r>
                      <a:endParaRPr lang="en-US" sz="12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–CHO</a:t>
                      </a:r>
                      <a:endParaRPr lang="en-US" sz="12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Acetaldehyde</a:t>
                      </a:r>
                      <a:endParaRPr lang="en-US" sz="12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Carbonyl (ketone)</a:t>
                      </a:r>
                      <a:endParaRPr lang="en-US" sz="12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C=O</a:t>
                      </a:r>
                      <a:endParaRPr lang="en-US" sz="12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Acetone</a:t>
                      </a:r>
                      <a:endParaRPr lang="en-US" sz="12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Carboxyl (carboxylic acid)</a:t>
                      </a:r>
                      <a:endParaRPr lang="en-US" sz="12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–COOH</a:t>
                      </a:r>
                      <a:endParaRPr lang="en-US" sz="12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Acetic acid</a:t>
                      </a:r>
                      <a:endParaRPr lang="en-US" sz="12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Ester</a:t>
                      </a:r>
                      <a:endParaRPr lang="en-US" sz="12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–COO–</a:t>
                      </a:r>
                      <a:endParaRPr lang="en-US" sz="12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Triglycerides</a:t>
                      </a:r>
                      <a:endParaRPr lang="en-US" sz="12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Amine</a:t>
                      </a:r>
                      <a:endParaRPr lang="en-US" sz="12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–NH₂</a:t>
                      </a:r>
                      <a:endParaRPr lang="en-US" sz="12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Ethylamine</a:t>
                      </a:r>
                      <a:endParaRPr lang="en-US" sz="12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Thiol</a:t>
                      </a:r>
                      <a:endParaRPr lang="en-US" sz="12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–SH</a:t>
                      </a:r>
                      <a:endParaRPr lang="en-US" sz="12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Cysteine</a:t>
                      </a:r>
                      <a:endParaRPr lang="en-US" sz="12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12: Introduction to Organic Chemistry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Groups in Medicine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icon_flas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97053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196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Alcohols in Antiseptics —  </a:t>
            </a:r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isopropyl alcohol’s –OH group is exactly what makes it effective at disrupting and killing microbes on skin.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</p:sp>
      <p:pic>
        <p:nvPicPr>
          <p:cNvPr id="7" name="Image 1" descr="icon_pill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325069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998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Carboxylic Acids in Pain Relief —  </a:t>
            </a:r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aspirin’s carboxylic acid group is part of what allows it to be absorbed and metabolized in the body.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A52C29"/>
          </a:solidFill>
          <a:ln/>
        </p:spPr>
      </p:sp>
      <p:pic>
        <p:nvPicPr>
          <p:cNvPr id="10" name="Image 2" descr="icon_exchan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4530852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799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Amines in Many Drugs —  </a:t>
            </a:r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amine groups appear in epinephrine, many antihistamines, and countless other medications, often shaping how a drug interacts with its receptor.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12: Introduction to Organic Chemistry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icon_exchan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Isomers and Biomolecules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Why structure matters, and the organic molecules that build the body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12: Introduction to Organic Chemistry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Isomers: Same Formula, Different 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icon_exchan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97053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196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Atoms, Different Arrangement —  </a:t>
            </a:r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isomers share an identical molecular formula, but connect their atoms in different ways.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</p:sp>
      <p:pic>
        <p:nvPicPr>
          <p:cNvPr id="7" name="Image 1" descr="icon_exclamationTriang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325069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998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Structure, Different Properties —  </a:t>
            </a:r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even a small structural difference can completely change a molecule’s shape, reactivity, and biological effect.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A52C29"/>
          </a:solidFill>
          <a:ln/>
        </p:spPr>
      </p:sp>
      <p:pic>
        <p:nvPicPr>
          <p:cNvPr id="10" name="Image 2" descr="icon_pill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4530852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799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in Pharmacology —  </a:t>
            </a:r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sometimes only one isomer of a drug is active in the body, while another is inactive or even harmful — precise structure matters enormously.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12: Introduction to Organic Chemistry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Major Biomolecules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97510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_cub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349" y="2091781"/>
            <a:ext cx="296997" cy="2969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616" y="1938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Carbohydrates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" y="2633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Sugars and starches — the body’s primary and most readily available energy source (e.g., glucose)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36208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73952" y="1975104"/>
            <a:ext cx="530352" cy="530352"/>
          </a:xfrm>
          <a:prstGeom prst="ellipse">
            <a:avLst/>
          </a:prstGeom>
          <a:solidFill>
            <a:srgbClr val="F4A100"/>
          </a:solidFill>
          <a:ln/>
        </p:spPr>
      </p:sp>
      <p:pic>
        <p:nvPicPr>
          <p:cNvPr id="10" name="Image 1" descr="icon_ti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629" y="2091781"/>
            <a:ext cx="296997" cy="2969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68896" y="1938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Lipids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73952" y="2633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Fats and oils — triglycerides, the ester-linked fats measured on a lipid panel, are the body’s long-term energy store and the building blocks of every cell membrane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66928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04672" y="4261104"/>
            <a:ext cx="530352" cy="530352"/>
          </a:xfrm>
          <a:prstGeom prst="ellipse">
            <a:avLst/>
          </a:prstGeom>
          <a:solidFill>
            <a:srgbClr val="A52C29"/>
          </a:solidFill>
          <a:ln/>
        </p:spPr>
      </p:sp>
      <p:pic>
        <p:nvPicPr>
          <p:cNvPr id="15" name="Image 2" descr="icon_lin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49" y="4377781"/>
            <a:ext cx="296997" cy="29699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99616" y="4224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Proteins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04672" y="4919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Built from amino acids — provide structure, act as enzymes, and transport other molecules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36208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73952" y="426110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icon_brail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629" y="4377781"/>
            <a:ext cx="296997" cy="29699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68896" y="4224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Nucleic Acids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473952" y="4919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DNA and RNA — store and transmit the genetic information every cell relies 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12: Introduction to Organic Chemistry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to Know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5486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Organic chemistry:  </a:t>
            </a:r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study of carbon-based compounds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172200" y="1691640"/>
            <a:ext cx="5486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Hydrocarbon:  </a:t>
            </a:r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compound made only of carbon and hydrogen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5486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Alkane / alkene / alkyne:  </a:t>
            </a:r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Hydrocarbons with single, double, or triple C–C bonds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172200" y="2788920"/>
            <a:ext cx="5486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group:  </a:t>
            </a:r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group of atoms giving a molecule specific properties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5486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Isomer:  </a:t>
            </a:r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compound sharing a formula but not a structure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172200" y="3886200"/>
            <a:ext cx="5486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Carbohydrate:  </a:t>
            </a:r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sugar or starch; the body’s primary energy source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4983480"/>
            <a:ext cx="5486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Protein:  </a:t>
            </a:r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molecule built from amino acids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72200" y="4983480"/>
            <a:ext cx="5486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Nucleic acid:  </a:t>
            </a:r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DNA or RNA; stores genetic information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12: Introduction to Organic Chemistry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 Through CHEM 101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5486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Introduction:  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scientific method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172200" y="1600200"/>
            <a:ext cx="5486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Fundamental Measurements:  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metric system, sig figs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5486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Matter and Energy:  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States, changes, conservation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72200" y="2395728"/>
            <a:ext cx="5486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Atomic Structure:  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Atomic models, electron configuration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191256"/>
            <a:ext cx="5486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Periodic Properties:  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periodic table, trends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72200" y="3191256"/>
            <a:ext cx="5486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Names and Formulas:  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Naming ionic &amp; covalent compounds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986784"/>
            <a:ext cx="5486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Chemical Reactions:  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Balancing equations, reaction types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172200" y="3986784"/>
            <a:ext cx="5486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Chemical Quantities:  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Moles, molar mass, molarity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4782312"/>
            <a:ext cx="5486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Stoichiometry:  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Mole-mole, mole-mass calculations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72200" y="4782312"/>
            <a:ext cx="5486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Chemical Bonds:  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Ionic, covalent, molecular shape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577840"/>
            <a:ext cx="5486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 Acids and Bases:  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pH, electrolytes, net ionic equations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72200" y="5577840"/>
            <a:ext cx="54864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 Organic Chemistry:  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Carbon, functional groups, biomolecules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12: Introduction to Organic Chemistry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Congratulations — You’ve Completed CHEM 101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You’ve built a foundation covering measurement, atomic structure, bonding, reactions, and quantitative chemistry</a:t>
            </a:r>
            <a:endParaRPr lang="en-US" sz="1600" dirty="0"/>
          </a:p>
          <a:p>
            <a:pPr algn="l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Every dosing calculation, IV rate, and lab value you’ll encounter traces back to the dimensional analysis and mole concepts from this course</a:t>
            </a:r>
            <a:endParaRPr lang="en-US" sz="1600" dirty="0"/>
          </a:p>
          <a:p>
            <a:pPr algn="l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Organic chemistry opens the door to biochemistry — the chemistry of the body itself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343400"/>
            <a:ext cx="10543032" cy="1600200"/>
          </a:xfrm>
          <a:prstGeom prst="roundRect">
            <a:avLst>
              <a:gd name="adj" fmla="val 5143"/>
            </a:avLst>
          </a:prstGeom>
          <a:solidFill>
            <a:srgbClr val="1B2C5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1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WHERE TO GO FROM HERE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489204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This course was designed to prepare you for CHEM 103 (General Chemistry I) if you continue your science coursework — and for the chemistry embedded in every nursing course still ahead of you.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12: Introduction to Organic Chemistry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2026-09-08T12:23:35Z</dcterms:created>
  <dcterms:modified xsi:type="dcterms:W3CDTF">2026-09-08T12:23:35Z</dcterms:modified>
</cp:coreProperties>
</file>
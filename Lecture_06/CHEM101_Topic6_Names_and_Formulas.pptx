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32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657562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9659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kern="0" spc="200" dirty="0">
                <a:solidFill>
                  <a:srgbClr val="F4A10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CHEM 101 · ELEMENTS OF GENERAL CHEMISTRY I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22960" y="242316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Topic 6: Names and Formulas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22960" y="34290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CFE3E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Translating between chemical formulas and their names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6035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8FA6BE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Asynchronous Online Lecture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covered in this lecture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457200" cy="457200"/>
          </a:xfrm>
          <a:prstGeom prst="ellipse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icon_lin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" y="1833372"/>
            <a:ext cx="265176" cy="26517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07008" y="1723136"/>
            <a:ext cx="9948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Naming ionic compounds —  </a:t>
            </a: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Fixed-charge metals, variable-charge metals, and polyatomic ions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548640" y="2907792"/>
            <a:ext cx="457200" cy="457200"/>
          </a:xfrm>
          <a:prstGeom prst="ellipse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1" descr="icon_wind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" y="3003804"/>
            <a:ext cx="265176" cy="26517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07008" y="2893568"/>
            <a:ext cx="9948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Binary compounds of nonmetals —  </a:t>
            </a: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The prefix system used to name compounds made of two nonmetals</a:t>
            </a:r>
            <a:endParaRPr lang="en-US" sz="2000" dirty="0"/>
          </a:p>
        </p:txBody>
      </p:sp>
      <p:sp>
        <p:nvSpPr>
          <p:cNvPr id="9" name="Shape 5"/>
          <p:cNvSpPr/>
          <p:nvPr/>
        </p:nvSpPr>
        <p:spPr>
          <a:xfrm>
            <a:off x="548640" y="4078224"/>
            <a:ext cx="457200" cy="457200"/>
          </a:xfrm>
          <a:prstGeom prst="ellipse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2" descr="icon_tint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652" y="4174236"/>
            <a:ext cx="265176" cy="26517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207008" y="4064000"/>
            <a:ext cx="9948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Acids, salts, and hydrates —  </a:t>
            </a: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Naming acids from their formulas, and naming compounds that carry water molecules</a:t>
            </a:r>
            <a:endParaRPr lang="en-US" sz="2000" dirty="0"/>
          </a:p>
        </p:txBody>
      </p:sp>
      <p:sp>
        <p:nvSpPr>
          <p:cNvPr id="12" name="Shape 7"/>
          <p:cNvSpPr/>
          <p:nvPr/>
        </p:nvSpPr>
        <p:spPr>
          <a:xfrm>
            <a:off x="548640" y="5248656"/>
            <a:ext cx="457200" cy="457200"/>
          </a:xfrm>
          <a:prstGeom prst="ellipse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3" descr="icon_exchange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4652" y="5344668"/>
            <a:ext cx="265176" cy="26517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207008" y="5234432"/>
            <a:ext cx="9948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Writing formulas from names —  </a:t>
            </a: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Working in both directions — from name to formula, and formula to name</a:t>
            </a:r>
            <a:endParaRPr lang="en-US" sz="2000" dirty="0"/>
          </a:p>
        </p:txBody>
      </p:sp>
      <p:sp>
        <p:nvSpPr>
          <p:cNvPr id="15" name="Text 9"/>
          <p:cNvSpPr/>
          <p:nvPr/>
        </p:nvSpPr>
        <p:spPr>
          <a:xfrm>
            <a:off x="457200" y="647395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CHEM 101 · Topic 6: Names and Formulas</a:t>
            </a:r>
            <a:endParaRPr lang="en-US" sz="1000" dirty="0"/>
          </a:p>
        </p:txBody>
      </p:sp>
      <p:sp>
        <p:nvSpPr>
          <p:cNvPr id="16" name="Text 10"/>
          <p:cNvSpPr/>
          <p:nvPr/>
        </p:nvSpPr>
        <p:spPr>
          <a:xfrm>
            <a:off x="11274552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Chemical Names &amp; Formulas matter in Healthcare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737360"/>
            <a:ext cx="5349240" cy="1965960"/>
          </a:xfrm>
          <a:prstGeom prst="roundRect">
            <a:avLst>
              <a:gd name="adj" fmla="val 4186"/>
            </a:avLst>
          </a:prstGeom>
          <a:solidFill>
            <a:srgbClr val="F1F6F8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04672" y="1975104"/>
            <a:ext cx="530352" cy="530352"/>
          </a:xfrm>
          <a:prstGeom prst="ellipse">
            <a:avLst/>
          </a:prstGeom>
          <a:solidFill>
            <a:schemeClr val="accent1">
              <a:lumMod val="50000"/>
            </a:scheme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icon_syring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1349" y="2091781"/>
            <a:ext cx="296997" cy="29699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99616" y="1938528"/>
            <a:ext cx="42153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IV &amp; Medication Labels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804672" y="2633472"/>
            <a:ext cx="4873752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IV bags list contents by chemical name — sodium chloride, dextrose — so naming rules help you confirm exactly what’s being given.</a:t>
            </a:r>
            <a:endParaRPr lang="en-US" dirty="0"/>
          </a:p>
        </p:txBody>
      </p:sp>
      <p:sp>
        <p:nvSpPr>
          <p:cNvPr id="8" name="Shape 5"/>
          <p:cNvSpPr/>
          <p:nvPr/>
        </p:nvSpPr>
        <p:spPr>
          <a:xfrm>
            <a:off x="6236208" y="1737360"/>
            <a:ext cx="5349240" cy="1965960"/>
          </a:xfrm>
          <a:prstGeom prst="roundRect">
            <a:avLst>
              <a:gd name="adj" fmla="val 4186"/>
            </a:avLst>
          </a:prstGeom>
          <a:solidFill>
            <a:srgbClr val="F1F6F8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6473952" y="1975104"/>
            <a:ext cx="530352" cy="530352"/>
          </a:xfrm>
          <a:prstGeom prst="ellipse">
            <a:avLst/>
          </a:prstGeom>
          <a:solidFill>
            <a:srgbClr val="F4A10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1" descr="icon_vial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0629" y="2091781"/>
            <a:ext cx="296997" cy="29699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168896" y="1938528"/>
            <a:ext cx="42153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Interpreting Lab Panels</a:t>
            </a:r>
            <a:endParaRPr lang="en-US" sz="2000" dirty="0"/>
          </a:p>
        </p:txBody>
      </p:sp>
      <p:sp>
        <p:nvSpPr>
          <p:cNvPr id="12" name="Text 8"/>
          <p:cNvSpPr/>
          <p:nvPr/>
        </p:nvSpPr>
        <p:spPr>
          <a:xfrm>
            <a:off x="6473952" y="2633472"/>
            <a:ext cx="4873752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Electrolyte panels report ions like sodium, chloride, and bicarbonate — the same ions and naming rules covered in this lecture.</a:t>
            </a:r>
            <a:endParaRPr lang="en-US" dirty="0"/>
          </a:p>
        </p:txBody>
      </p:sp>
      <p:sp>
        <p:nvSpPr>
          <p:cNvPr id="13" name="Shape 9"/>
          <p:cNvSpPr/>
          <p:nvPr/>
        </p:nvSpPr>
        <p:spPr>
          <a:xfrm>
            <a:off x="566928" y="4023360"/>
            <a:ext cx="5349240" cy="1965960"/>
          </a:xfrm>
          <a:prstGeom prst="roundRect">
            <a:avLst>
              <a:gd name="adj" fmla="val 4186"/>
            </a:avLst>
          </a:prstGeom>
          <a:solidFill>
            <a:srgbClr val="F1F6F8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804672" y="4261104"/>
            <a:ext cx="530352" cy="530352"/>
          </a:xfrm>
          <a:prstGeom prst="ellipse">
            <a:avLst/>
          </a:prstGeom>
          <a:solidFill>
            <a:srgbClr val="A52C2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2" descr="icon_pills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1349" y="4377781"/>
            <a:ext cx="296997" cy="296997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499616" y="4224528"/>
            <a:ext cx="42153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Naming Antacids &amp; Supplements</a:t>
            </a:r>
            <a:endParaRPr lang="en-US" sz="2000" dirty="0"/>
          </a:p>
        </p:txBody>
      </p:sp>
      <p:sp>
        <p:nvSpPr>
          <p:cNvPr id="17" name="Text 12"/>
          <p:cNvSpPr/>
          <p:nvPr/>
        </p:nvSpPr>
        <p:spPr>
          <a:xfrm>
            <a:off x="804672" y="4919472"/>
            <a:ext cx="4873752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Calcium carbonate, ferrous sulfate, magnesium hydroxide — active ingredients are all named using the conventions discussed in this lecture.</a:t>
            </a:r>
            <a:endParaRPr lang="en-US" dirty="0"/>
          </a:p>
        </p:txBody>
      </p:sp>
      <p:sp>
        <p:nvSpPr>
          <p:cNvPr id="18" name="Shape 13"/>
          <p:cNvSpPr/>
          <p:nvPr/>
        </p:nvSpPr>
        <p:spPr>
          <a:xfrm>
            <a:off x="6236208" y="4023360"/>
            <a:ext cx="5349240" cy="1965960"/>
          </a:xfrm>
          <a:prstGeom prst="roundRect">
            <a:avLst>
              <a:gd name="adj" fmla="val 4186"/>
            </a:avLst>
          </a:prstGeom>
          <a:solidFill>
            <a:srgbClr val="F1F6F8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4"/>
          <p:cNvSpPr/>
          <p:nvPr/>
        </p:nvSpPr>
        <p:spPr>
          <a:xfrm>
            <a:off x="6473952" y="4261104"/>
            <a:ext cx="530352" cy="530352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3" descr="icon_cloud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90629" y="4377781"/>
            <a:ext cx="296997" cy="296997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168896" y="4224528"/>
            <a:ext cx="42153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Hydrates in Pharmacy</a:t>
            </a:r>
            <a:endParaRPr lang="en-US" sz="2000" dirty="0"/>
          </a:p>
        </p:txBody>
      </p:sp>
      <p:sp>
        <p:nvSpPr>
          <p:cNvPr id="22" name="Text 16"/>
          <p:cNvSpPr/>
          <p:nvPr/>
        </p:nvSpPr>
        <p:spPr>
          <a:xfrm>
            <a:off x="6473952" y="4919472"/>
            <a:ext cx="4873752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Many dispensed salts are hydrates, like magnesium sulfate heptahydrate ("Epsom salt") — the attached water affects the compound’s weight and dosing.</a:t>
            </a:r>
            <a:endParaRPr lang="en-US" dirty="0"/>
          </a:p>
        </p:txBody>
      </p:sp>
      <p:sp>
        <p:nvSpPr>
          <p:cNvPr id="23" name="Text 17"/>
          <p:cNvSpPr/>
          <p:nvPr/>
        </p:nvSpPr>
        <p:spPr>
          <a:xfrm>
            <a:off x="457200" y="647395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CHEM 101 · Topic 6: Names and Formulas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11274552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67528" y="2148840"/>
            <a:ext cx="1463040" cy="1463040"/>
          </a:xfrm>
          <a:prstGeom prst="ellipse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icon_lin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6712" y="2478024"/>
            <a:ext cx="804672" cy="8046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3840480"/>
            <a:ext cx="10543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Naming Ionic Compounds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822960" y="4617720"/>
            <a:ext cx="10543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CFE3E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How a metal and a nonmetal combine into a name and a formula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457200" y="647395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9B7C9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CHEM 101 · Topic 6: Names and Formulas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274552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7C9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makes an Ionic Compound?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874520"/>
            <a:ext cx="457200" cy="457200"/>
          </a:xfrm>
          <a:prstGeom prst="ellipse">
            <a:avLst/>
          </a:prstGeom>
          <a:solidFill>
            <a:schemeClr val="accent1">
              <a:lumMod val="50000"/>
            </a:scheme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icon_exchang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" y="1970532"/>
            <a:ext cx="265176" cy="26517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98448" y="1819656"/>
            <a:ext cx="102229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Metal + Nonmetal —  </a:t>
            </a: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typically ionic compounds form when a metal transfers one or more electrons to a nonmetal and they form a cation (+) and an anion (-) (Topic 5).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640080" y="3154680"/>
            <a:ext cx="457200" cy="457200"/>
          </a:xfrm>
          <a:prstGeom prst="ellipse">
            <a:avLst/>
          </a:prstGeom>
          <a:solidFill>
            <a:srgbClr val="F4A10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1" descr="icon_balanceScal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092" y="3250692"/>
            <a:ext cx="265176" cy="26517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98448" y="3099816"/>
            <a:ext cx="102229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Cation + Anion —  </a:t>
            </a: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the resulting positive metal ion (cation) and negative nonmetal ion (anion) attract each other and lock into a fixed ratio so the </a:t>
            </a:r>
            <a:r>
              <a:rPr lang="en-US" u="sng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total # of positive charges = total # of negative charges</a:t>
            </a: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.</a:t>
            </a:r>
          </a:p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14213D"/>
                </a:solidFill>
                <a:latin typeface="Garamond" pitchFamily="34" charset="0"/>
              </a:rPr>
              <a:t>This is another example of conservation of mass (Total electrons doesn’t change, just transfer)</a:t>
            </a:r>
            <a:endParaRPr lang="en-US" sz="2000" dirty="0"/>
          </a:p>
        </p:txBody>
      </p:sp>
      <p:sp>
        <p:nvSpPr>
          <p:cNvPr id="9" name="Shape 5"/>
          <p:cNvSpPr/>
          <p:nvPr/>
        </p:nvSpPr>
        <p:spPr>
          <a:xfrm>
            <a:off x="640080" y="4434840"/>
            <a:ext cx="457200" cy="457200"/>
          </a:xfrm>
          <a:prstGeom prst="ellipse">
            <a:avLst/>
          </a:prstGeom>
          <a:solidFill>
            <a:srgbClr val="A52C2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2" descr="icon_listOl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092" y="4530852"/>
            <a:ext cx="265176" cy="26517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298448" y="4379976"/>
            <a:ext cx="102229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Naming Pattern —  </a:t>
            </a: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name the cation first, then the anion — changing the nonmetal’s ending to "-ide.”</a:t>
            </a:r>
          </a:p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14213D"/>
                </a:solidFill>
                <a:latin typeface="Garamond" pitchFamily="34" charset="0"/>
              </a:rPr>
              <a:t>There will be several examples to follow along with the course assignments.</a:t>
            </a:r>
            <a:endParaRPr lang="en-US" sz="2000" dirty="0"/>
          </a:p>
        </p:txBody>
      </p:sp>
      <p:sp>
        <p:nvSpPr>
          <p:cNvPr id="12" name="Text 7"/>
          <p:cNvSpPr/>
          <p:nvPr/>
        </p:nvSpPr>
        <p:spPr>
          <a:xfrm>
            <a:off x="457200" y="647395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CHEM 101 · Topic 6: Names and Formulas</a:t>
            </a:r>
            <a:endParaRPr lang="en-US" sz="1000" dirty="0"/>
          </a:p>
        </p:txBody>
      </p:sp>
      <p:sp>
        <p:nvSpPr>
          <p:cNvPr id="13" name="Text 8"/>
          <p:cNvSpPr/>
          <p:nvPr/>
        </p:nvSpPr>
        <p:spPr>
          <a:xfrm>
            <a:off x="11274552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Naming Binary Ionic Compounds: Fixed-Charge Metals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783080"/>
            <a:ext cx="457200" cy="457200"/>
          </a:xfrm>
          <a:prstGeom prst="ellipse">
            <a:avLst/>
          </a:prstGeom>
          <a:solidFill>
            <a:schemeClr val="accent1">
              <a:lumMod val="50000"/>
            </a:scheme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icon_hashtag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" y="1879092"/>
            <a:ext cx="265176" cy="26517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98448" y="1728216"/>
            <a:ext cx="102229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1 —  </a:t>
            </a: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identify the metal cation. Group 1 metals are always +1, Group 2 metals are always +2, and aluminum is always +3. (Topic 5)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640080" y="2880360"/>
            <a:ext cx="457200" cy="457200"/>
          </a:xfrm>
          <a:prstGeom prst="ellipse">
            <a:avLst/>
          </a:prstGeom>
          <a:solidFill>
            <a:srgbClr val="F4A10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1" descr="icon_wind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092" y="2976372"/>
            <a:ext cx="265176" cy="26517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98448" y="2825496"/>
            <a:ext cx="102229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2 —  </a:t>
            </a: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identify the nonmetal anion and change its ending to "-ide" (chlorine → chloride, oxygen → oxide).</a:t>
            </a:r>
            <a:endParaRPr lang="en-US" sz="2400" dirty="0"/>
          </a:p>
        </p:txBody>
      </p:sp>
      <p:sp>
        <p:nvSpPr>
          <p:cNvPr id="9" name="Shape 5"/>
          <p:cNvSpPr/>
          <p:nvPr/>
        </p:nvSpPr>
        <p:spPr>
          <a:xfrm>
            <a:off x="640080" y="3977640"/>
            <a:ext cx="457200" cy="457200"/>
          </a:xfrm>
          <a:prstGeom prst="ellipse">
            <a:avLst/>
          </a:prstGeom>
          <a:solidFill>
            <a:srgbClr val="A52C2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2" descr="icon_link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092" y="4073652"/>
            <a:ext cx="265176" cy="26517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298448" y="3922776"/>
            <a:ext cx="102229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3 —  </a:t>
            </a: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combine them, cation name first, then anion name — no charges, no prefixes.</a:t>
            </a:r>
            <a:endParaRPr lang="en-US" sz="2400" dirty="0"/>
          </a:p>
        </p:txBody>
      </p:sp>
      <p:sp>
        <p:nvSpPr>
          <p:cNvPr id="12" name="Shape 7"/>
          <p:cNvSpPr/>
          <p:nvPr/>
        </p:nvSpPr>
        <p:spPr>
          <a:xfrm>
            <a:off x="660400" y="495808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F1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8"/>
          <p:cNvSpPr/>
          <p:nvPr/>
        </p:nvSpPr>
        <p:spPr>
          <a:xfrm>
            <a:off x="934720" y="495808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Examples:  </a:t>
            </a: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NaCl → sodium chloride          MgO → magnesium oxide          AlF₃ → aluminum fluoride</a:t>
            </a:r>
            <a:endParaRPr lang="en-US" dirty="0"/>
          </a:p>
        </p:txBody>
      </p:sp>
      <p:sp>
        <p:nvSpPr>
          <p:cNvPr id="14" name="Text 9"/>
          <p:cNvSpPr/>
          <p:nvPr/>
        </p:nvSpPr>
        <p:spPr>
          <a:xfrm>
            <a:off x="457200" y="647395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CHEM 101 · Topic 6: Names and Formulas</a:t>
            </a:r>
            <a:endParaRPr lang="en-US" sz="1000" dirty="0"/>
          </a:p>
        </p:txBody>
      </p:sp>
      <p:sp>
        <p:nvSpPr>
          <p:cNvPr id="15" name="Text 10"/>
          <p:cNvSpPr/>
          <p:nvPr/>
        </p:nvSpPr>
        <p:spPr>
          <a:xfrm>
            <a:off x="11274552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Applied Example: Variable-Charge Metals (Iron + Oxygen)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5B6B7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Transition metals (All B groups) can form different charges in different compounds, so the name must specify which one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11091672" cy="1005840"/>
          </a:xfrm>
          <a:prstGeom prst="roundRect">
            <a:avLst>
              <a:gd name="adj" fmla="val 6364"/>
            </a:avLst>
          </a:prstGeom>
          <a:solidFill>
            <a:srgbClr val="F1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14934" y="2236531"/>
            <a:ext cx="1760220" cy="464698"/>
          </a:xfrm>
          <a:prstGeom prst="roundRect">
            <a:avLst>
              <a:gd name="adj" fmla="val 50000"/>
            </a:avLst>
          </a:prstGeom>
          <a:solidFill>
            <a:schemeClr val="accent1">
              <a:lumMod val="50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14934" y="2276856"/>
            <a:ext cx="17602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Given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496312" y="2020824"/>
            <a:ext cx="894283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Iron reacts with oxygen to form the compound Fe₂O₃.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548640" y="3108960"/>
            <a:ext cx="11091672" cy="1005840"/>
          </a:xfrm>
          <a:prstGeom prst="roundRect">
            <a:avLst>
              <a:gd name="adj" fmla="val 6364"/>
            </a:avLst>
          </a:prstGeom>
          <a:solidFill>
            <a:srgbClr val="F1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14934" y="3379531"/>
            <a:ext cx="1760220" cy="464698"/>
          </a:xfrm>
          <a:prstGeom prst="roundRect">
            <a:avLst>
              <a:gd name="adj" fmla="val 50000"/>
            </a:avLst>
          </a:prstGeom>
          <a:solidFill>
            <a:srgbClr val="F4A1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14934" y="3419856"/>
            <a:ext cx="17602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 the Charge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496312" y="3163824"/>
            <a:ext cx="894283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Oxide (6A) is always −2, and there are three of them (−6 total). To balance that, the two iron ions together must be +6 — so each iron ion is +3.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548640" y="4251960"/>
            <a:ext cx="11091672" cy="1005840"/>
          </a:xfrm>
          <a:prstGeom prst="roundRect">
            <a:avLst>
              <a:gd name="adj" fmla="val 6364"/>
            </a:avLst>
          </a:prstGeom>
          <a:solidFill>
            <a:srgbClr val="F1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14934" y="4522531"/>
            <a:ext cx="1760220" cy="464698"/>
          </a:xfrm>
          <a:prstGeom prst="roundRect">
            <a:avLst>
              <a:gd name="adj" fmla="val 50000"/>
            </a:avLst>
          </a:prstGeom>
          <a:solidFill>
            <a:srgbClr val="A52C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14934" y="4562856"/>
            <a:ext cx="17602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the Roman Numeral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496312" y="4306824"/>
            <a:ext cx="894283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Write the metal’s name followed by its charge in Roman numerals, in parentheses: iron(III).</a:t>
            </a: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548640" y="5394960"/>
            <a:ext cx="11091672" cy="1005840"/>
          </a:xfrm>
          <a:prstGeom prst="roundRect">
            <a:avLst>
              <a:gd name="adj" fmla="val 6364"/>
            </a:avLst>
          </a:prstGeom>
          <a:solidFill>
            <a:srgbClr val="F1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14934" y="5665531"/>
            <a:ext cx="1760220" cy="464698"/>
          </a:xfrm>
          <a:prstGeom prst="roundRect">
            <a:avLst>
              <a:gd name="adj" fmla="val 50000"/>
            </a:avLst>
          </a:prstGeom>
          <a:solidFill>
            <a:schemeClr val="accent1">
              <a:lumMod val="50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14934" y="5705856"/>
            <a:ext cx="17602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496312" y="5449824"/>
            <a:ext cx="894283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Fe₂O₃ is named iron(III) oxide — distinguishing it from iron(II) oxide, FeO.</a:t>
            </a: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CHEM 101 · Topic 6: Names and Formulas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274552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Polyatomic Ions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5B6B7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Polyatomic means a group of nonmetal atoms that carry a charge and act as a single unit — their names never change in compounds.</a:t>
            </a:r>
            <a:endParaRPr lang="en-US" sz="1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9539443"/>
              </p:ext>
            </p:extLst>
          </p:nvPr>
        </p:nvGraphicFramePr>
        <p:xfrm>
          <a:off x="822960" y="1874520"/>
          <a:ext cx="10543032" cy="3749039"/>
        </p:xfrm>
        <a:graphic>
          <a:graphicData uri="http://schemas.openxmlformats.org/drawingml/2006/table">
            <a:tbl>
              <a:tblPr/>
              <a:tblGrid>
                <a:gridCol w="4480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620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55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Name</a:t>
                      </a:r>
                      <a:endParaRPr lang="en-US" sz="1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Formula</a:t>
                      </a:r>
                      <a:endParaRPr lang="en-US" sz="1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Charge</a:t>
                      </a:r>
                      <a:endParaRPr lang="en-US" sz="1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55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14213D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Hydroxide</a:t>
                      </a:r>
                      <a:endParaRPr lang="en-US" sz="16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OH⁻</a:t>
                      </a:r>
                      <a:endParaRPr lang="en-US" sz="16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−1</a:t>
                      </a:r>
                      <a:endParaRPr lang="en-US" sz="16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55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14213D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Nitrate</a:t>
                      </a:r>
                      <a:endParaRPr lang="en-US" sz="16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NO₃⁻</a:t>
                      </a:r>
                      <a:endParaRPr lang="en-US" sz="16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−1</a:t>
                      </a:r>
                      <a:endParaRPr lang="en-US" sz="16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55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14213D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Sulfate</a:t>
                      </a:r>
                      <a:endParaRPr lang="en-US" sz="16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SO₄²⁻</a:t>
                      </a:r>
                      <a:endParaRPr lang="en-US" sz="16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−2</a:t>
                      </a:r>
                      <a:endParaRPr lang="en-US" sz="16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55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14213D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Carbonate</a:t>
                      </a:r>
                      <a:endParaRPr lang="en-US" sz="16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CO₃²⁻</a:t>
                      </a:r>
                      <a:endParaRPr lang="en-US" sz="16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−2</a:t>
                      </a:r>
                      <a:endParaRPr lang="en-US" sz="16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55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14213D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Phosphate</a:t>
                      </a:r>
                      <a:endParaRPr lang="en-US" sz="16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PO₄³⁻</a:t>
                      </a:r>
                      <a:endParaRPr lang="en-US" sz="16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−3</a:t>
                      </a:r>
                      <a:endParaRPr lang="en-US" sz="16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55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14213D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Ammonium</a:t>
                      </a:r>
                      <a:endParaRPr lang="en-US" sz="16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NH₄⁺</a:t>
                      </a:r>
                      <a:endParaRPr lang="en-US" sz="16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+1</a:t>
                      </a:r>
                      <a:endParaRPr lang="en-US" sz="16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47395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CHEM 101 · Topic 6: Names and Formulas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274552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Applied Example: Naming Ca(NO₃)₂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91640"/>
            <a:ext cx="11091672" cy="1024128"/>
          </a:xfrm>
          <a:prstGeom prst="roundRect">
            <a:avLst>
              <a:gd name="adj" fmla="val 6250"/>
            </a:avLst>
          </a:prstGeom>
          <a:solidFill>
            <a:srgbClr val="F1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94944" y="1971355"/>
            <a:ext cx="1600200" cy="464698"/>
          </a:xfrm>
          <a:prstGeom prst="roundRect">
            <a:avLst>
              <a:gd name="adj" fmla="val 50000"/>
            </a:avLst>
          </a:prstGeom>
          <a:solidFill>
            <a:schemeClr val="accent1">
              <a:lumMod val="50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93917" y="2011680"/>
            <a:ext cx="120225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Given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496312" y="1746504"/>
            <a:ext cx="89428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The compound is made of calcium ions (Ca²⁺) and nitrate ions (NO₃⁻).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548640" y="2862072"/>
            <a:ext cx="11091672" cy="1024128"/>
          </a:xfrm>
          <a:prstGeom prst="roundRect">
            <a:avLst>
              <a:gd name="adj" fmla="val 6250"/>
            </a:avLst>
          </a:prstGeom>
          <a:solidFill>
            <a:srgbClr val="F1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94944" y="3141787"/>
            <a:ext cx="1600200" cy="464698"/>
          </a:xfrm>
          <a:prstGeom prst="roundRect">
            <a:avLst>
              <a:gd name="adj" fmla="val 50000"/>
            </a:avLst>
          </a:prstGeom>
          <a:solidFill>
            <a:srgbClr val="F4A1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93917" y="3182112"/>
            <a:ext cx="120225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Balance Charges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496312" y="2916936"/>
            <a:ext cx="89428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Calcium is +2 and nitrate is −1, so two nitrate ions are needed to balance one calcium ion.</a:t>
            </a: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548640" y="4032504"/>
            <a:ext cx="11091672" cy="1024128"/>
          </a:xfrm>
          <a:prstGeom prst="roundRect">
            <a:avLst>
              <a:gd name="adj" fmla="val 6250"/>
            </a:avLst>
          </a:prstGeom>
          <a:solidFill>
            <a:srgbClr val="F1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94944" y="4312219"/>
            <a:ext cx="1600200" cy="464698"/>
          </a:xfrm>
          <a:prstGeom prst="roundRect">
            <a:avLst>
              <a:gd name="adj" fmla="val 50000"/>
            </a:avLst>
          </a:prstGeom>
          <a:solidFill>
            <a:srgbClr val="A52C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93917" y="4352544"/>
            <a:ext cx="120225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Write the Formula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496312" y="4087368"/>
            <a:ext cx="89428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Enclose the polyatomic ion in parentheses whenever more than one is needed: Ca(NO₃)₂.</a:t>
            </a: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548640" y="5202936"/>
            <a:ext cx="11091672" cy="1024128"/>
          </a:xfrm>
          <a:prstGeom prst="roundRect">
            <a:avLst>
              <a:gd name="adj" fmla="val 6250"/>
            </a:avLst>
          </a:prstGeom>
          <a:solidFill>
            <a:srgbClr val="F1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94944" y="5482651"/>
            <a:ext cx="1600200" cy="464698"/>
          </a:xfrm>
          <a:prstGeom prst="roundRect">
            <a:avLst>
              <a:gd name="adj" fmla="val 50000"/>
            </a:avLst>
          </a:prstGeom>
          <a:solidFill>
            <a:schemeClr val="accent1">
              <a:lumMod val="50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93917" y="5522976"/>
            <a:ext cx="120225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Name It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496312" y="5257800"/>
            <a:ext cx="89428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Calcium nitrate — polyatomic ion names are never changed, and never given an "-ide" ending.</a:t>
            </a: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CHEM 101 · Topic 6: Names and Formulas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274552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67528" y="2148840"/>
            <a:ext cx="1463040" cy="1463040"/>
          </a:xfrm>
          <a:prstGeom prst="ellipse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icon_wind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6712" y="2478024"/>
            <a:ext cx="804672" cy="8046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3840480"/>
            <a:ext cx="10543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Binary Compounds of Nonmetals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822960" y="4617720"/>
            <a:ext cx="10543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CFE3E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When two nonmetals combine, the naming system changes completely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457200" y="647395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9B7C9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CHEM 101 · Topic 6: Names and Formulas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274552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7C9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Naming Binary Molecular Compounds: The Prefix Addition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085596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5B6B7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Two nonmetals share electrons rather than transferring them, so their names use Greek prefixes instead of charges</a:t>
            </a:r>
            <a:endParaRPr lang="en-US" sz="1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965960"/>
          <a:ext cx="10543032" cy="2651760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877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03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Prefix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Number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Prefix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Number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14213D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mono-</a:t>
                      </a:r>
                      <a:endParaRPr lang="en-US" sz="135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4213D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1</a:t>
                      </a:r>
                      <a:endParaRPr lang="en-US" sz="135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14213D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penta-</a:t>
                      </a:r>
                      <a:endParaRPr lang="en-US" sz="135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4213D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5</a:t>
                      </a:r>
                      <a:endParaRPr lang="en-US" sz="135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14213D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di-</a:t>
                      </a:r>
                      <a:endParaRPr lang="en-US" sz="135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4213D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2</a:t>
                      </a:r>
                      <a:endParaRPr lang="en-US" sz="135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14213D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hexa-</a:t>
                      </a:r>
                      <a:endParaRPr lang="en-US" sz="135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4213D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6</a:t>
                      </a:r>
                      <a:endParaRPr lang="en-US" sz="135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14213D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tri-</a:t>
                      </a:r>
                      <a:endParaRPr lang="en-US" sz="135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4213D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3</a:t>
                      </a:r>
                      <a:endParaRPr lang="en-US" sz="135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14213D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hepta-</a:t>
                      </a:r>
                      <a:endParaRPr lang="en-US" sz="135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4213D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7</a:t>
                      </a:r>
                      <a:endParaRPr lang="en-US" sz="135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14213D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tetra-</a:t>
                      </a:r>
                      <a:endParaRPr lang="en-US" sz="135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4213D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4</a:t>
                      </a:r>
                      <a:endParaRPr lang="en-US" sz="135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14213D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octa-</a:t>
                      </a:r>
                      <a:endParaRPr lang="en-US" sz="135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4213D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8</a:t>
                      </a:r>
                      <a:endParaRPr lang="en-US" sz="135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22960" y="4892040"/>
            <a:ext cx="10543032" cy="1005840"/>
          </a:xfrm>
          <a:prstGeom prst="roundRect">
            <a:avLst>
              <a:gd name="adj" fmla="val 7273"/>
            </a:avLst>
          </a:prstGeom>
          <a:solidFill>
            <a:srgbClr val="F1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1097280" y="502920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Rule: </a:t>
            </a:r>
            <a:r>
              <a:rPr lang="en-US" sz="1600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the first element keeps its normal name (skip "mono-" on it); the second element gets the "-ide" ending with its prefix. "Mono-" IS used on the second element (carbon monoxide, CO).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57200" y="647395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CHEM 101 · Topic 6: Names and Formulas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274552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Another Example: Naming N₂O₄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783080"/>
            <a:ext cx="11091672" cy="1051560"/>
          </a:xfrm>
          <a:prstGeom prst="roundRect">
            <a:avLst>
              <a:gd name="adj" fmla="val 6087"/>
            </a:avLst>
          </a:prstGeom>
          <a:solidFill>
            <a:srgbClr val="F1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94944" y="2076511"/>
            <a:ext cx="1600200" cy="464698"/>
          </a:xfrm>
          <a:prstGeom prst="roundRect">
            <a:avLst>
              <a:gd name="adj" fmla="val 50000"/>
            </a:avLst>
          </a:prstGeom>
          <a:solidFill>
            <a:schemeClr val="accent1">
              <a:lumMod val="50000"/>
            </a:schemeClr>
          </a:solidFill>
          <a:ln/>
        </p:spPr>
        <p:txBody>
          <a:bodyPr/>
          <a:lstStyle/>
          <a:p>
            <a:endParaRPr lang="en-US" sz="2000"/>
          </a:p>
        </p:txBody>
      </p:sp>
      <p:sp>
        <p:nvSpPr>
          <p:cNvPr id="5" name="Text 3"/>
          <p:cNvSpPr/>
          <p:nvPr/>
        </p:nvSpPr>
        <p:spPr>
          <a:xfrm>
            <a:off x="893917" y="2116836"/>
            <a:ext cx="120225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Given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648712" y="1837944"/>
            <a:ext cx="7866888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The formula N₂O₄ has two nonmetals: nitrogen and oxygen.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548640" y="2990088"/>
            <a:ext cx="11091672" cy="1051560"/>
          </a:xfrm>
          <a:prstGeom prst="roundRect">
            <a:avLst>
              <a:gd name="adj" fmla="val 6087"/>
            </a:avLst>
          </a:prstGeom>
          <a:solidFill>
            <a:srgbClr val="F1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94944" y="3283519"/>
            <a:ext cx="1600200" cy="464698"/>
          </a:xfrm>
          <a:prstGeom prst="roundRect">
            <a:avLst>
              <a:gd name="adj" fmla="val 50000"/>
            </a:avLst>
          </a:prstGeom>
          <a:solidFill>
            <a:srgbClr val="F4A1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93917" y="3323844"/>
            <a:ext cx="120225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First Element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648712" y="3044952"/>
            <a:ext cx="7866888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Two nitrogen atoms → "dinitrogen." (Never drop the prefix on the first element if there’s more than one atom.)</a:t>
            </a: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548640" y="4197096"/>
            <a:ext cx="11091672" cy="1051560"/>
          </a:xfrm>
          <a:prstGeom prst="roundRect">
            <a:avLst>
              <a:gd name="adj" fmla="val 6087"/>
            </a:avLst>
          </a:prstGeom>
          <a:solidFill>
            <a:srgbClr val="F1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94944" y="4490527"/>
            <a:ext cx="1600200" cy="464698"/>
          </a:xfrm>
          <a:prstGeom prst="roundRect">
            <a:avLst>
              <a:gd name="adj" fmla="val 50000"/>
            </a:avLst>
          </a:prstGeom>
          <a:solidFill>
            <a:srgbClr val="A52C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93917" y="4530852"/>
            <a:ext cx="120225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Second Element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648712" y="4251960"/>
            <a:ext cx="7866888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Four oxygen atoms → "tetroxide." Notice the "a" in tetra- is dropped before the vowel in "oxide."</a:t>
            </a: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548640" y="5404104"/>
            <a:ext cx="11091672" cy="1051560"/>
          </a:xfrm>
          <a:prstGeom prst="roundRect">
            <a:avLst>
              <a:gd name="adj" fmla="val 6087"/>
            </a:avLst>
          </a:prstGeom>
          <a:solidFill>
            <a:srgbClr val="F1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94944" y="5697535"/>
            <a:ext cx="1600200" cy="464698"/>
          </a:xfrm>
          <a:prstGeom prst="roundRect">
            <a:avLst>
              <a:gd name="adj" fmla="val 50000"/>
            </a:avLst>
          </a:prstGeom>
          <a:solidFill>
            <a:schemeClr val="accent1">
              <a:lumMod val="50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93917" y="5737860"/>
            <a:ext cx="120225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648712" y="5458968"/>
            <a:ext cx="7866888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N₂O₄ is named dinitrogen tetroxide.</a:t>
            </a: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CHEM 101 · Topic 6: Names and Formulas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274552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67528" y="2148840"/>
            <a:ext cx="1463040" cy="1463040"/>
          </a:xfrm>
          <a:prstGeom prst="ellipse">
            <a:avLst/>
          </a:prstGeom>
          <a:solidFill>
            <a:srgbClr val="A52C2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icon_tin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6712" y="2478024"/>
            <a:ext cx="804672" cy="8046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3840480"/>
            <a:ext cx="10543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Acids, Salts &amp; Hydrates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822960" y="4617720"/>
            <a:ext cx="10543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FE3E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Special naming rules for compounds dissolved, formed by reaction, or bound to water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57200" y="647395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9B7C9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CHEM 101 · Topic 6: Names and Formulas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274552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7C9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7492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Naming Acids</a:t>
            </a:r>
          </a:p>
          <a:p>
            <a:pPr marL="0" indent="0" algn="l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	- </a:t>
            </a:r>
            <a:r>
              <a:rPr lang="en-US" sz="2400" dirty="0">
                <a:solidFill>
                  <a:srgbClr val="14213D"/>
                </a:solidFill>
                <a:latin typeface="Garamond" panose="02020404030301010803" pitchFamily="18" charset="0"/>
                <a:ea typeface="Cambria" pitchFamily="34" charset="-122"/>
                <a:cs typeface="Cambria" pitchFamily="34" charset="-120"/>
              </a:rPr>
              <a:t>Many common acids involve either the halogen group or polyatomic anions</a:t>
            </a:r>
            <a:endParaRPr lang="en-US" sz="3000" dirty="0">
              <a:latin typeface="Garamond" panose="02020404030301010803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828800"/>
            <a:ext cx="457200" cy="457200"/>
          </a:xfrm>
          <a:prstGeom prst="ellipse">
            <a:avLst/>
          </a:prstGeom>
          <a:solidFill>
            <a:schemeClr val="accent1">
              <a:lumMod val="50000"/>
            </a:scheme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icon_lin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" y="1924812"/>
            <a:ext cx="265176" cy="26517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98448" y="1804416"/>
            <a:ext cx="9603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Binary Acids —  </a:t>
            </a: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hydrogen + one nonmetal. Named "hydro-" + the nonmetal root + "-ic acid" (HCl → hydrochloric acid).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640080" y="3108960"/>
            <a:ext cx="457200" cy="457200"/>
          </a:xfrm>
          <a:prstGeom prst="ellipse">
            <a:avLst/>
          </a:prstGeom>
          <a:solidFill>
            <a:srgbClr val="F4A10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1" descr="icon_sun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092" y="3204972"/>
            <a:ext cx="265176" cy="26517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98448" y="3084576"/>
            <a:ext cx="9603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Oxyacids ending "-ate" —  </a:t>
            </a: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hydrogen + a polyatomic ion ending in "-ate" becomes an acid ending in "-ic acid" (sulfate → sulfuric acid).</a:t>
            </a:r>
            <a:endParaRPr lang="en-US" sz="2400" dirty="0"/>
          </a:p>
        </p:txBody>
      </p:sp>
      <p:sp>
        <p:nvSpPr>
          <p:cNvPr id="9" name="Shape 5"/>
          <p:cNvSpPr/>
          <p:nvPr/>
        </p:nvSpPr>
        <p:spPr>
          <a:xfrm>
            <a:off x="640080" y="4389120"/>
            <a:ext cx="457200" cy="457200"/>
          </a:xfrm>
          <a:prstGeom prst="ellipse">
            <a:avLst/>
          </a:prstGeom>
          <a:solidFill>
            <a:srgbClr val="A52C2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2" descr="icon_snowflak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092" y="4485132"/>
            <a:ext cx="265176" cy="26517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298448" y="4364736"/>
            <a:ext cx="9603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Oxyacids ending "-ite" —  </a:t>
            </a: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hydrogen + a polyatomic ion ending in "-ite" becomes an acid ending in "-ous acid" (nitrite → nitrous acid).</a:t>
            </a:r>
            <a:endParaRPr lang="en-US" sz="2400" dirty="0"/>
          </a:p>
        </p:txBody>
      </p:sp>
      <p:sp>
        <p:nvSpPr>
          <p:cNvPr id="12" name="Text 7"/>
          <p:cNvSpPr/>
          <p:nvPr/>
        </p:nvSpPr>
        <p:spPr>
          <a:xfrm>
            <a:off x="457200" y="647395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CHEM 101 · Topic 6: Names and Formulas</a:t>
            </a:r>
            <a:endParaRPr lang="en-US" sz="1000" dirty="0"/>
          </a:p>
        </p:txBody>
      </p:sp>
      <p:sp>
        <p:nvSpPr>
          <p:cNvPr id="13" name="Text 8"/>
          <p:cNvSpPr/>
          <p:nvPr/>
        </p:nvSpPr>
        <p:spPr>
          <a:xfrm>
            <a:off x="11274552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Applied Example: Naming H₂SO₄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965960"/>
            <a:ext cx="11091672" cy="1005840"/>
          </a:xfrm>
          <a:prstGeom prst="roundRect">
            <a:avLst>
              <a:gd name="adj" fmla="val 6364"/>
            </a:avLst>
          </a:prstGeom>
          <a:solidFill>
            <a:srgbClr val="F1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94944" y="2236531"/>
            <a:ext cx="1600200" cy="464698"/>
          </a:xfrm>
          <a:prstGeom prst="roundRect">
            <a:avLst>
              <a:gd name="adj" fmla="val 50000"/>
            </a:avLst>
          </a:prstGeom>
          <a:solidFill>
            <a:schemeClr val="accent1">
              <a:lumMod val="50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33805" y="2276856"/>
            <a:ext cx="132247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Given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496312" y="2020824"/>
            <a:ext cx="894283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H₂SO₄ is hydrogen combined with the sulfate ion, SO₄²⁻.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548640" y="3108960"/>
            <a:ext cx="11091672" cy="1005840"/>
          </a:xfrm>
          <a:prstGeom prst="roundRect">
            <a:avLst>
              <a:gd name="adj" fmla="val 6364"/>
            </a:avLst>
          </a:prstGeom>
          <a:solidFill>
            <a:srgbClr val="F1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94944" y="3379531"/>
            <a:ext cx="1600200" cy="464698"/>
          </a:xfrm>
          <a:prstGeom prst="roundRect">
            <a:avLst>
              <a:gd name="adj" fmla="val 50000"/>
            </a:avLst>
          </a:prstGeom>
          <a:solidFill>
            <a:srgbClr val="F4A1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33805" y="3419856"/>
            <a:ext cx="132247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the Ending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496312" y="3163824"/>
            <a:ext cx="894283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Sulfate ends in "-ate."</a:t>
            </a: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548640" y="4251960"/>
            <a:ext cx="11091672" cy="1005840"/>
          </a:xfrm>
          <a:prstGeom prst="roundRect">
            <a:avLst>
              <a:gd name="adj" fmla="val 6364"/>
            </a:avLst>
          </a:prstGeom>
          <a:solidFill>
            <a:srgbClr val="F1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94944" y="4522531"/>
            <a:ext cx="1600200" cy="464698"/>
          </a:xfrm>
          <a:prstGeom prst="roundRect">
            <a:avLst>
              <a:gd name="adj" fmla="val 50000"/>
            </a:avLst>
          </a:prstGeom>
          <a:solidFill>
            <a:srgbClr val="A52C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33805" y="4562856"/>
            <a:ext cx="132247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Apply the Rule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496312" y="4306824"/>
            <a:ext cx="894283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An "-ate" polyatomic ion becomes an "-ic acid" when named as an acid.</a:t>
            </a: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548640" y="5394960"/>
            <a:ext cx="11091672" cy="1005840"/>
          </a:xfrm>
          <a:prstGeom prst="roundRect">
            <a:avLst>
              <a:gd name="adj" fmla="val 6364"/>
            </a:avLst>
          </a:prstGeom>
          <a:solidFill>
            <a:srgbClr val="F1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94944" y="5665531"/>
            <a:ext cx="1600200" cy="464698"/>
          </a:xfrm>
          <a:prstGeom prst="roundRect">
            <a:avLst>
              <a:gd name="adj" fmla="val 50000"/>
            </a:avLst>
          </a:prstGeom>
          <a:solidFill>
            <a:schemeClr val="accent1">
              <a:lumMod val="50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33805" y="5705856"/>
            <a:ext cx="132247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496312" y="5449824"/>
            <a:ext cx="894283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H₂SO₄ is named sulfuric acid.</a:t>
            </a: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CHEM 101 · Topic 6: Names and Formulas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274552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Salts and Hydrates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92074" y="1780794"/>
            <a:ext cx="553212" cy="553212"/>
          </a:xfrm>
          <a:prstGeom prst="ellipse">
            <a:avLst/>
          </a:prstGeom>
          <a:solidFill>
            <a:schemeClr val="accent1">
              <a:lumMod val="50000"/>
            </a:scheme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icon_cube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558" y="1863278"/>
            <a:ext cx="388244" cy="3882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98448" y="1773936"/>
            <a:ext cx="102229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Salts —  </a:t>
            </a: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ionic compounds formed from the reaction of an acid and a base. Named the same way as any other ionic compound (NaCl, table salt). The word “salt” is used for any ionic compound not just Sodium Chloride.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592074" y="3060954"/>
            <a:ext cx="553212" cy="553212"/>
          </a:xfrm>
          <a:prstGeom prst="ellipse">
            <a:avLst/>
          </a:prstGeom>
          <a:solidFill>
            <a:srgbClr val="F4A10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1" descr="icon_cloud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558" y="3143438"/>
            <a:ext cx="388244" cy="38824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98448" y="3054096"/>
            <a:ext cx="102229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Hydrates —  </a:t>
            </a: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ionic compounds with a specific number of water molecules built into their crystal structure, shown with a dot in the formula (CuSO₄ · 5H₂O).</a:t>
            </a:r>
            <a:endParaRPr lang="en-US" sz="2400" dirty="0"/>
          </a:p>
        </p:txBody>
      </p:sp>
      <p:sp>
        <p:nvSpPr>
          <p:cNvPr id="9" name="Shape 5"/>
          <p:cNvSpPr/>
          <p:nvPr/>
        </p:nvSpPr>
        <p:spPr>
          <a:xfrm>
            <a:off x="592074" y="4341114"/>
            <a:ext cx="553212" cy="553212"/>
          </a:xfrm>
          <a:prstGeom prst="ellipse">
            <a:avLst/>
          </a:prstGeom>
          <a:solidFill>
            <a:srgbClr val="A52C2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2" descr="icon_listOl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4558" y="4423598"/>
            <a:ext cx="388244" cy="38824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298448" y="4334256"/>
            <a:ext cx="102229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Naming Hydrates —  </a:t>
            </a: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name the ionic compound first, then add a Greek numerical prefix plus "hydrate" (CuSO₄ · 5H₂O → copper(II) sulfate pentahydrate).</a:t>
            </a:r>
            <a:endParaRPr lang="en-US" sz="2400" dirty="0"/>
          </a:p>
        </p:txBody>
      </p:sp>
      <p:sp>
        <p:nvSpPr>
          <p:cNvPr id="12" name="Text 7"/>
          <p:cNvSpPr/>
          <p:nvPr/>
        </p:nvSpPr>
        <p:spPr>
          <a:xfrm>
            <a:off x="457200" y="647395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CHEM 101 · Topic 6: Names and Formulas</a:t>
            </a:r>
            <a:endParaRPr lang="en-US" sz="1000" dirty="0"/>
          </a:p>
        </p:txBody>
      </p:sp>
      <p:sp>
        <p:nvSpPr>
          <p:cNvPr id="13" name="Text 8"/>
          <p:cNvSpPr/>
          <p:nvPr/>
        </p:nvSpPr>
        <p:spPr>
          <a:xfrm>
            <a:off x="11274552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Terms to Know &amp; Understand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90880" y="1691640"/>
            <a:ext cx="44399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Ionic compound:  </a:t>
            </a: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 metal and nonmetal combined via electron transfer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314440" y="1691640"/>
            <a:ext cx="44399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Cation / Anion:  </a:t>
            </a: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 positive ion (lost electrons) / a negative ion (gained electrons)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90880" y="2788920"/>
            <a:ext cx="44399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Polyatomic ion:  </a:t>
            </a: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 charged group of atoms that acts as a single unit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314440" y="2788920"/>
            <a:ext cx="44399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Binary compound:  </a:t>
            </a: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 compound made of exactly two elements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90880" y="3886200"/>
            <a:ext cx="44399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Prefix system:  </a:t>
            </a: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Greek prefixes (mono-, di-, tri-...) naming nonmetal-nonmetal compounds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314440" y="3886200"/>
            <a:ext cx="44399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Acid:  </a:t>
            </a: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 compound that releases hydrogen ions in water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90880" y="4983480"/>
            <a:ext cx="44399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Salt:  </a:t>
            </a: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An ionic compound formed from an acid-base reaction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314440" y="4983480"/>
            <a:ext cx="44399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Hydrate:  </a:t>
            </a: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An ionic compound with water molecules built into its structure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57200" y="647395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CHEM 101 · Topic 6: Names and Formulas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274552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543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 &amp; What’s Next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22960" y="1417320"/>
            <a:ext cx="100584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50000"/>
              </a:lnSpc>
              <a:spcAft>
                <a:spcPts val="1200"/>
              </a:spcAft>
              <a:buSzPct val="100000"/>
              <a:buChar char="●"/>
            </a:pPr>
            <a:r>
              <a:rPr lang="en-US" dirty="0">
                <a:solidFill>
                  <a:srgbClr val="E7EEF3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Ionic compounds are named cation-first, anion-second, with the nonmetal changed to "-ide"</a:t>
            </a:r>
            <a:endParaRPr lang="en-US" dirty="0"/>
          </a:p>
          <a:p>
            <a:pPr marL="342900" indent="-342900" algn="l">
              <a:lnSpc>
                <a:spcPct val="150000"/>
              </a:lnSpc>
              <a:spcAft>
                <a:spcPts val="1200"/>
              </a:spcAft>
              <a:buSzPct val="100000"/>
              <a:buChar char="●"/>
            </a:pPr>
            <a:r>
              <a:rPr lang="en-US" dirty="0">
                <a:solidFill>
                  <a:srgbClr val="E7EEF3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Variable-charge metals need a Roman numeral; polyatomic ion names never change</a:t>
            </a:r>
            <a:endParaRPr lang="en-US" dirty="0"/>
          </a:p>
          <a:p>
            <a:pPr marL="342900" indent="-342900" algn="l">
              <a:lnSpc>
                <a:spcPct val="150000"/>
              </a:lnSpc>
              <a:spcAft>
                <a:spcPts val="1200"/>
              </a:spcAft>
              <a:buSzPct val="100000"/>
              <a:buChar char="●"/>
            </a:pPr>
            <a:r>
              <a:rPr lang="en-US" dirty="0">
                <a:solidFill>
                  <a:srgbClr val="E7EEF3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Binary compounds of two nonmetals use Greek prefixes (mono-, di-, tri-...) instead of charges</a:t>
            </a:r>
            <a:endParaRPr lang="en-US" dirty="0"/>
          </a:p>
          <a:p>
            <a:pPr marL="342900" indent="-342900" algn="l">
              <a:lnSpc>
                <a:spcPct val="150000"/>
              </a:lnSpc>
              <a:spcAft>
                <a:spcPts val="1200"/>
              </a:spcAft>
              <a:buSzPct val="100000"/>
              <a:buChar char="●"/>
            </a:pPr>
            <a:r>
              <a:rPr lang="en-US" dirty="0">
                <a:solidFill>
                  <a:srgbClr val="E7EEF3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Acids, salts, and hydrates each follow their own naming pattern, built on the rules above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822960" y="4709160"/>
            <a:ext cx="10543032" cy="1417320"/>
          </a:xfrm>
          <a:prstGeom prst="roundRect">
            <a:avLst>
              <a:gd name="adj" fmla="val 5806"/>
            </a:avLst>
          </a:prstGeom>
          <a:solidFill>
            <a:srgbClr val="1B2C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97280" y="4892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F4A10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UP NEXT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97280" y="525780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Topic 7: Chemical Reactions — writing and balancing chemical equations, types of reactions, and solubility rules.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647395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9B7C9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CHEM 101 · Topic 6: Names and Formulas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274552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7C9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1641</Words>
  <Application>Microsoft Macintosh PowerPoint</Application>
  <PresentationFormat>Widescreen</PresentationFormat>
  <Paragraphs>195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Cambria</vt:lpstr>
      <vt:lpstr>Garamond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Patridge, Christopher</cp:lastModifiedBy>
  <cp:revision>3</cp:revision>
  <dcterms:created xsi:type="dcterms:W3CDTF">2026-09-06T17:26:50Z</dcterms:created>
  <dcterms:modified xsi:type="dcterms:W3CDTF">2026-09-19T19:01:04Z</dcterms:modified>
</cp:coreProperties>
</file>
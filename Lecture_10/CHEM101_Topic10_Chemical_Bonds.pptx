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3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70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ELEMENTS OF GENERAL CHEMISTRY 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10: Chemical Bonds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How atoms hold onto each other — and the shapes that creates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FA6BE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Asynchronous Online Lecture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covered in this lecture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25780" y="1714500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9" y="180552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7008" y="1682496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Ionic and covalent bonds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The two fundamental ways atoms hold onto one another and form molecules or compounds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25780" y="2884932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brail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809" y="2975961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7008" y="2852928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dot structures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Drawing a molecule’s bonding and lone-pair electrons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525780" y="4055364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expandArrow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09" y="4146393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7008" y="4023360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geometry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Predicting the 3D shape a molecule actually takes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525780" y="5225796"/>
            <a:ext cx="502920" cy="502920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gif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09" y="5316825"/>
            <a:ext cx="320863" cy="3208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7008" y="5193792"/>
            <a:ext cx="9948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covalent &amp; polar bonds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special kind of covalent bond, and why some bonds share electrons unevenly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Chemical Bonding Concepts are important in Healthcare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8155" y="1948587"/>
            <a:ext cx="583387" cy="583387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bol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64" y="2060596"/>
            <a:ext cx="359367" cy="3593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61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Electrolytes &amp; Nerve Function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467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Na⁺, K⁺, and Ca</a:t>
            </a:r>
            <a:r>
              <a:rPr lang="en-US" baseline="30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2+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are held in ionic bonds until dissolved — then they separate to carry the electrical signals nerves and muscles depend on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36208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47435" y="1948587"/>
            <a:ext cx="583387" cy="583387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icon_t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444" y="2060596"/>
            <a:ext cx="359367" cy="3593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68896" y="1938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Water’s Bonds &amp; Polarity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6473952" y="2633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Water’s polar covalent bonds are why it dissolves electrolytes and forms the hydrogen bonds that make life as we know it possible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56692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778155" y="4234587"/>
            <a:ext cx="583387" cy="583387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icon_heartbea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164" y="4346596"/>
            <a:ext cx="359367" cy="3593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9961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Hemoglobin &amp; Oxygen Binding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0467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Iron in hemoglobin binds oxygen through a coordinate covalent bond — the exact mechanism that lets blood carry oxygen through the body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6236208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1F6F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447435" y="4234587"/>
            <a:ext cx="583387" cy="583387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icon_pill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444" y="4346596"/>
            <a:ext cx="359367" cy="3593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68896" y="4224528"/>
            <a:ext cx="42153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Drug Shape &amp; Receptor Binding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473952" y="4919472"/>
            <a:ext cx="48737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drug’s molecular geometry determines whether it fits its target receptor — the "lock and key" model behind how medications and drug specificity work.</a:t>
            </a: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5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Ionic and Covalent Bonds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two fundamental strategies atoms use to hold onto each other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Ionic Bonds, Reviewed from Topic 5 &amp; 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exchan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Transfer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 metal transfers one or more electrons to a nonmetal, creating oppositely charged ions that attract each other (Topics 5 – 6).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13182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balanceSca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22284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Strong, Rigid Bond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ionic bonds are strong in every direction, which is why ionic compounds form hard crystals with high melting points.  The structure they form is called a “lattice” because they sit in a pattern like the common garden structure with the same name. 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441198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bol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50300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Conducts When Dissolved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once dissolved in water, the ions separate and move freely — which is exactly what lets an electrolyte solution carry an electrical current which is charges (+/-) moving through solutions.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Covalent Bonds: Sharing Electrons for Nonmetals (include H)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handshak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197053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Sharing, Not Transferring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two nonmetals each contribute an electron to a shared pair, rather than one atom giving an electron away entirely.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hashta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25069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0998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Single, Double, and Triple Bonds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atoms can share one pair of electrons (single bond), two pairs (double bond), or three pairs (triple bond).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434840"/>
            <a:ext cx="457200" cy="45720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lin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4530852"/>
            <a:ext cx="265176" cy="2651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37997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Molecules, Not Crystals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covalent bonding produces individual molecules (like H₂O or CO₂) rather than the repeating ionic lattices formed by ionic bonds.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Ionic and Covalent Bonds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1216878"/>
              </p:ext>
            </p:extLst>
          </p:nvPr>
        </p:nvGraphicFramePr>
        <p:xfrm>
          <a:off x="457200" y="1691640"/>
          <a:ext cx="11274552" cy="40233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2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1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mbria" charset="0"/>
                          <a:ea typeface="Cambria" charset="0"/>
                          <a:cs typeface="Cambria" charset="0"/>
                        </a:rPr>
                        <a:t>Characteristics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Ionic Bond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Covalent Bond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Electron behavior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Transferred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Shared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Typically forms between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A metal and a nonmetal or polyatomic ions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Two nonmetals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Melting point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High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Low to moderate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Conducts electricity dissolved?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Yes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Usually not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Example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NaCl (table salt)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H₂O (water)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B500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brail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Dot Structures &amp; Molecular Geometry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Drawing a molecule’s electrons, then predicting the shape they create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7220" y="5486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Electron Dot Structures of Molecules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7602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hashta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85124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728216"/>
            <a:ext cx="822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count the total valence electrons from every atom in the molecule (Topic 5).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276606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tab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285708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2734056"/>
            <a:ext cx="822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arrange the atoms, placing the least electronegative atom (other than hydrogen) in the center.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377190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handsh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386292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3739896"/>
            <a:ext cx="822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place one bonding pair of electrons between each pair of connected atoms.</a:t>
            </a:r>
            <a:endParaRPr lang="en-US" sz="2000" dirty="0"/>
          </a:p>
        </p:txBody>
      </p:sp>
      <p:sp>
        <p:nvSpPr>
          <p:cNvPr id="12" name="Shape 7"/>
          <p:cNvSpPr/>
          <p:nvPr/>
        </p:nvSpPr>
        <p:spPr>
          <a:xfrm>
            <a:off x="617220" y="47777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icon_brail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249" y="4868769"/>
            <a:ext cx="320863" cy="32086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98448" y="4745736"/>
            <a:ext cx="8221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fill in the remaining electrons as lone pairs, giving every atom (except hydrogen) a full octet.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It: Electron Dot Structure of H₂O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988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1444854"/>
            <a:ext cx="1600200" cy="42245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3917" y="146405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96312" y="12537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Oxygen contributes 6 valence electrons; each hydrogen contributes 1. Total: 6 + 1 + 1 = 8 electrons.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8640" y="22504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2496414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3917" y="251561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96312" y="230530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Hydrogen can never be a central atom, so oxygen — the only other atom — goes in the center, with one H bonded on each side.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48640" y="33020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3547974"/>
            <a:ext cx="1600200" cy="422453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3917" y="356717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96312" y="33568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Place one bonding pair between O and each H — that uses 4 of the 8 electrons (2 bonds × 2 electrons each).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48640" y="435356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4599534"/>
            <a:ext cx="1600200" cy="422453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3917" y="4618736"/>
            <a:ext cx="12022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Octets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96312" y="440842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remaining 4 electrons become two lone pairs on oxygen, giving it a full octet. H₂O is complete.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10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31B54A-07DD-0CF5-015F-475BD34E1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090" y="5069840"/>
            <a:ext cx="17907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Geometry: VSEPR Basics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Valence Shell Electron Pair Repulsion — predicting a molecule’s 3D shape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_expandArrow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19913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20482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electron pairs around a central atom repel each other, so they arrange themselves as far apart in space around the central atom as possible.  Remember — atoms are spheres!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icon_dotCirc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479292"/>
            <a:ext cx="265176" cy="2651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98448" y="332841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Bonding and Lone Pairs Both Count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both the electrons in a bond and any unshared lone pairs on the central atom push other electron pairs away.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40080" y="46634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914400" y="4800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practice: </a:t>
            </a: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that’s why water (2 bonding pairs, 2 lone pairs) is bent, not straight — the lone pairs push the two O–H bonds together.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Molecular Shapes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060430"/>
              </p:ext>
            </p:extLst>
          </p:nvPr>
        </p:nvGraphicFramePr>
        <p:xfrm>
          <a:off x="548640" y="1783080"/>
          <a:ext cx="11091672" cy="3383280"/>
        </p:xfrm>
        <a:graphic>
          <a:graphicData uri="http://schemas.openxmlformats.org/drawingml/2006/table">
            <a:tbl>
              <a:tblPr/>
              <a:tblGrid>
                <a:gridCol w="3776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Electron Groups (pairs of electrons)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Shape Name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Example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2 pairs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Linear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CO₂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3 pairs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Trigonal planar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BF₃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 pairs (all bonding)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Tetrahedral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CH₄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4 pairs (2 bonding, 2 lone)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Bent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14213D"/>
                          </a:solidFill>
                          <a:latin typeface="Garamond" pitchFamily="34" charset="0"/>
                          <a:ea typeface="Garamond" pitchFamily="34" charset="-122"/>
                          <a:cs typeface="Garamond" pitchFamily="34" charset="-120"/>
                        </a:rPr>
                        <a:t>H₂O</a:t>
                      </a:r>
                      <a:endParaRPr lang="en-US" sz="1600" dirty="0">
                        <a:latin typeface="Garamond" charset="0"/>
                        <a:ea typeface="Garamond" charset="0"/>
                        <a:cs typeface="Garamond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7528" y="2148840"/>
            <a:ext cx="1463040" cy="146304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icon_gif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478024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38404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Covalent Bonds &amp; Polarity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822960" y="4617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FE3E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special kind of sharing, and why sharing isn’t always equal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Covalent Bonds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gif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061972"/>
            <a:ext cx="265176" cy="265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91109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One-Sided Sharing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in a normal covalent bond, each atom contributes one electron. In a coordinate covalent bond, one atom donates both electrons of the shared pair.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525012"/>
            <a:ext cx="265176" cy="2651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37413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Looks the Same Once Formed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once formed, a coordinate covalent bond behaves exactly like any other covalent bond — only its origin is different.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48006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</a:t>
            </a: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Iron atom (Fe) in hemoglobin forms a coordinate covalent bond with oxygen gas molecules — oxygen donates the electron pair which binds O</a:t>
            </a:r>
            <a:r>
              <a:rPr lang="en-US" sz="1600" baseline="-250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2</a:t>
            </a: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to hemoglobin to carry oxygen in the blood for tissue delivery.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 Bonds vs. Non-Polar Bonds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17220" y="1851660"/>
            <a:ext cx="502920" cy="50292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icon_balanceSca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9" y="1942689"/>
            <a:ext cx="320863" cy="32086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98448" y="18196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Electronegativity Decides It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electronegativity (Topic 5) measures how strongly an atom pulls on shared electrons. A bond’s polarity depends on the difference between the two atoms’ values.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17220" y="3314700"/>
            <a:ext cx="502920" cy="502920"/>
          </a:xfrm>
          <a:prstGeom prst="ellipse">
            <a:avLst/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icon_lin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49" y="3405729"/>
            <a:ext cx="320863" cy="3208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98448" y="328269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Non-Polar Covalent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electrons are shared equally, usually between identical or very similar atoms (like the O=O bond in O₂).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7220" y="4594860"/>
            <a:ext cx="502920" cy="502920"/>
          </a:xfrm>
          <a:prstGeom prst="ellipse">
            <a:avLst/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icon_ti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249" y="4685889"/>
            <a:ext cx="320863" cy="32086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98448" y="4562856"/>
            <a:ext cx="10222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 Covalent —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electrons are shared unequally, pulled closer to the more electronegative atom — giving that end a slightly negative charge (like O–H in water).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It: Is the O–H Bond in Water Polar?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" y="232797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8565" y="236829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496312" y="215798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Oxygen has a much higher electronegativity than hydrogen — oxygen pulls harder on the shared electrons.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4944" y="337953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F4A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48565" y="341985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 Position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96312" y="320954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shared electron pair sits closer to oxygen than to hydrogen, most of the time.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94944" y="4431091"/>
            <a:ext cx="1600200" cy="464698"/>
          </a:xfrm>
          <a:prstGeom prst="roundRect">
            <a:avLst>
              <a:gd name="adj" fmla="val 50000"/>
            </a:avLst>
          </a:prstGeom>
          <a:solidFill>
            <a:srgbClr val="A52C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48565" y="447141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Distribution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496312" y="426110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Oxygen ends up with a slight negative charge (δ−); each hydrogen ends up with a slight positive charge (δ+).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7000"/>
            </a:avLst>
          </a:prstGeom>
          <a:solidFill>
            <a:srgbClr val="F1F6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94944" y="5482651"/>
            <a:ext cx="1600200" cy="464698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8565" y="5522976"/>
            <a:ext cx="10929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496312" y="5312664"/>
            <a:ext cx="894283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O–H bond is polar covalent — and that unequal sharing is exactly why water dissolves ionic and polar substances so well.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to Know &amp; Understand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Ionic bond: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bond formed by transferring electrons.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172200" y="169164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Covalent bond: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bond formed by sharing electrons.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Lone pair: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pair of valence electrons not used in bonding.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200" y="278892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VSEPR: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model predicting shape from electron-pair repulsion.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Molecular geometry: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The 3D shape a molecule actually takes.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72200" y="388620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covalent bond: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covalent bond where one atom donates both electrons.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Electronegativity: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An atom’s pull on shared electrons in a bond.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72200" y="4983480"/>
            <a:ext cx="4521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Polar bond:  </a:t>
            </a:r>
            <a:r>
              <a:rPr lang="en-US" dirty="0">
                <a:solidFill>
                  <a:srgbClr val="14213D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 bond with unequal sharing of electrons.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What’s Next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058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Ionic bonds transfer electrons; covalent bonds share them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Electron dot structures show a molecule’s bonding and lone-pair electrons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VSEPR theory predicts a molecule’s 3D shape from electron-pair repulsion</a:t>
            </a:r>
            <a:endParaRPr lang="en-US" dirty="0"/>
          </a:p>
          <a:p>
            <a:pPr marL="342900" indent="-342900" algn="l">
              <a:lnSpc>
                <a:spcPct val="150000"/>
              </a:lnSpc>
              <a:spcAft>
                <a:spcPts val="1200"/>
              </a:spcAft>
              <a:buSzPct val="100000"/>
              <a:buChar char="●"/>
            </a:pPr>
            <a:r>
              <a:rPr lang="en-US" dirty="0">
                <a:solidFill>
                  <a:srgbClr val="E7EEF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Coordinate covalent bonds involve one-sided sharing; electronegativity differences make some bonds polar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10543032" cy="1417320"/>
          </a:xfrm>
          <a:prstGeom prst="roundRect">
            <a:avLst>
              <a:gd name="adj" fmla="val 5806"/>
            </a:avLst>
          </a:prstGeom>
          <a:solidFill>
            <a:srgbClr val="1B2C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4A100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UP NEXT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52578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Topic 11: Acids and Bases — Arrhenius and Bronsted-Lowry definitions, ionization of water, pH, and strong vs. weak electrolytes.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CHEM 101 · Topic 10: Chemical Bonds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9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1543</Words>
  <Application>Microsoft Macintosh PowerPoint</Application>
  <PresentationFormat>Widescreen</PresentationFormat>
  <Paragraphs>171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Cambria</vt:lpstr>
      <vt:lpstr>Garamond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Patridge, Christopher</cp:lastModifiedBy>
  <cp:revision>2</cp:revision>
  <dcterms:created xsi:type="dcterms:W3CDTF">2026-09-07T02:34:32Z</dcterms:created>
  <dcterms:modified xsi:type="dcterms:W3CDTF">2026-09-20T17:21:08Z</dcterms:modified>
</cp:coreProperties>
</file>
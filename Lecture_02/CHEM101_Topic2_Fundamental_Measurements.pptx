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12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70"/>
    <p:restoredTop sz="94610"/>
  </p:normalViewPr>
  <p:slideViewPr>
    <p:cSldViewPr snapToGrid="0" snapToObjects="1">
      <p:cViewPr varScale="1">
        <p:scale>
          <a:sx n="126" d="100"/>
          <a:sy n="126" d="100"/>
        </p:scale>
        <p:origin x="2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7380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 CHEM 101. In Topic 1 we talked about what chemistry is and how the scientific method lets us test ideas. Every one of those experiments depends on something we haven't covered yet: measurement. Today we're building the toolkit you'll use for the rest of the semester — the metric system, scientific notation, significant figures, temperature scales, and density. These aren't just abstract math skills. They're the exact skills behind calculating a medication dose, reading a thermometer, or interpreting a lab value, so I want you to really get comfortable with them here before we build on top of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First, the metric system — the base units chemists use and how to convert confidently between them using dimensional analysis. Second, scientific notation, which lets us write extremely large or extremely small numbers without a page full of zeros. Third, significant figures — how to know how precise a measurement really is, and how to carry that precision through a calculation correctly. And finally, we'll apply all of it to two very concrete measurements: temperature and density.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into the mechanics, let's be clear about the stakes. In health care, a measurement error isn't just a lost point on a quiz — it can be dangerous. Converting micrograms to milligrams incorrectly can cause a thousand-fold dosing error. Vital signs like temperature and weight depend on using the right units and converting them correctly. Lab values are meaningless if you don't understand the units they're reported in. And calculating an IV infusion rate is, quite literally, the dimensional-analysis skill we're about to practice. This is exactly the kind of chemistry that shows up on the job.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metric system itself. Chemists — and nearly every scientist worldwide — use the metric system because it's built entirely on powers of ten. There's no memorizing that there are twelve inches in a foot or three feet in a yard. The three base units you'll use constantly are the meter for length, the gram for mass, and the liter for volume. Every other metric unit you'll encounter is just one of these base units, scaled up or down by a power of ten using a prefix.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metric prefix just tells you how many powers of ten you're away from the base unit. Kilo means a thousand times bigger — a kilogram is a thousand grams. Deci, centi, and milli move you smaller: a tenth, a hundredth, and a thousandth of the base unit respectively. And micro takes you all the way down to a millionth — you'll see this constantly in medication doses, like a microgram. The pattern is always the same: you're just moving the decimal point by the power of ten the prefix represents. Once that clicks, converting between any two metric units becomes mechanical.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method that makes any unit conversion — metric or otherwise — completely mechanical. Start by identifying exactly what you're given, value and unit together. Then identify the unit you actually need. Next, find the conversion factor — the equality that connects those two units, like one thousand milligrams equals one gram. Set that factor up as a fraction oriented so the unwanted unit cancels out, top and bottom. Multiply and divide straight across. And finally — don't skip this step — check that your answer's size makes sense and that you've kept the right number of significant figures. This method is called dimensional analysis, and it is, genuinely, the single most useful tool you'll take from this entire course.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put dimensional analysis to work on exactly the kind of problem you'll face constantly: a physician orders 250 micrograms of a medication, but the tablets on hand are labeled in milligrams. The conversion factor is one milligram equals one thousand micrograms. Set up 250 micrograms multiplied by one milligram over one thousand micrograms — notice the micrograms cancel, top and bottom, leaving you with milligrams. Do the division: 250 divided by 1,000 is 0.25 milligrams. And finally, check it: you're converting from a smaller unit to a larger one, so the number should get smaller — and 0.25 is smaller than 250, so that checks out. This exact process is what keeps medication dosing safe.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scientific notation. Chemistry deals with numbers at extreme scales — from the number of atoms in a sample, which can run into the trillions of trillions, down to the mass of a single atom, which is a decimal point followed by over twenty zeros. Writing all of that out longhand is impractical and invites errors. Scientific notation solves that problem.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notation writes any number as a coefficient between one and ten, multiplied by ten raised to a power. For a large number, that exponent is positive, because you moved the decimal point to the left to shrink it down into that one-to-ten range. For a very small number, the exponent is negative, because you moved the decimal point to the right. Once you get comfortable counting how many places the decimal point moves, converting a number into scientific notation becomes second nature.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that looks like with real chemistry numbers. Avogadro's number — the number of particles in one mole, which we'll come back to later this semester — is six hundred two followed by twenty-one more digits. In scientific notation, that's simply 6.02 times ten to the twenty-third. On the small end, the mass of a single hydrogen atom is a decimal point followed by twenty-three zeros before any meaningful digits — in scientific notation, that's 1.67 times ten to the negative twenty-fourth. Even something more everyday, like the diameter of a red blood cell, is far easier to read as 7 times ten to the negative sixth meters than as six leading zeros.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significant figures. Every measurement you take — with a ruler, a balance, a graduated cylinder, or a thermometer — has a limit to how precise it can be. Significant figures are the rules that let us communicate that precision honestly, both when we report a measurement and when we calculate with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Significant figures are the digits in a measurement that actually carry meaningful precision. When you read a measuring instrument, some digits are certain — you read them directly off the marked scale. But there's always one final digit that you estimate, somewhere between the smallest marked divisions. That combination of certain digits plus one estimated digit is what makes up your significant figures. This matters because when you calculate with measurements, your answer can never be more precise than the least precise measurement that went into it — significant figure rules make sure you don't accidentally claim more precision than you actually have.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six rules for counting significant figures. Nonzero digits always count. Zeros sandwiched between nonzero digits always count too — 405 has three significant figures. Leading zeros never count; they're just placeholders that locate the decimal point, so 0.0025 has only two significant figures. Trailing zeros do count if there's a decimal point present — 2.50 has three significant figures. But trailing zeros without a decimal point are ambiguous — a number like 100 is usually assumed to have just one significant figure unless stated otherwise. And exact numbers — things you counted, or defined conversions — are treated as having infinite significant figures, so they never limit your answer's precision.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calculate with measurements, addition and subtraction follow a different rule than multiplication and division. For addition and subtraction, round your final answer to match the fewest number of decimal places among the values you combined. For multiplication and division, round your final answer to match the fewest total number of significant figures among the values involved. These are genuinely different rules, so the first step in any calculation is identifying which operation you're doing before you decide how to round.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close today's lecture by applying everything we've covered — units, conversions, and significant figures — to two specific, very practical measurements: temperature and density.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temperature scales you'll move between all semester. Celsius is the everyday scientific scale, where water freezes at zero degrees and boils at one hundred. Fahrenheit is still what you'll see on most patient charts in the United States, and you convert to it by multiplying Celsius by nine-fifths and adding thirty-two. And Kelvin is the absolute scale — you get it by simply adding two hundred seventy-three to a Celsius value. Kelvin matters because zero Kelvin is absolute zero, the coldest temperature theoretically possible, and it's the scale chemists use whenever a calculation involves gas behavior or energy.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finish with density, which is simply mass divided by volume, usually expressed in grams per milliliter. One clinical application you'll see constantly is urine specific gravity, which compares the density of a urine sample to the density of pure water to help assess a patient's hydration status and kidney function. Say a 15 milliliter urine sample has a mass of 15.30 grams. Divide mass by volume: 15.30 grams divided by 15 milliliters gives 1.02 grams per milliliter. Typical urine specific gravity runs roughly between 1.005 and 1.030, so this result falls comfortably within the normal range. Notice this is just another unit calculation — the same careful, methodical approach we've used all lecture.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recap today's vocabulary. The metric system: a measurement system built on powers of ten. Base unit: the unscaled anchor, like the meter, gram, or liter. Dimensional analysis: using conversion factors so units cancel down to the unit you need. Scientific notation: a coefficient between one and ten multiplied by a power of ten. Significant figures: the digits in a measurement that carry real precision. Kelvin: the absolute temperature scale, found by adding 273 to a Celsius value. Density: mass divided by volume. And specific gravity: a substance's density compared to the density of water.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bring today together. The metric system, paired with dimensional analysis, lets you convert confidently and safely between any units you'll encounter. Scientific notation and significant figures keep very large, very small, and imprecise numbers honest and usable in a calculation. And temperature and density are two measurements you'll calculate over and over, both in this course and at the bedside. Please review this lecture and work through the practice conversions in your reading before we meet again for Topic 3: Matter and Energy, where we'll look at physical states, elements, compounds, mixtures, and the conservation of mass and energy. Thanks for watching, and I'll see you next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0.png"/><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9052560" y="-1463040"/>
            <a:ext cx="4206240" cy="4206240"/>
          </a:xfrm>
          <a:prstGeom prst="ellipse">
            <a:avLst/>
          </a:prstGeom>
          <a:solidFill>
            <a:srgbClr val="1E3A5F"/>
          </a:solidFill>
          <a:ln/>
        </p:spPr>
        <p:txBody>
          <a:bodyPr/>
          <a:lstStyle/>
          <a:p>
            <a:endParaRPr lang="en-US"/>
          </a:p>
        </p:txBody>
      </p:sp>
      <p:sp>
        <p:nvSpPr>
          <p:cNvPr id="3" name="Shape 1"/>
          <p:cNvSpPr/>
          <p:nvPr/>
        </p:nvSpPr>
        <p:spPr>
          <a:xfrm>
            <a:off x="10607040" y="3931920"/>
            <a:ext cx="2743200" cy="2743200"/>
          </a:xfrm>
          <a:prstGeom prst="ellipse">
            <a:avLst/>
          </a:prstGeom>
          <a:solidFill>
            <a:srgbClr val="1C7293"/>
          </a:solidFill>
          <a:ln/>
        </p:spPr>
        <p:txBody>
          <a:bodyPr/>
          <a:lstStyle/>
          <a:p>
            <a:endParaRPr lang="en-US"/>
          </a:p>
        </p:txBody>
      </p:sp>
      <p:sp>
        <p:nvSpPr>
          <p:cNvPr id="4" name="Shape 2"/>
          <p:cNvSpPr/>
          <p:nvPr/>
        </p:nvSpPr>
        <p:spPr>
          <a:xfrm>
            <a:off x="548640" y="822960"/>
            <a:ext cx="868680" cy="86868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5" name="Image 0" descr="/tmp/chem101_topic2/icon_ruler_white.png"/>
          <p:cNvPicPr>
            <a:picLocks noChangeAspect="1"/>
          </p:cNvPicPr>
          <p:nvPr/>
        </p:nvPicPr>
        <p:blipFill>
          <a:blip r:embed="rId3"/>
          <a:stretch>
            <a:fillRect/>
          </a:stretch>
        </p:blipFill>
        <p:spPr>
          <a:xfrm>
            <a:off x="765810" y="1040130"/>
            <a:ext cx="434340" cy="434340"/>
          </a:xfrm>
          <a:prstGeom prst="rect">
            <a:avLst/>
          </a:prstGeom>
        </p:spPr>
      </p:pic>
      <p:sp>
        <p:nvSpPr>
          <p:cNvPr id="6" name="Text 3"/>
          <p:cNvSpPr txBox="1"/>
          <p:nvPr/>
        </p:nvSpPr>
        <p:spPr>
          <a:xfrm>
            <a:off x="548640" y="1965960"/>
            <a:ext cx="9601200" cy="365760"/>
          </a:xfrm>
          <a:prstGeom prst="rect">
            <a:avLst/>
          </a:prstGeom>
          <a:noFill/>
          <a:ln/>
        </p:spPr>
        <p:txBody>
          <a:bodyPr wrap="square" lIns="0" tIns="0" rIns="0" bIns="0" rtlCol="0" anchor="ctr"/>
          <a:lstStyle/>
          <a:p>
            <a:pPr marL="0" indent="0">
              <a:buNone/>
            </a:pPr>
            <a:r>
              <a:rPr lang="en-US" sz="1400" b="1" kern="0" spc="200" dirty="0">
                <a:solidFill>
                  <a:srgbClr val="F4A100"/>
                </a:solidFill>
                <a:latin typeface="Garamond" pitchFamily="34" charset="0"/>
                <a:ea typeface="Garamond" pitchFamily="34" charset="-122"/>
                <a:cs typeface="Garamond" pitchFamily="34" charset="-120"/>
              </a:rPr>
              <a:t>CHEM 101 · ELEMENTS OF GENERAL CHEMISTRY I</a:t>
            </a:r>
            <a:endParaRPr lang="en-US" sz="1400" dirty="0"/>
          </a:p>
        </p:txBody>
      </p:sp>
      <p:sp>
        <p:nvSpPr>
          <p:cNvPr id="7" name="Text 4"/>
          <p:cNvSpPr txBox="1"/>
          <p:nvPr/>
        </p:nvSpPr>
        <p:spPr>
          <a:xfrm>
            <a:off x="548640" y="2377440"/>
            <a:ext cx="10058400" cy="15544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Topic 2: Fundamental Measurements</a:t>
            </a:r>
            <a:endParaRPr lang="en-US" sz="4800" dirty="0"/>
          </a:p>
        </p:txBody>
      </p:sp>
      <p:sp>
        <p:nvSpPr>
          <p:cNvPr id="8" name="Text 5"/>
          <p:cNvSpPr txBox="1"/>
          <p:nvPr/>
        </p:nvSpPr>
        <p:spPr>
          <a:xfrm>
            <a:off x="548640" y="3794760"/>
            <a:ext cx="8686800" cy="548640"/>
          </a:xfrm>
          <a:prstGeom prst="rect">
            <a:avLst/>
          </a:prstGeom>
          <a:noFill/>
          <a:ln/>
        </p:spPr>
        <p:txBody>
          <a:bodyPr wrap="square" lIns="0" tIns="0" rIns="0" bIns="0" rtlCol="0" anchor="ctr"/>
          <a:lstStyle/>
          <a:p>
            <a:pPr marL="0" indent="0">
              <a:buNone/>
            </a:pPr>
            <a:r>
              <a:rPr lang="en-US" sz="2000" dirty="0">
                <a:solidFill>
                  <a:srgbClr val="CADCEA"/>
                </a:solidFill>
                <a:latin typeface="Garamond" pitchFamily="34" charset="0"/>
                <a:ea typeface="Garamond" pitchFamily="34" charset="-122"/>
                <a:cs typeface="Garamond" pitchFamily="34" charset="-120"/>
              </a:rPr>
              <a:t>Building our measurement methods for the rest of the semester</a:t>
            </a:r>
            <a:endParaRPr lang="en-US" sz="2000" dirty="0"/>
          </a:p>
        </p:txBody>
      </p:sp>
      <p:sp>
        <p:nvSpPr>
          <p:cNvPr id="9" name="Text 6"/>
          <p:cNvSpPr txBox="1"/>
          <p:nvPr/>
        </p:nvSpPr>
        <p:spPr>
          <a:xfrm>
            <a:off x="548640" y="6263640"/>
            <a:ext cx="5486400" cy="320040"/>
          </a:xfrm>
          <a:prstGeom prst="rect">
            <a:avLst/>
          </a:prstGeom>
          <a:noFill/>
          <a:ln/>
        </p:spPr>
        <p:txBody>
          <a:bodyPr wrap="square" lIns="0" tIns="0" rIns="0" bIns="0" rtlCol="0" anchor="ctr"/>
          <a:lstStyle/>
          <a:p>
            <a:pPr marL="0" indent="0">
              <a:buNone/>
            </a:pPr>
            <a:r>
              <a:rPr lang="en-US" sz="1100" dirty="0">
                <a:solidFill>
                  <a:srgbClr val="7C93AC"/>
                </a:solidFill>
                <a:latin typeface="Garamond" pitchFamily="34" charset="0"/>
                <a:ea typeface="Garamond" pitchFamily="34" charset="-122"/>
                <a:cs typeface="Garamond" pitchFamily="34" charset="-120"/>
              </a:rPr>
              <a:t>Asynchronous Online Lecture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clipboard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144000" cy="685800"/>
          </a:xfrm>
          <a:prstGeom prst="rect">
            <a:avLst/>
          </a:prstGeom>
          <a:noFill/>
          <a:ln/>
        </p:spPr>
        <p:txBody>
          <a:bodyPr wrap="square" lIns="0" tIns="0" rIns="0" bIns="0" rtlCol="0" anchor="ctr"/>
          <a:lstStyle/>
          <a:p>
            <a:pPr marL="0" indent="0">
              <a:buNone/>
            </a:pPr>
            <a:r>
              <a:rPr lang="en-US" sz="3200" b="1" dirty="0">
                <a:solidFill>
                  <a:srgbClr val="14213D"/>
                </a:solidFill>
                <a:latin typeface="Cambria" pitchFamily="34" charset="0"/>
                <a:ea typeface="Cambria" pitchFamily="34" charset="-122"/>
                <a:cs typeface="Cambria" pitchFamily="34" charset="-120"/>
              </a:rPr>
              <a:t>What’s covered in this lecture</a:t>
            </a:r>
            <a:endParaRPr lang="en-US" sz="3200" dirty="0"/>
          </a:p>
        </p:txBody>
      </p:sp>
      <p:sp>
        <p:nvSpPr>
          <p:cNvPr id="5" name="Shape 2"/>
          <p:cNvSpPr/>
          <p:nvPr/>
        </p:nvSpPr>
        <p:spPr>
          <a:xfrm>
            <a:off x="548641" y="1737360"/>
            <a:ext cx="8756134" cy="850392"/>
          </a:xfrm>
          <a:prstGeom prst="roundRect">
            <a:avLst>
              <a:gd name="adj" fmla="val 9677"/>
            </a:avLst>
          </a:prstGeom>
          <a:solidFill>
            <a:srgbClr val="F1F6F8"/>
          </a:solidFill>
          <a:ln/>
        </p:spPr>
        <p:txBody>
          <a:bodyPr/>
          <a:lstStyle/>
          <a:p>
            <a:endParaRPr lang="en-US"/>
          </a:p>
        </p:txBody>
      </p:sp>
      <p:sp>
        <p:nvSpPr>
          <p:cNvPr id="6" name="Shape 3"/>
          <p:cNvSpPr/>
          <p:nvPr/>
        </p:nvSpPr>
        <p:spPr>
          <a:xfrm>
            <a:off x="804672" y="1879092"/>
            <a:ext cx="566928" cy="566928"/>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7" name="Image 1" descr="/tmp/chem101_topic2/icon_ruler_white.png"/>
          <p:cNvPicPr>
            <a:picLocks noChangeAspect="1"/>
          </p:cNvPicPr>
          <p:nvPr/>
        </p:nvPicPr>
        <p:blipFill>
          <a:blip r:embed="rId4"/>
          <a:stretch>
            <a:fillRect/>
          </a:stretch>
        </p:blipFill>
        <p:spPr>
          <a:xfrm>
            <a:off x="940735" y="2015155"/>
            <a:ext cx="294803" cy="294803"/>
          </a:xfrm>
          <a:prstGeom prst="rect">
            <a:avLst/>
          </a:prstGeom>
        </p:spPr>
      </p:pic>
      <p:sp>
        <p:nvSpPr>
          <p:cNvPr id="8" name="Text 4"/>
          <p:cNvSpPr txBox="1"/>
          <p:nvPr/>
        </p:nvSpPr>
        <p:spPr>
          <a:xfrm>
            <a:off x="1600200" y="1737360"/>
            <a:ext cx="9814255" cy="850392"/>
          </a:xfrm>
          <a:prstGeom prst="rect">
            <a:avLst/>
          </a:prstGeom>
          <a:noFill/>
          <a:ln/>
        </p:spPr>
        <p:txBody>
          <a:bodyPr wrap="square" lIns="0" tIns="0" rIns="0" bIns="0" rtlCol="0" anchor="ctr"/>
          <a:lstStyle/>
          <a:p>
            <a:pPr marL="0" indent="0">
              <a:buNone/>
            </a:pPr>
            <a:r>
              <a:rPr lang="en-US" sz="2200" dirty="0">
                <a:solidFill>
                  <a:srgbClr val="33414F"/>
                </a:solidFill>
                <a:latin typeface="Garamond" pitchFamily="34" charset="0"/>
                <a:ea typeface="Garamond" pitchFamily="34" charset="-122"/>
                <a:cs typeface="Garamond" pitchFamily="34" charset="-120"/>
              </a:rPr>
              <a:t>The metric system and converting between units</a:t>
            </a:r>
            <a:endParaRPr lang="en-US" sz="2200" dirty="0"/>
          </a:p>
        </p:txBody>
      </p:sp>
      <p:sp>
        <p:nvSpPr>
          <p:cNvPr id="9" name="Shape 5"/>
          <p:cNvSpPr/>
          <p:nvPr/>
        </p:nvSpPr>
        <p:spPr>
          <a:xfrm>
            <a:off x="548641" y="2788920"/>
            <a:ext cx="8756134" cy="850392"/>
          </a:xfrm>
          <a:prstGeom prst="roundRect">
            <a:avLst>
              <a:gd name="adj" fmla="val 9677"/>
            </a:avLst>
          </a:prstGeom>
          <a:solidFill>
            <a:srgbClr val="F1F6F8"/>
          </a:solidFill>
          <a:ln/>
        </p:spPr>
        <p:txBody>
          <a:bodyPr/>
          <a:lstStyle/>
          <a:p>
            <a:endParaRPr lang="en-US"/>
          </a:p>
        </p:txBody>
      </p:sp>
      <p:sp>
        <p:nvSpPr>
          <p:cNvPr id="10" name="Shape 6"/>
          <p:cNvSpPr/>
          <p:nvPr/>
        </p:nvSpPr>
        <p:spPr>
          <a:xfrm>
            <a:off x="804672" y="2930652"/>
            <a:ext cx="566928" cy="566928"/>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11" name="Image 2" descr="/tmp/chem101_topic2/icon_exchange_white.png"/>
          <p:cNvPicPr>
            <a:picLocks noChangeAspect="1"/>
          </p:cNvPicPr>
          <p:nvPr/>
        </p:nvPicPr>
        <p:blipFill>
          <a:blip r:embed="rId5"/>
          <a:stretch>
            <a:fillRect/>
          </a:stretch>
        </p:blipFill>
        <p:spPr>
          <a:xfrm>
            <a:off x="940735" y="3066715"/>
            <a:ext cx="294803" cy="294803"/>
          </a:xfrm>
          <a:prstGeom prst="rect">
            <a:avLst/>
          </a:prstGeom>
        </p:spPr>
      </p:pic>
      <p:sp>
        <p:nvSpPr>
          <p:cNvPr id="12" name="Text 7"/>
          <p:cNvSpPr txBox="1"/>
          <p:nvPr/>
        </p:nvSpPr>
        <p:spPr>
          <a:xfrm>
            <a:off x="1600200" y="2788920"/>
            <a:ext cx="9814255" cy="850392"/>
          </a:xfrm>
          <a:prstGeom prst="rect">
            <a:avLst/>
          </a:prstGeom>
          <a:noFill/>
          <a:ln/>
        </p:spPr>
        <p:txBody>
          <a:bodyPr wrap="square" lIns="0" tIns="0" rIns="0" bIns="0" rtlCol="0" anchor="ctr"/>
          <a:lstStyle/>
          <a:p>
            <a:pPr marL="0" indent="0">
              <a:buNone/>
            </a:pPr>
            <a:r>
              <a:rPr lang="en-US" sz="2200" dirty="0">
                <a:solidFill>
                  <a:srgbClr val="33414F"/>
                </a:solidFill>
                <a:latin typeface="Garamond" pitchFamily="34" charset="0"/>
                <a:ea typeface="Garamond" pitchFamily="34" charset="-122"/>
                <a:cs typeface="Garamond" pitchFamily="34" charset="-120"/>
              </a:rPr>
              <a:t>Scientific notation for very large and very small numbers</a:t>
            </a:r>
            <a:endParaRPr lang="en-US" sz="2200" dirty="0"/>
          </a:p>
        </p:txBody>
      </p:sp>
      <p:sp>
        <p:nvSpPr>
          <p:cNvPr id="13" name="Shape 8"/>
          <p:cNvSpPr/>
          <p:nvPr/>
        </p:nvSpPr>
        <p:spPr>
          <a:xfrm>
            <a:off x="548641" y="3840480"/>
            <a:ext cx="8756134" cy="850392"/>
          </a:xfrm>
          <a:prstGeom prst="roundRect">
            <a:avLst>
              <a:gd name="adj" fmla="val 9677"/>
            </a:avLst>
          </a:prstGeom>
          <a:solidFill>
            <a:srgbClr val="F1F6F8"/>
          </a:solidFill>
          <a:ln/>
        </p:spPr>
        <p:txBody>
          <a:bodyPr/>
          <a:lstStyle/>
          <a:p>
            <a:endParaRPr lang="en-US"/>
          </a:p>
        </p:txBody>
      </p:sp>
      <p:sp>
        <p:nvSpPr>
          <p:cNvPr id="14" name="Shape 9"/>
          <p:cNvSpPr/>
          <p:nvPr/>
        </p:nvSpPr>
        <p:spPr>
          <a:xfrm>
            <a:off x="804672" y="3982212"/>
            <a:ext cx="566928" cy="566928"/>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15" name="Image 3" descr="/tmp/chem101_topic2/icon_calculator_white.png"/>
          <p:cNvPicPr>
            <a:picLocks noChangeAspect="1"/>
          </p:cNvPicPr>
          <p:nvPr/>
        </p:nvPicPr>
        <p:blipFill>
          <a:blip r:embed="rId6"/>
          <a:stretch>
            <a:fillRect/>
          </a:stretch>
        </p:blipFill>
        <p:spPr>
          <a:xfrm>
            <a:off x="940735" y="4118275"/>
            <a:ext cx="294803" cy="294803"/>
          </a:xfrm>
          <a:prstGeom prst="rect">
            <a:avLst/>
          </a:prstGeom>
        </p:spPr>
      </p:pic>
      <p:sp>
        <p:nvSpPr>
          <p:cNvPr id="16" name="Text 10"/>
          <p:cNvSpPr txBox="1"/>
          <p:nvPr/>
        </p:nvSpPr>
        <p:spPr>
          <a:xfrm>
            <a:off x="1600200" y="3840480"/>
            <a:ext cx="9814255" cy="850392"/>
          </a:xfrm>
          <a:prstGeom prst="rect">
            <a:avLst/>
          </a:prstGeom>
          <a:noFill/>
          <a:ln/>
        </p:spPr>
        <p:txBody>
          <a:bodyPr wrap="square" lIns="0" tIns="0" rIns="0" bIns="0" rtlCol="0" anchor="ctr"/>
          <a:lstStyle/>
          <a:p>
            <a:pPr marL="0" indent="0">
              <a:buNone/>
            </a:pPr>
            <a:r>
              <a:rPr lang="en-US" sz="2200" dirty="0">
                <a:solidFill>
                  <a:srgbClr val="33414F"/>
                </a:solidFill>
                <a:latin typeface="Garamond" pitchFamily="34" charset="0"/>
                <a:ea typeface="Garamond" pitchFamily="34" charset="-122"/>
                <a:cs typeface="Garamond" pitchFamily="34" charset="-120"/>
              </a:rPr>
              <a:t>Significant figures and measurement precision</a:t>
            </a:r>
            <a:endParaRPr lang="en-US" sz="2200" dirty="0"/>
          </a:p>
        </p:txBody>
      </p:sp>
      <p:sp>
        <p:nvSpPr>
          <p:cNvPr id="17" name="Shape 11"/>
          <p:cNvSpPr/>
          <p:nvPr/>
        </p:nvSpPr>
        <p:spPr>
          <a:xfrm>
            <a:off x="548641" y="4892040"/>
            <a:ext cx="8756134" cy="850392"/>
          </a:xfrm>
          <a:prstGeom prst="roundRect">
            <a:avLst>
              <a:gd name="adj" fmla="val 9677"/>
            </a:avLst>
          </a:prstGeom>
          <a:solidFill>
            <a:srgbClr val="F1F6F8"/>
          </a:solidFill>
          <a:ln/>
        </p:spPr>
        <p:txBody>
          <a:bodyPr/>
          <a:lstStyle/>
          <a:p>
            <a:endParaRPr lang="en-US"/>
          </a:p>
        </p:txBody>
      </p:sp>
      <p:sp>
        <p:nvSpPr>
          <p:cNvPr id="18" name="Shape 12"/>
          <p:cNvSpPr/>
          <p:nvPr/>
        </p:nvSpPr>
        <p:spPr>
          <a:xfrm>
            <a:off x="804672" y="5033772"/>
            <a:ext cx="566928" cy="566928"/>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19" name="Image 4" descr="/tmp/chem101_topic2/icon_thermometer_white.png"/>
          <p:cNvPicPr>
            <a:picLocks noChangeAspect="1"/>
          </p:cNvPicPr>
          <p:nvPr/>
        </p:nvPicPr>
        <p:blipFill>
          <a:blip r:embed="rId7"/>
          <a:stretch>
            <a:fillRect/>
          </a:stretch>
        </p:blipFill>
        <p:spPr>
          <a:xfrm>
            <a:off x="940735" y="5169835"/>
            <a:ext cx="294803" cy="294803"/>
          </a:xfrm>
          <a:prstGeom prst="rect">
            <a:avLst/>
          </a:prstGeom>
        </p:spPr>
      </p:pic>
      <p:sp>
        <p:nvSpPr>
          <p:cNvPr id="20" name="Text 13"/>
          <p:cNvSpPr txBox="1"/>
          <p:nvPr/>
        </p:nvSpPr>
        <p:spPr>
          <a:xfrm>
            <a:off x="1600200" y="4892040"/>
            <a:ext cx="9814255" cy="850392"/>
          </a:xfrm>
          <a:prstGeom prst="rect">
            <a:avLst/>
          </a:prstGeom>
          <a:noFill/>
          <a:ln/>
        </p:spPr>
        <p:txBody>
          <a:bodyPr wrap="square" lIns="0" tIns="0" rIns="0" bIns="0" rtlCol="0" anchor="ctr"/>
          <a:lstStyle/>
          <a:p>
            <a:pPr marL="0" indent="0">
              <a:buNone/>
            </a:pPr>
            <a:r>
              <a:rPr lang="en-US" sz="2200" dirty="0">
                <a:solidFill>
                  <a:srgbClr val="33414F"/>
                </a:solidFill>
                <a:latin typeface="Garamond" pitchFamily="34" charset="0"/>
                <a:ea typeface="Garamond" pitchFamily="34" charset="-122"/>
                <a:cs typeface="Garamond" pitchFamily="34" charset="-120"/>
              </a:rPr>
              <a:t>Temperature scales and density</a:t>
            </a:r>
            <a:endParaRPr lang="en-US" sz="2200" dirty="0"/>
          </a:p>
        </p:txBody>
      </p:sp>
      <p:sp>
        <p:nvSpPr>
          <p:cNvPr id="21" name="Text 14"/>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22" name="Text 15"/>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heartbeat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Why careful measurements matter in Healthcare</a:t>
            </a:r>
            <a:endParaRPr lang="en-US" sz="2800" dirty="0"/>
          </a:p>
        </p:txBody>
      </p:sp>
      <p:sp>
        <p:nvSpPr>
          <p:cNvPr id="5" name="Shape 2"/>
          <p:cNvSpPr/>
          <p:nvPr/>
        </p:nvSpPr>
        <p:spPr>
          <a:xfrm>
            <a:off x="548640" y="1554480"/>
            <a:ext cx="5410048"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6" name="Shape 3"/>
          <p:cNvSpPr/>
          <p:nvPr/>
        </p:nvSpPr>
        <p:spPr>
          <a:xfrm>
            <a:off x="804672" y="1810512"/>
            <a:ext cx="502920" cy="50292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7" name="Image 1" descr="/tmp/chem101_topic2/icon_vial_white.png"/>
          <p:cNvPicPr>
            <a:picLocks noChangeAspect="1"/>
          </p:cNvPicPr>
          <p:nvPr/>
        </p:nvPicPr>
        <p:blipFill>
          <a:blip r:embed="rId4"/>
          <a:stretch>
            <a:fillRect/>
          </a:stretch>
        </p:blipFill>
        <p:spPr>
          <a:xfrm>
            <a:off x="925373" y="1931213"/>
            <a:ext cx="261518" cy="261518"/>
          </a:xfrm>
          <a:prstGeom prst="rect">
            <a:avLst/>
          </a:prstGeom>
        </p:spPr>
      </p:pic>
      <p:sp>
        <p:nvSpPr>
          <p:cNvPr id="8" name="Text 4"/>
          <p:cNvSpPr txBox="1"/>
          <p:nvPr/>
        </p:nvSpPr>
        <p:spPr>
          <a:xfrm>
            <a:off x="1428293" y="1856232"/>
            <a:ext cx="4897984" cy="36576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Medication Dosing</a:t>
            </a:r>
            <a:endParaRPr lang="en-US" sz="2000" dirty="0"/>
          </a:p>
        </p:txBody>
      </p:sp>
      <p:sp>
        <p:nvSpPr>
          <p:cNvPr id="9" name="Text 5"/>
          <p:cNvSpPr txBox="1"/>
          <p:nvPr/>
        </p:nvSpPr>
        <p:spPr>
          <a:xfrm>
            <a:off x="804672" y="2436368"/>
            <a:ext cx="4897984" cy="59436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Converting mcg to mg (or mg to g) incorrectly can mean a 1,000-fold dosing error and possible patient death</a:t>
            </a:r>
            <a:endParaRPr lang="en-US" dirty="0"/>
          </a:p>
        </p:txBody>
      </p:sp>
      <p:sp>
        <p:nvSpPr>
          <p:cNvPr id="10" name="Shape 6"/>
          <p:cNvSpPr/>
          <p:nvPr/>
        </p:nvSpPr>
        <p:spPr>
          <a:xfrm>
            <a:off x="6233008" y="1554480"/>
            <a:ext cx="5410048"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11" name="Shape 7"/>
          <p:cNvSpPr/>
          <p:nvPr/>
        </p:nvSpPr>
        <p:spPr>
          <a:xfrm>
            <a:off x="6489040" y="1810512"/>
            <a:ext cx="502920" cy="50292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12" name="Image 2" descr="/tmp/chem101_topic2/icon_thermometer_white.png"/>
          <p:cNvPicPr>
            <a:picLocks noChangeAspect="1"/>
          </p:cNvPicPr>
          <p:nvPr/>
        </p:nvPicPr>
        <p:blipFill>
          <a:blip r:embed="rId5"/>
          <a:stretch>
            <a:fillRect/>
          </a:stretch>
        </p:blipFill>
        <p:spPr>
          <a:xfrm>
            <a:off x="6609740" y="1931213"/>
            <a:ext cx="261518" cy="261518"/>
          </a:xfrm>
          <a:prstGeom prst="rect">
            <a:avLst/>
          </a:prstGeom>
        </p:spPr>
      </p:pic>
      <p:sp>
        <p:nvSpPr>
          <p:cNvPr id="13" name="Text 8"/>
          <p:cNvSpPr txBox="1"/>
          <p:nvPr/>
        </p:nvSpPr>
        <p:spPr>
          <a:xfrm>
            <a:off x="7112661" y="1856232"/>
            <a:ext cx="4897984" cy="36576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Vital Signs &amp; Measures</a:t>
            </a:r>
            <a:endParaRPr lang="en-US" sz="2000" dirty="0"/>
          </a:p>
        </p:txBody>
      </p:sp>
      <p:sp>
        <p:nvSpPr>
          <p:cNvPr id="14" name="Text 9"/>
          <p:cNvSpPr txBox="1"/>
          <p:nvPr/>
        </p:nvSpPr>
        <p:spPr>
          <a:xfrm>
            <a:off x="6489040" y="2436368"/>
            <a:ext cx="4897984" cy="59436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Temperature, weight, and height, pCO</a:t>
            </a:r>
            <a:r>
              <a:rPr lang="en-US" baseline="-25000" dirty="0">
                <a:solidFill>
                  <a:srgbClr val="33414F"/>
                </a:solidFill>
                <a:latin typeface="Garamond" pitchFamily="34" charset="0"/>
                <a:ea typeface="Garamond" pitchFamily="34" charset="-122"/>
                <a:cs typeface="Garamond" pitchFamily="34" charset="-120"/>
              </a:rPr>
              <a:t>2</a:t>
            </a:r>
            <a:r>
              <a:rPr lang="en-US" dirty="0">
                <a:solidFill>
                  <a:srgbClr val="33414F"/>
                </a:solidFill>
                <a:latin typeface="Garamond" pitchFamily="34" charset="0"/>
                <a:ea typeface="Garamond" pitchFamily="34" charset="-122"/>
                <a:cs typeface="Garamond" pitchFamily="34" charset="-120"/>
              </a:rPr>
              <a:t>/pO</a:t>
            </a:r>
            <a:r>
              <a:rPr lang="en-US" baseline="-25000" dirty="0">
                <a:solidFill>
                  <a:srgbClr val="33414F"/>
                </a:solidFill>
                <a:latin typeface="Garamond" pitchFamily="34" charset="0"/>
                <a:ea typeface="Garamond" pitchFamily="34" charset="-122"/>
                <a:cs typeface="Garamond" pitchFamily="34" charset="-120"/>
              </a:rPr>
              <a:t>2</a:t>
            </a:r>
            <a:r>
              <a:rPr lang="en-US">
                <a:solidFill>
                  <a:srgbClr val="33414F"/>
                </a:solidFill>
                <a:latin typeface="Garamond" pitchFamily="34" charset="0"/>
                <a:ea typeface="Garamond" pitchFamily="34" charset="-122"/>
                <a:cs typeface="Garamond" pitchFamily="34" charset="-120"/>
              </a:rPr>
              <a:t>, and pulse </a:t>
            </a:r>
            <a:r>
              <a:rPr lang="en-US" dirty="0">
                <a:solidFill>
                  <a:srgbClr val="33414F"/>
                </a:solidFill>
                <a:latin typeface="Garamond" pitchFamily="34" charset="0"/>
                <a:ea typeface="Garamond" pitchFamily="34" charset="-122"/>
                <a:cs typeface="Garamond" pitchFamily="34" charset="-120"/>
              </a:rPr>
              <a:t>all rely on correct units and conversions</a:t>
            </a:r>
            <a:endParaRPr lang="en-US" dirty="0"/>
          </a:p>
        </p:txBody>
      </p:sp>
      <p:sp>
        <p:nvSpPr>
          <p:cNvPr id="15" name="Shape 10"/>
          <p:cNvSpPr/>
          <p:nvPr/>
        </p:nvSpPr>
        <p:spPr>
          <a:xfrm>
            <a:off x="548640" y="3794760"/>
            <a:ext cx="5410048"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16" name="Shape 11"/>
          <p:cNvSpPr/>
          <p:nvPr/>
        </p:nvSpPr>
        <p:spPr>
          <a:xfrm>
            <a:off x="804672" y="4050792"/>
            <a:ext cx="502920" cy="50292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17" name="Image 3" descr="/tmp/chem101_topic2/icon_chart_white.png"/>
          <p:cNvPicPr>
            <a:picLocks noChangeAspect="1"/>
          </p:cNvPicPr>
          <p:nvPr/>
        </p:nvPicPr>
        <p:blipFill>
          <a:blip r:embed="rId6"/>
          <a:stretch>
            <a:fillRect/>
          </a:stretch>
        </p:blipFill>
        <p:spPr>
          <a:xfrm>
            <a:off x="925373" y="4171493"/>
            <a:ext cx="261518" cy="261518"/>
          </a:xfrm>
          <a:prstGeom prst="rect">
            <a:avLst/>
          </a:prstGeom>
        </p:spPr>
      </p:pic>
      <p:sp>
        <p:nvSpPr>
          <p:cNvPr id="18" name="Text 12"/>
          <p:cNvSpPr txBox="1"/>
          <p:nvPr/>
        </p:nvSpPr>
        <p:spPr>
          <a:xfrm>
            <a:off x="1428293" y="4096512"/>
            <a:ext cx="4897984" cy="36576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Lab Values</a:t>
            </a:r>
            <a:endParaRPr lang="en-US" sz="2000" dirty="0"/>
          </a:p>
        </p:txBody>
      </p:sp>
      <p:sp>
        <p:nvSpPr>
          <p:cNvPr id="19" name="Text 13"/>
          <p:cNvSpPr txBox="1"/>
          <p:nvPr/>
        </p:nvSpPr>
        <p:spPr>
          <a:xfrm>
            <a:off x="804672" y="4676648"/>
            <a:ext cx="4897984" cy="59436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Reading a lab report means understanding the units the result is reported in</a:t>
            </a:r>
            <a:endParaRPr lang="en-US" dirty="0"/>
          </a:p>
        </p:txBody>
      </p:sp>
      <p:sp>
        <p:nvSpPr>
          <p:cNvPr id="20" name="Shape 14"/>
          <p:cNvSpPr/>
          <p:nvPr/>
        </p:nvSpPr>
        <p:spPr>
          <a:xfrm>
            <a:off x="6233008" y="3794760"/>
            <a:ext cx="5410048" cy="1965960"/>
          </a:xfrm>
          <a:prstGeom prst="roundRect">
            <a:avLst>
              <a:gd name="adj" fmla="val 3721"/>
            </a:avLst>
          </a:prstGeom>
          <a:solidFill>
            <a:srgbClr val="F1F6F8"/>
          </a:solidFill>
          <a:ln/>
          <a:effectLst>
            <a:outerShdw blurRad="76200" dist="38100" dir="5400000" algn="bl" rotWithShape="0">
              <a:srgbClr val="1B1B1B">
                <a:alpha val="18000"/>
              </a:srgbClr>
            </a:outerShdw>
          </a:effectLst>
        </p:spPr>
        <p:txBody>
          <a:bodyPr/>
          <a:lstStyle/>
          <a:p>
            <a:endParaRPr lang="en-US"/>
          </a:p>
        </p:txBody>
      </p:sp>
      <p:sp>
        <p:nvSpPr>
          <p:cNvPr id="21" name="Shape 15"/>
          <p:cNvSpPr/>
          <p:nvPr/>
        </p:nvSpPr>
        <p:spPr>
          <a:xfrm>
            <a:off x="6489040" y="4050792"/>
            <a:ext cx="502920" cy="50292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22" name="Image 4" descr="/tmp/chem101_topic2/icon_tint_white.png"/>
          <p:cNvPicPr>
            <a:picLocks noChangeAspect="1"/>
          </p:cNvPicPr>
          <p:nvPr/>
        </p:nvPicPr>
        <p:blipFill>
          <a:blip r:embed="rId7"/>
          <a:stretch>
            <a:fillRect/>
          </a:stretch>
        </p:blipFill>
        <p:spPr>
          <a:xfrm>
            <a:off x="6609740" y="4171493"/>
            <a:ext cx="261518" cy="261518"/>
          </a:xfrm>
          <a:prstGeom prst="rect">
            <a:avLst/>
          </a:prstGeom>
        </p:spPr>
      </p:pic>
      <p:sp>
        <p:nvSpPr>
          <p:cNvPr id="23" name="Text 16"/>
          <p:cNvSpPr txBox="1"/>
          <p:nvPr/>
        </p:nvSpPr>
        <p:spPr>
          <a:xfrm>
            <a:off x="7112661" y="4096512"/>
            <a:ext cx="4897984" cy="36576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IV &amp; Fluid Rates</a:t>
            </a:r>
            <a:endParaRPr lang="en-US" sz="2000" dirty="0"/>
          </a:p>
        </p:txBody>
      </p:sp>
      <p:sp>
        <p:nvSpPr>
          <p:cNvPr id="24" name="Text 17"/>
          <p:cNvSpPr txBox="1"/>
          <p:nvPr/>
        </p:nvSpPr>
        <p:spPr>
          <a:xfrm>
            <a:off x="6489040" y="4676648"/>
            <a:ext cx="4897984" cy="59436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Calculating an infusion rate is a direct application of dimensional analysis</a:t>
            </a:r>
            <a:endParaRPr lang="en-US" dirty="0"/>
          </a:p>
        </p:txBody>
      </p:sp>
      <p:sp>
        <p:nvSpPr>
          <p:cNvPr id="25" name="Text 18"/>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26" name="Text 19"/>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ruler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601200" cy="68580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The Metric System: Base Units</a:t>
            </a:r>
            <a:endParaRPr lang="en-US" sz="3000" dirty="0"/>
          </a:p>
        </p:txBody>
      </p:sp>
      <p:sp>
        <p:nvSpPr>
          <p:cNvPr id="5" name="Shape 2"/>
          <p:cNvSpPr/>
          <p:nvPr/>
        </p:nvSpPr>
        <p:spPr>
          <a:xfrm>
            <a:off x="548640" y="1245870"/>
            <a:ext cx="11094415" cy="1177290"/>
          </a:xfrm>
          <a:prstGeom prst="roundRect">
            <a:avLst>
              <a:gd name="adj" fmla="val 7273"/>
            </a:avLst>
          </a:prstGeom>
          <a:solidFill>
            <a:srgbClr val="B5121A"/>
          </a:solidFill>
          <a:ln/>
          <a:effectLst>
            <a:outerShdw blurRad="76200" dist="38100" dir="5400000" algn="bl" rotWithShape="0">
              <a:srgbClr val="1B1B1B">
                <a:alpha val="18000"/>
              </a:srgbClr>
            </a:outerShdw>
          </a:effectLst>
        </p:spPr>
        <p:txBody>
          <a:bodyPr/>
          <a:lstStyle/>
          <a:p>
            <a:endParaRPr lang="en-US"/>
          </a:p>
        </p:txBody>
      </p:sp>
      <p:sp>
        <p:nvSpPr>
          <p:cNvPr id="6" name="Text 3"/>
          <p:cNvSpPr txBox="1"/>
          <p:nvPr/>
        </p:nvSpPr>
        <p:spPr>
          <a:xfrm>
            <a:off x="868680" y="1417320"/>
            <a:ext cx="10454335" cy="1005840"/>
          </a:xfrm>
          <a:prstGeom prst="rect">
            <a:avLst/>
          </a:prstGeom>
          <a:noFill/>
          <a:ln/>
        </p:spPr>
        <p:txBody>
          <a:bodyPr wrap="square" lIns="0" tIns="0" rIns="0" bIns="0" rtlCol="0" anchor="t"/>
          <a:lstStyle/>
          <a:p>
            <a:pPr marL="0" indent="0">
              <a:buNone/>
            </a:pPr>
            <a:r>
              <a:rPr lang="en-US" sz="1800" dirty="0">
                <a:solidFill>
                  <a:srgbClr val="FFFFFF"/>
                </a:solidFill>
                <a:latin typeface="Cambria" pitchFamily="34" charset="0"/>
                <a:ea typeface="Cambria" pitchFamily="34" charset="-122"/>
                <a:cs typeface="Cambria" pitchFamily="34" charset="-120"/>
              </a:rPr>
              <a:t>Chemists use the metric system because it's built on powers of ten — no odd conversions like 12 in = 1 ft.  </a:t>
            </a:r>
          </a:p>
          <a:p>
            <a:pPr marL="0" indent="0">
              <a:buNone/>
            </a:pPr>
            <a:endParaRPr lang="en-US" dirty="0">
              <a:solidFill>
                <a:srgbClr val="FFFFFF"/>
              </a:solidFill>
              <a:latin typeface="Cambria" pitchFamily="34" charset="0"/>
              <a:ea typeface="Cambria" pitchFamily="34" charset="-122"/>
              <a:cs typeface="Cambria" pitchFamily="34" charset="-120"/>
            </a:endParaRPr>
          </a:p>
          <a:p>
            <a:pPr marL="0" indent="0">
              <a:buNone/>
            </a:pPr>
            <a:r>
              <a:rPr lang="en-US" dirty="0">
                <a:solidFill>
                  <a:srgbClr val="FFFFFF"/>
                </a:solidFill>
                <a:latin typeface="Cambria" pitchFamily="34" charset="0"/>
                <a:ea typeface="Cambria" pitchFamily="34" charset="-122"/>
                <a:cs typeface="Cambria" pitchFamily="34" charset="-120"/>
              </a:rPr>
              <a:t>Additionally,</a:t>
            </a:r>
            <a:r>
              <a:rPr lang="en-US" sz="1800" dirty="0">
                <a:solidFill>
                  <a:srgbClr val="FFFFFF"/>
                </a:solidFill>
                <a:latin typeface="Cambria" pitchFamily="34" charset="0"/>
                <a:ea typeface="Cambria" pitchFamily="34" charset="-122"/>
                <a:cs typeface="Cambria" pitchFamily="34" charset="-120"/>
              </a:rPr>
              <a:t> there is </a:t>
            </a:r>
            <a:r>
              <a:rPr lang="en-US" sz="1800" b="1" u="sng" dirty="0">
                <a:solidFill>
                  <a:srgbClr val="FFFFFF"/>
                </a:solidFill>
                <a:latin typeface="Cambria" pitchFamily="34" charset="0"/>
                <a:ea typeface="Cambria" pitchFamily="34" charset="-122"/>
                <a:cs typeface="Cambria" pitchFamily="34" charset="-120"/>
              </a:rPr>
              <a:t>only 1 unit</a:t>
            </a:r>
            <a:r>
              <a:rPr lang="en-US" sz="1800" dirty="0">
                <a:solidFill>
                  <a:srgbClr val="FFFFFF"/>
                </a:solidFill>
                <a:latin typeface="Cambria" pitchFamily="34" charset="0"/>
                <a:ea typeface="Cambria" pitchFamily="34" charset="-122"/>
                <a:cs typeface="Cambria" pitchFamily="34" charset="-120"/>
              </a:rPr>
              <a:t> for each measurement (unlike inches, feet, yards, and miles) </a:t>
            </a:r>
            <a:endParaRPr lang="en-US" sz="1800" dirty="0"/>
          </a:p>
        </p:txBody>
      </p:sp>
      <p:sp>
        <p:nvSpPr>
          <p:cNvPr id="7" name="Shape 4"/>
          <p:cNvSpPr/>
          <p:nvPr/>
        </p:nvSpPr>
        <p:spPr>
          <a:xfrm>
            <a:off x="548640" y="2743200"/>
            <a:ext cx="11094414" cy="547635"/>
          </a:xfrm>
          <a:prstGeom prst="roundRect">
            <a:avLst>
              <a:gd name="adj" fmla="val 6667"/>
            </a:avLst>
          </a:prstGeom>
          <a:solidFill>
            <a:srgbClr val="F1F6F8"/>
          </a:solidFill>
          <a:ln/>
        </p:spPr>
        <p:txBody>
          <a:bodyPr/>
          <a:lstStyle/>
          <a:p>
            <a:endParaRPr lang="en-US"/>
          </a:p>
        </p:txBody>
      </p:sp>
      <p:sp>
        <p:nvSpPr>
          <p:cNvPr id="8" name="Text 5"/>
          <p:cNvSpPr txBox="1"/>
          <p:nvPr/>
        </p:nvSpPr>
        <p:spPr>
          <a:xfrm>
            <a:off x="868680" y="2743200"/>
            <a:ext cx="2202306" cy="547635"/>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Length</a:t>
            </a:r>
            <a:endParaRPr lang="en-US" sz="2000" dirty="0"/>
          </a:p>
        </p:txBody>
      </p:sp>
      <p:sp>
        <p:nvSpPr>
          <p:cNvPr id="9" name="Text 6"/>
          <p:cNvSpPr txBox="1"/>
          <p:nvPr/>
        </p:nvSpPr>
        <p:spPr>
          <a:xfrm>
            <a:off x="3749041" y="2743200"/>
            <a:ext cx="7178040" cy="547635"/>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Meter (m) — the distance light travels in a tiny fraction of a second</a:t>
            </a:r>
            <a:endParaRPr lang="en-US" dirty="0"/>
          </a:p>
        </p:txBody>
      </p:sp>
      <p:sp>
        <p:nvSpPr>
          <p:cNvPr id="10" name="Shape 7"/>
          <p:cNvSpPr/>
          <p:nvPr/>
        </p:nvSpPr>
        <p:spPr>
          <a:xfrm>
            <a:off x="548640" y="3393833"/>
            <a:ext cx="11094414" cy="547635"/>
          </a:xfrm>
          <a:prstGeom prst="roundRect">
            <a:avLst>
              <a:gd name="adj" fmla="val 6667"/>
            </a:avLst>
          </a:prstGeom>
          <a:solidFill>
            <a:srgbClr val="F1F6F8"/>
          </a:solidFill>
          <a:ln/>
        </p:spPr>
        <p:txBody>
          <a:bodyPr/>
          <a:lstStyle/>
          <a:p>
            <a:endParaRPr lang="en-US"/>
          </a:p>
        </p:txBody>
      </p:sp>
      <p:sp>
        <p:nvSpPr>
          <p:cNvPr id="11" name="Text 8"/>
          <p:cNvSpPr txBox="1"/>
          <p:nvPr/>
        </p:nvSpPr>
        <p:spPr>
          <a:xfrm>
            <a:off x="868680" y="3393833"/>
            <a:ext cx="2202306" cy="547635"/>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Mass</a:t>
            </a:r>
            <a:endParaRPr lang="en-US" sz="2000" dirty="0"/>
          </a:p>
        </p:txBody>
      </p:sp>
      <p:sp>
        <p:nvSpPr>
          <p:cNvPr id="12" name="Text 9"/>
          <p:cNvSpPr txBox="1"/>
          <p:nvPr/>
        </p:nvSpPr>
        <p:spPr>
          <a:xfrm>
            <a:off x="3749041" y="3393833"/>
            <a:ext cx="7178040" cy="547635"/>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Gram (g) — the amount of matter in an object</a:t>
            </a:r>
            <a:endParaRPr lang="en-US" dirty="0"/>
          </a:p>
        </p:txBody>
      </p:sp>
      <p:sp>
        <p:nvSpPr>
          <p:cNvPr id="13" name="Shape 10"/>
          <p:cNvSpPr/>
          <p:nvPr/>
        </p:nvSpPr>
        <p:spPr>
          <a:xfrm>
            <a:off x="548640" y="4044466"/>
            <a:ext cx="11094414" cy="547635"/>
          </a:xfrm>
          <a:prstGeom prst="roundRect">
            <a:avLst>
              <a:gd name="adj" fmla="val 6667"/>
            </a:avLst>
          </a:prstGeom>
          <a:solidFill>
            <a:srgbClr val="F1F6F8"/>
          </a:solidFill>
          <a:ln/>
        </p:spPr>
        <p:txBody>
          <a:bodyPr/>
          <a:lstStyle/>
          <a:p>
            <a:endParaRPr lang="en-US"/>
          </a:p>
        </p:txBody>
      </p:sp>
      <p:sp>
        <p:nvSpPr>
          <p:cNvPr id="14" name="Text 11"/>
          <p:cNvSpPr txBox="1"/>
          <p:nvPr/>
        </p:nvSpPr>
        <p:spPr>
          <a:xfrm>
            <a:off x="868680" y="4044466"/>
            <a:ext cx="2202306" cy="547635"/>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Volume</a:t>
            </a:r>
            <a:endParaRPr lang="en-US" sz="2000" dirty="0"/>
          </a:p>
        </p:txBody>
      </p:sp>
      <p:sp>
        <p:nvSpPr>
          <p:cNvPr id="15" name="Text 12"/>
          <p:cNvSpPr txBox="1"/>
          <p:nvPr/>
        </p:nvSpPr>
        <p:spPr>
          <a:xfrm>
            <a:off x="3749040" y="4044465"/>
            <a:ext cx="7178040" cy="547635"/>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Liter (L) — the space a liquid or gas occupies</a:t>
            </a:r>
            <a:endParaRPr lang="en-US" dirty="0"/>
          </a:p>
        </p:txBody>
      </p:sp>
      <p:sp>
        <p:nvSpPr>
          <p:cNvPr id="16"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4</a:t>
            </a:r>
            <a:endParaRPr lang="en-US" sz="900" dirty="0"/>
          </a:p>
        </p:txBody>
      </p:sp>
      <p:sp>
        <p:nvSpPr>
          <p:cNvPr id="18" name="Shape 10">
            <a:extLst>
              <a:ext uri="{FF2B5EF4-FFF2-40B4-BE49-F238E27FC236}">
                <a16:creationId xmlns:a16="http://schemas.microsoft.com/office/drawing/2014/main" id="{BA21C76F-6F97-1445-48C2-A570982A9F5E}"/>
              </a:ext>
            </a:extLst>
          </p:cNvPr>
          <p:cNvSpPr/>
          <p:nvPr/>
        </p:nvSpPr>
        <p:spPr>
          <a:xfrm>
            <a:off x="550320" y="4659093"/>
            <a:ext cx="11094414" cy="547635"/>
          </a:xfrm>
          <a:prstGeom prst="roundRect">
            <a:avLst>
              <a:gd name="adj" fmla="val 6667"/>
            </a:avLst>
          </a:prstGeom>
          <a:solidFill>
            <a:srgbClr val="F1F6F8"/>
          </a:solidFill>
          <a:ln/>
        </p:spPr>
        <p:txBody>
          <a:bodyPr/>
          <a:lstStyle/>
          <a:p>
            <a:endParaRPr lang="en-US"/>
          </a:p>
        </p:txBody>
      </p:sp>
      <p:sp>
        <p:nvSpPr>
          <p:cNvPr id="19" name="Text 11">
            <a:extLst>
              <a:ext uri="{FF2B5EF4-FFF2-40B4-BE49-F238E27FC236}">
                <a16:creationId xmlns:a16="http://schemas.microsoft.com/office/drawing/2014/main" id="{9B425A33-9C2F-CB7D-715E-5F17CC169699}"/>
              </a:ext>
            </a:extLst>
          </p:cNvPr>
          <p:cNvSpPr txBox="1"/>
          <p:nvPr/>
        </p:nvSpPr>
        <p:spPr>
          <a:xfrm>
            <a:off x="870360" y="4659093"/>
            <a:ext cx="2202306" cy="547635"/>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Temperature</a:t>
            </a:r>
            <a:endParaRPr lang="en-US" sz="2000" dirty="0"/>
          </a:p>
        </p:txBody>
      </p:sp>
      <p:sp>
        <p:nvSpPr>
          <p:cNvPr id="20" name="Text 12">
            <a:extLst>
              <a:ext uri="{FF2B5EF4-FFF2-40B4-BE49-F238E27FC236}">
                <a16:creationId xmlns:a16="http://schemas.microsoft.com/office/drawing/2014/main" id="{7D684382-1AD3-D371-AD45-D868EC0409CE}"/>
              </a:ext>
            </a:extLst>
          </p:cNvPr>
          <p:cNvSpPr txBox="1"/>
          <p:nvPr/>
        </p:nvSpPr>
        <p:spPr>
          <a:xfrm>
            <a:off x="3750720" y="4659092"/>
            <a:ext cx="7178040" cy="547635"/>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Celsius (°C), Fahrenheit (°F), or Kelvin (K) measure of energy in substances</a:t>
            </a:r>
            <a:endParaRPr lang="en-US" dirty="0"/>
          </a:p>
        </p:txBody>
      </p:sp>
      <p:sp>
        <p:nvSpPr>
          <p:cNvPr id="21" name="Shape 10">
            <a:extLst>
              <a:ext uri="{FF2B5EF4-FFF2-40B4-BE49-F238E27FC236}">
                <a16:creationId xmlns:a16="http://schemas.microsoft.com/office/drawing/2014/main" id="{91AF00F4-FFD0-D546-9E02-BBD29F5E63FE}"/>
              </a:ext>
            </a:extLst>
          </p:cNvPr>
          <p:cNvSpPr/>
          <p:nvPr/>
        </p:nvSpPr>
        <p:spPr>
          <a:xfrm>
            <a:off x="550320" y="5309725"/>
            <a:ext cx="11094414" cy="547635"/>
          </a:xfrm>
          <a:prstGeom prst="roundRect">
            <a:avLst>
              <a:gd name="adj" fmla="val 6667"/>
            </a:avLst>
          </a:prstGeom>
          <a:solidFill>
            <a:srgbClr val="F1F6F8"/>
          </a:solidFill>
          <a:ln/>
        </p:spPr>
        <p:txBody>
          <a:bodyPr/>
          <a:lstStyle/>
          <a:p>
            <a:endParaRPr lang="en-US"/>
          </a:p>
        </p:txBody>
      </p:sp>
      <p:sp>
        <p:nvSpPr>
          <p:cNvPr id="22" name="Text 11">
            <a:extLst>
              <a:ext uri="{FF2B5EF4-FFF2-40B4-BE49-F238E27FC236}">
                <a16:creationId xmlns:a16="http://schemas.microsoft.com/office/drawing/2014/main" id="{F436B0BD-1236-F5A8-EE91-BA429B992A63}"/>
              </a:ext>
            </a:extLst>
          </p:cNvPr>
          <p:cNvSpPr txBox="1"/>
          <p:nvPr/>
        </p:nvSpPr>
        <p:spPr>
          <a:xfrm>
            <a:off x="870360" y="5309725"/>
            <a:ext cx="2202306" cy="547635"/>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Time</a:t>
            </a:r>
            <a:endParaRPr lang="en-US" sz="2000" dirty="0"/>
          </a:p>
        </p:txBody>
      </p:sp>
      <p:sp>
        <p:nvSpPr>
          <p:cNvPr id="23" name="Text 12">
            <a:extLst>
              <a:ext uri="{FF2B5EF4-FFF2-40B4-BE49-F238E27FC236}">
                <a16:creationId xmlns:a16="http://schemas.microsoft.com/office/drawing/2014/main" id="{0787E6CA-51DE-C8F6-C84A-F02CF716B9AC}"/>
              </a:ext>
            </a:extLst>
          </p:cNvPr>
          <p:cNvSpPr txBox="1"/>
          <p:nvPr/>
        </p:nvSpPr>
        <p:spPr>
          <a:xfrm>
            <a:off x="3750720" y="5309724"/>
            <a:ext cx="7178040" cy="547635"/>
          </a:xfrm>
          <a:prstGeom prst="rect">
            <a:avLst/>
          </a:prstGeom>
          <a:noFill/>
          <a:ln/>
        </p:spPr>
        <p:txBody>
          <a:bodyPr wrap="square" lIns="0" tIns="0" rIns="0" bIns="0" rtlCol="0" anchor="ctr"/>
          <a:lstStyle/>
          <a:p>
            <a:r>
              <a:rPr lang="en-US" dirty="0">
                <a:solidFill>
                  <a:srgbClr val="33414F"/>
                </a:solidFill>
                <a:latin typeface="Garamond" pitchFamily="34" charset="0"/>
                <a:ea typeface="Garamond" pitchFamily="34" charset="-122"/>
                <a:cs typeface="Garamond" pitchFamily="34" charset="-120"/>
              </a:rPr>
              <a:t>Second (s) — basic time unit when measuring rates (i.e. speed, drip, pulse)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chemeClr val="tx2">
              <a:lumMod val="50000"/>
            </a:schemeClr>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exchange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Metric Prefixes: Scaling by Powers of 10</a:t>
            </a:r>
            <a:endParaRPr lang="en-US" sz="2800" dirty="0"/>
          </a:p>
        </p:txBody>
      </p:sp>
      <p:sp>
        <p:nvSpPr>
          <p:cNvPr id="5" name="Shape 2"/>
          <p:cNvSpPr/>
          <p:nvPr/>
        </p:nvSpPr>
        <p:spPr>
          <a:xfrm>
            <a:off x="9703692" y="1981028"/>
            <a:ext cx="1637728" cy="2491694"/>
          </a:xfrm>
          <a:prstGeom prst="roundRect">
            <a:avLst>
              <a:gd name="adj" fmla="val 4324"/>
            </a:avLst>
          </a:prstGeom>
          <a:solidFill>
            <a:srgbClr val="F1F6F8"/>
          </a:solidFill>
          <a:ln/>
        </p:spPr>
        <p:txBody>
          <a:bodyPr/>
          <a:lstStyle/>
          <a:p>
            <a:endParaRPr lang="en-US"/>
          </a:p>
        </p:txBody>
      </p:sp>
      <p:sp>
        <p:nvSpPr>
          <p:cNvPr id="7" name="Text 4"/>
          <p:cNvSpPr txBox="1"/>
          <p:nvPr/>
        </p:nvSpPr>
        <p:spPr>
          <a:xfrm>
            <a:off x="10228227" y="2328500"/>
            <a:ext cx="1005840"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Kilo- (k)</a:t>
            </a:r>
            <a:endParaRPr lang="en-US" sz="1500" dirty="0"/>
          </a:p>
        </p:txBody>
      </p:sp>
      <p:sp>
        <p:nvSpPr>
          <p:cNvPr id="8" name="Text 5"/>
          <p:cNvSpPr txBox="1"/>
          <p:nvPr/>
        </p:nvSpPr>
        <p:spPr>
          <a:xfrm>
            <a:off x="9901646" y="2907878"/>
            <a:ext cx="1309005" cy="1058707"/>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1,000 times the base unit — a kilogram is 1,000 grams</a:t>
            </a:r>
            <a:endParaRPr lang="en-US" dirty="0"/>
          </a:p>
        </p:txBody>
      </p:sp>
      <p:sp>
        <p:nvSpPr>
          <p:cNvPr id="9" name="Shape 6"/>
          <p:cNvSpPr/>
          <p:nvPr/>
        </p:nvSpPr>
        <p:spPr>
          <a:xfrm>
            <a:off x="7810763" y="1981028"/>
            <a:ext cx="1583454" cy="2491694"/>
          </a:xfrm>
          <a:prstGeom prst="roundRect">
            <a:avLst>
              <a:gd name="adj" fmla="val 4324"/>
            </a:avLst>
          </a:prstGeom>
          <a:solidFill>
            <a:srgbClr val="F1F6F8"/>
          </a:solidFill>
          <a:ln/>
        </p:spPr>
        <p:txBody>
          <a:bodyPr/>
          <a:lstStyle/>
          <a:p>
            <a:endParaRPr lang="en-US"/>
          </a:p>
        </p:txBody>
      </p:sp>
      <p:sp>
        <p:nvSpPr>
          <p:cNvPr id="11" name="Text 8"/>
          <p:cNvSpPr txBox="1"/>
          <p:nvPr/>
        </p:nvSpPr>
        <p:spPr>
          <a:xfrm>
            <a:off x="8078551" y="2313585"/>
            <a:ext cx="1045855" cy="320040"/>
          </a:xfrm>
          <a:prstGeom prst="rect">
            <a:avLst/>
          </a:prstGeom>
          <a:noFill/>
          <a:ln/>
        </p:spPr>
        <p:txBody>
          <a:bodyPr wrap="square" lIns="0" tIns="0" rIns="0" bIns="0" rtlCol="0" anchor="ctr"/>
          <a:lstStyle/>
          <a:p>
            <a:pPr marL="0" indent="0">
              <a:buNone/>
            </a:pPr>
            <a:r>
              <a:rPr lang="en-US" b="1" dirty="0">
                <a:solidFill>
                  <a:srgbClr val="14213D"/>
                </a:solidFill>
                <a:latin typeface="Garamond" pitchFamily="34" charset="0"/>
                <a:ea typeface="Garamond" pitchFamily="34" charset="-122"/>
                <a:cs typeface="Garamond" pitchFamily="34" charset="-120"/>
              </a:rPr>
              <a:t>Base unit</a:t>
            </a:r>
            <a:endParaRPr lang="en-US" dirty="0"/>
          </a:p>
        </p:txBody>
      </p:sp>
      <p:sp>
        <p:nvSpPr>
          <p:cNvPr id="12" name="Text 9"/>
          <p:cNvSpPr txBox="1"/>
          <p:nvPr/>
        </p:nvSpPr>
        <p:spPr>
          <a:xfrm>
            <a:off x="7993644" y="2907878"/>
            <a:ext cx="1205373" cy="1058707"/>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The anchor — meter, gram, or liter, with no prefix at all</a:t>
            </a:r>
            <a:endParaRPr lang="en-US" dirty="0"/>
          </a:p>
        </p:txBody>
      </p:sp>
      <p:sp>
        <p:nvSpPr>
          <p:cNvPr id="13" name="Shape 10"/>
          <p:cNvSpPr/>
          <p:nvPr/>
        </p:nvSpPr>
        <p:spPr>
          <a:xfrm>
            <a:off x="6046440" y="1954903"/>
            <a:ext cx="1523502" cy="2491694"/>
          </a:xfrm>
          <a:prstGeom prst="roundRect">
            <a:avLst>
              <a:gd name="adj" fmla="val 4324"/>
            </a:avLst>
          </a:prstGeom>
          <a:solidFill>
            <a:srgbClr val="F1F6F8"/>
          </a:solidFill>
          <a:ln/>
        </p:spPr>
        <p:txBody>
          <a:bodyPr/>
          <a:lstStyle/>
          <a:p>
            <a:endParaRPr lang="en-US"/>
          </a:p>
        </p:txBody>
      </p:sp>
      <p:sp>
        <p:nvSpPr>
          <p:cNvPr id="15" name="Text 12"/>
          <p:cNvSpPr txBox="1"/>
          <p:nvPr/>
        </p:nvSpPr>
        <p:spPr>
          <a:xfrm>
            <a:off x="6438330" y="2302375"/>
            <a:ext cx="850740"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Deci- (d)</a:t>
            </a:r>
            <a:endParaRPr lang="en-US" sz="1500" dirty="0"/>
          </a:p>
        </p:txBody>
      </p:sp>
      <p:sp>
        <p:nvSpPr>
          <p:cNvPr id="16" name="Text 13"/>
          <p:cNvSpPr txBox="1"/>
          <p:nvPr/>
        </p:nvSpPr>
        <p:spPr>
          <a:xfrm>
            <a:off x="6208303" y="2881753"/>
            <a:ext cx="1200316" cy="1058707"/>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1/10 of the base unit — a deciliter is 0.1 liters</a:t>
            </a:r>
            <a:endParaRPr lang="en-US" dirty="0"/>
          </a:p>
        </p:txBody>
      </p:sp>
      <p:sp>
        <p:nvSpPr>
          <p:cNvPr id="17" name="Shape 14"/>
          <p:cNvSpPr/>
          <p:nvPr/>
        </p:nvSpPr>
        <p:spPr>
          <a:xfrm>
            <a:off x="4227812" y="1954903"/>
            <a:ext cx="1635748" cy="2491694"/>
          </a:xfrm>
          <a:prstGeom prst="roundRect">
            <a:avLst>
              <a:gd name="adj" fmla="val 4324"/>
            </a:avLst>
          </a:prstGeom>
          <a:solidFill>
            <a:srgbClr val="F1F6F8"/>
          </a:solidFill>
          <a:ln/>
        </p:spPr>
        <p:txBody>
          <a:bodyPr/>
          <a:lstStyle/>
          <a:p>
            <a:endParaRPr lang="en-US"/>
          </a:p>
        </p:txBody>
      </p:sp>
      <p:sp>
        <p:nvSpPr>
          <p:cNvPr id="19" name="Text 16"/>
          <p:cNvSpPr txBox="1"/>
          <p:nvPr/>
        </p:nvSpPr>
        <p:spPr>
          <a:xfrm>
            <a:off x="4585588" y="2302375"/>
            <a:ext cx="1314251"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Centi- (c)</a:t>
            </a:r>
            <a:endParaRPr lang="en-US" sz="1500" dirty="0"/>
          </a:p>
        </p:txBody>
      </p:sp>
      <p:sp>
        <p:nvSpPr>
          <p:cNvPr id="20" name="Text 17"/>
          <p:cNvSpPr txBox="1"/>
          <p:nvPr/>
        </p:nvSpPr>
        <p:spPr>
          <a:xfrm>
            <a:off x="4323342" y="2880363"/>
            <a:ext cx="1498993" cy="1058707"/>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1/100 of base unit — a centimeter is 0.01 meters</a:t>
            </a:r>
            <a:endParaRPr lang="en-US" dirty="0"/>
          </a:p>
        </p:txBody>
      </p:sp>
      <p:sp>
        <p:nvSpPr>
          <p:cNvPr id="21" name="Shape 18"/>
          <p:cNvSpPr/>
          <p:nvPr/>
        </p:nvSpPr>
        <p:spPr>
          <a:xfrm>
            <a:off x="2585076" y="1954903"/>
            <a:ext cx="1520157" cy="2491694"/>
          </a:xfrm>
          <a:prstGeom prst="roundRect">
            <a:avLst>
              <a:gd name="adj" fmla="val 4324"/>
            </a:avLst>
          </a:prstGeom>
          <a:solidFill>
            <a:srgbClr val="F1F6F8"/>
          </a:solidFill>
          <a:ln/>
        </p:spPr>
        <p:txBody>
          <a:bodyPr/>
          <a:lstStyle/>
          <a:p>
            <a:endParaRPr lang="en-US"/>
          </a:p>
        </p:txBody>
      </p:sp>
      <p:sp>
        <p:nvSpPr>
          <p:cNvPr id="23" name="Text 20"/>
          <p:cNvSpPr txBox="1"/>
          <p:nvPr/>
        </p:nvSpPr>
        <p:spPr>
          <a:xfrm>
            <a:off x="2829216" y="2302375"/>
            <a:ext cx="1035196"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Milli- (m)</a:t>
            </a:r>
            <a:endParaRPr lang="en-US" sz="1500" dirty="0"/>
          </a:p>
        </p:txBody>
      </p:sp>
      <p:sp>
        <p:nvSpPr>
          <p:cNvPr id="24" name="Text 21"/>
          <p:cNvSpPr txBox="1"/>
          <p:nvPr/>
        </p:nvSpPr>
        <p:spPr>
          <a:xfrm>
            <a:off x="2625351" y="2881753"/>
            <a:ext cx="1406820" cy="1058707"/>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1/1000 of base unit — a milligram is 0.001 grams</a:t>
            </a:r>
            <a:endParaRPr lang="en-US" dirty="0"/>
          </a:p>
        </p:txBody>
      </p:sp>
      <p:sp>
        <p:nvSpPr>
          <p:cNvPr id="25" name="Shape 22"/>
          <p:cNvSpPr/>
          <p:nvPr/>
        </p:nvSpPr>
        <p:spPr>
          <a:xfrm>
            <a:off x="809897" y="1954903"/>
            <a:ext cx="1692875" cy="2491694"/>
          </a:xfrm>
          <a:prstGeom prst="roundRect">
            <a:avLst>
              <a:gd name="adj" fmla="val 4324"/>
            </a:avLst>
          </a:prstGeom>
          <a:solidFill>
            <a:srgbClr val="F1F6F8"/>
          </a:solidFill>
          <a:ln/>
        </p:spPr>
        <p:txBody>
          <a:bodyPr/>
          <a:lstStyle/>
          <a:p>
            <a:endParaRPr lang="en-US"/>
          </a:p>
        </p:txBody>
      </p:sp>
      <p:sp>
        <p:nvSpPr>
          <p:cNvPr id="27" name="Text 24"/>
          <p:cNvSpPr txBox="1"/>
          <p:nvPr/>
        </p:nvSpPr>
        <p:spPr>
          <a:xfrm>
            <a:off x="1364649" y="2302375"/>
            <a:ext cx="916054" cy="320040"/>
          </a:xfrm>
          <a:prstGeom prst="rect">
            <a:avLst/>
          </a:prstGeom>
          <a:noFill/>
          <a:ln/>
        </p:spPr>
        <p:txBody>
          <a:bodyPr wrap="square" lIns="0" tIns="0" rIns="0" bIns="0" rtlCol="0" anchor="ctr"/>
          <a:lstStyle/>
          <a:p>
            <a:pPr marL="0" indent="0">
              <a:buNone/>
            </a:pPr>
            <a:r>
              <a:rPr lang="en-US" sz="1500" b="1" dirty="0">
                <a:solidFill>
                  <a:srgbClr val="14213D"/>
                </a:solidFill>
                <a:latin typeface="Garamond" pitchFamily="34" charset="0"/>
                <a:ea typeface="Garamond" pitchFamily="34" charset="-122"/>
                <a:cs typeface="Garamond" pitchFamily="34" charset="-120"/>
              </a:rPr>
              <a:t>Micro- (µ)</a:t>
            </a:r>
            <a:endParaRPr lang="en-US" sz="1500" dirty="0"/>
          </a:p>
        </p:txBody>
      </p:sp>
      <p:sp>
        <p:nvSpPr>
          <p:cNvPr id="28" name="Text 25"/>
          <p:cNvSpPr txBox="1"/>
          <p:nvPr/>
        </p:nvSpPr>
        <p:spPr>
          <a:xfrm>
            <a:off x="970167" y="2871907"/>
            <a:ext cx="1432029" cy="1058707"/>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1/1,000,000 of the base unit — a microgram is 0.000001 grams</a:t>
            </a:r>
            <a:endParaRPr lang="en-US" dirty="0"/>
          </a:p>
        </p:txBody>
      </p:sp>
      <p:sp>
        <p:nvSpPr>
          <p:cNvPr id="29" name="Text 26"/>
          <p:cNvSpPr txBox="1"/>
          <p:nvPr/>
        </p:nvSpPr>
        <p:spPr>
          <a:xfrm>
            <a:off x="548639" y="6029160"/>
            <a:ext cx="11094415" cy="457200"/>
          </a:xfrm>
          <a:prstGeom prst="rect">
            <a:avLst/>
          </a:prstGeom>
          <a:noFill/>
          <a:ln/>
        </p:spPr>
        <p:txBody>
          <a:bodyPr wrap="square" lIns="0" tIns="0" rIns="0" bIns="0" rtlCol="0" anchor="ctr"/>
          <a:lstStyle/>
          <a:p>
            <a:pPr marL="0" indent="0" algn="ctr">
              <a:buNone/>
            </a:pPr>
            <a:r>
              <a:rPr lang="en-US" sz="1600" dirty="0">
                <a:solidFill>
                  <a:srgbClr val="63737D"/>
                </a:solidFill>
                <a:latin typeface="Garamond" pitchFamily="34" charset="0"/>
                <a:ea typeface="Garamond" pitchFamily="34" charset="-122"/>
                <a:cs typeface="Garamond" pitchFamily="34" charset="-120"/>
              </a:rPr>
              <a:t>Same pattern every time: move the decimal point by the power of ten the prefix represents.</a:t>
            </a:r>
            <a:endParaRPr lang="en-US" sz="1600" dirty="0"/>
          </a:p>
        </p:txBody>
      </p:sp>
      <p:sp>
        <p:nvSpPr>
          <p:cNvPr id="30" name="Text 27"/>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31" name="Text 28"/>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5</a:t>
            </a:r>
            <a:endParaRPr lang="en-US" sz="900" dirty="0"/>
          </a:p>
        </p:txBody>
      </p:sp>
      <p:sp>
        <p:nvSpPr>
          <p:cNvPr id="33" name="Left-Right Arrow 32">
            <a:extLst>
              <a:ext uri="{FF2B5EF4-FFF2-40B4-BE49-F238E27FC236}">
                <a16:creationId xmlns:a16="http://schemas.microsoft.com/office/drawing/2014/main" id="{8280BD22-13A0-1AE2-7332-722E303530F8}"/>
              </a:ext>
            </a:extLst>
          </p:cNvPr>
          <p:cNvSpPr/>
          <p:nvPr/>
        </p:nvSpPr>
        <p:spPr>
          <a:xfrm>
            <a:off x="548639" y="1437266"/>
            <a:ext cx="11094415" cy="483325"/>
          </a:xfrm>
          <a:prstGeom prst="leftRightArrow">
            <a:avLst/>
          </a:prstGeom>
          <a:solidFill>
            <a:srgbClr val="B512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Shape 3">
            <a:extLst>
              <a:ext uri="{FF2B5EF4-FFF2-40B4-BE49-F238E27FC236}">
                <a16:creationId xmlns:a16="http://schemas.microsoft.com/office/drawing/2014/main" id="{3A1114CF-3514-F155-C00C-C233B8CACAD8}"/>
              </a:ext>
            </a:extLst>
          </p:cNvPr>
          <p:cNvSpPr/>
          <p:nvPr/>
        </p:nvSpPr>
        <p:spPr>
          <a:xfrm rot="5400000">
            <a:off x="1193975" y="1674032"/>
            <a:ext cx="934135" cy="151069"/>
          </a:xfrm>
          <a:prstGeom prst="roundRect">
            <a:avLst>
              <a:gd name="adj" fmla="val 50000"/>
            </a:avLst>
          </a:prstGeom>
          <a:solidFill>
            <a:schemeClr val="tx1"/>
          </a:solidFill>
          <a:ln/>
        </p:spPr>
        <p:txBody>
          <a:bodyPr/>
          <a:lstStyle/>
          <a:p>
            <a:endParaRPr lang="en-US"/>
          </a:p>
        </p:txBody>
      </p:sp>
      <p:sp>
        <p:nvSpPr>
          <p:cNvPr id="35" name="Shape 3">
            <a:extLst>
              <a:ext uri="{FF2B5EF4-FFF2-40B4-BE49-F238E27FC236}">
                <a16:creationId xmlns:a16="http://schemas.microsoft.com/office/drawing/2014/main" id="{8848E4E8-39B1-6D0B-9FE5-A7F804D1650D}"/>
              </a:ext>
            </a:extLst>
          </p:cNvPr>
          <p:cNvSpPr/>
          <p:nvPr/>
        </p:nvSpPr>
        <p:spPr>
          <a:xfrm rot="5400000">
            <a:off x="2861169" y="1664165"/>
            <a:ext cx="934135" cy="151069"/>
          </a:xfrm>
          <a:prstGeom prst="roundRect">
            <a:avLst>
              <a:gd name="adj" fmla="val 50000"/>
            </a:avLst>
          </a:prstGeom>
          <a:solidFill>
            <a:schemeClr val="tx1"/>
          </a:solidFill>
          <a:ln/>
        </p:spPr>
        <p:txBody>
          <a:bodyPr/>
          <a:lstStyle/>
          <a:p>
            <a:endParaRPr lang="en-US"/>
          </a:p>
        </p:txBody>
      </p:sp>
      <p:sp>
        <p:nvSpPr>
          <p:cNvPr id="36" name="Shape 3">
            <a:extLst>
              <a:ext uri="{FF2B5EF4-FFF2-40B4-BE49-F238E27FC236}">
                <a16:creationId xmlns:a16="http://schemas.microsoft.com/office/drawing/2014/main" id="{CA55EEAD-55F9-DDE9-75E9-143698266413}"/>
              </a:ext>
            </a:extLst>
          </p:cNvPr>
          <p:cNvSpPr/>
          <p:nvPr/>
        </p:nvSpPr>
        <p:spPr>
          <a:xfrm rot="5400000">
            <a:off x="4582796" y="1674032"/>
            <a:ext cx="934135" cy="151069"/>
          </a:xfrm>
          <a:prstGeom prst="roundRect">
            <a:avLst>
              <a:gd name="adj" fmla="val 50000"/>
            </a:avLst>
          </a:prstGeom>
          <a:solidFill>
            <a:schemeClr val="tx1"/>
          </a:solidFill>
          <a:ln/>
        </p:spPr>
        <p:txBody>
          <a:bodyPr/>
          <a:lstStyle/>
          <a:p>
            <a:endParaRPr lang="en-US"/>
          </a:p>
        </p:txBody>
      </p:sp>
      <p:sp>
        <p:nvSpPr>
          <p:cNvPr id="37" name="Shape 3">
            <a:extLst>
              <a:ext uri="{FF2B5EF4-FFF2-40B4-BE49-F238E27FC236}">
                <a16:creationId xmlns:a16="http://schemas.microsoft.com/office/drawing/2014/main" id="{2D565B07-A390-3677-D26A-2F0014948307}"/>
              </a:ext>
            </a:extLst>
          </p:cNvPr>
          <p:cNvSpPr/>
          <p:nvPr/>
        </p:nvSpPr>
        <p:spPr>
          <a:xfrm rot="5400000">
            <a:off x="6341123" y="1674032"/>
            <a:ext cx="934135" cy="151069"/>
          </a:xfrm>
          <a:prstGeom prst="roundRect">
            <a:avLst>
              <a:gd name="adj" fmla="val 50000"/>
            </a:avLst>
          </a:prstGeom>
          <a:solidFill>
            <a:schemeClr val="tx1"/>
          </a:solidFill>
          <a:ln/>
        </p:spPr>
        <p:txBody>
          <a:bodyPr/>
          <a:lstStyle/>
          <a:p>
            <a:endParaRPr lang="en-US"/>
          </a:p>
        </p:txBody>
      </p:sp>
      <p:sp>
        <p:nvSpPr>
          <p:cNvPr id="38" name="Shape 3">
            <a:extLst>
              <a:ext uri="{FF2B5EF4-FFF2-40B4-BE49-F238E27FC236}">
                <a16:creationId xmlns:a16="http://schemas.microsoft.com/office/drawing/2014/main" id="{8572535D-ACBF-2D98-D064-4DEA58E8439B}"/>
              </a:ext>
            </a:extLst>
          </p:cNvPr>
          <p:cNvSpPr/>
          <p:nvPr/>
        </p:nvSpPr>
        <p:spPr>
          <a:xfrm rot="5400000">
            <a:off x="8113692" y="1532229"/>
            <a:ext cx="934135" cy="414941"/>
          </a:xfrm>
          <a:prstGeom prst="roundRect">
            <a:avLst>
              <a:gd name="adj" fmla="val 50000"/>
            </a:avLst>
          </a:prstGeom>
          <a:solidFill>
            <a:schemeClr val="tx1"/>
          </a:solidFill>
          <a:ln/>
        </p:spPr>
        <p:txBody>
          <a:bodyPr/>
          <a:lstStyle/>
          <a:p>
            <a:endParaRPr lang="en-US"/>
          </a:p>
        </p:txBody>
      </p:sp>
      <p:sp>
        <p:nvSpPr>
          <p:cNvPr id="6" name="Shape 3"/>
          <p:cNvSpPr/>
          <p:nvPr/>
        </p:nvSpPr>
        <p:spPr>
          <a:xfrm rot="5400000">
            <a:off x="10054555" y="1674033"/>
            <a:ext cx="934135" cy="151069"/>
          </a:xfrm>
          <a:prstGeom prst="roundRect">
            <a:avLst>
              <a:gd name="adj" fmla="val 50000"/>
            </a:avLst>
          </a:prstGeom>
          <a:solidFill>
            <a:schemeClr val="tx1"/>
          </a:solidFill>
          <a:ln/>
        </p:spPr>
        <p:txBody>
          <a:bodyPr/>
          <a:lstStyle/>
          <a:p>
            <a:endParaRPr lang="en-US"/>
          </a:p>
        </p:txBody>
      </p:sp>
      <p:sp>
        <p:nvSpPr>
          <p:cNvPr id="39" name="Right Arrow 38">
            <a:extLst>
              <a:ext uri="{FF2B5EF4-FFF2-40B4-BE49-F238E27FC236}">
                <a16:creationId xmlns:a16="http://schemas.microsoft.com/office/drawing/2014/main" id="{DA4F6463-298B-E1D6-DDDD-9A49B1CADE2E}"/>
              </a:ext>
            </a:extLst>
          </p:cNvPr>
          <p:cNvSpPr/>
          <p:nvPr/>
        </p:nvSpPr>
        <p:spPr>
          <a:xfrm>
            <a:off x="3403770" y="4779154"/>
            <a:ext cx="8216423" cy="458105"/>
          </a:xfrm>
          <a:prstGeom prst="rightArrow">
            <a:avLst>
              <a:gd name="adj1" fmla="val 50000"/>
              <a:gd name="adj2" fmla="val 15000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36E93B81-C120-46BE-CFB3-FE742175C3C3}"/>
              </a:ext>
            </a:extLst>
          </p:cNvPr>
          <p:cNvSpPr txBox="1"/>
          <p:nvPr/>
        </p:nvSpPr>
        <p:spPr>
          <a:xfrm>
            <a:off x="3864412" y="4572000"/>
            <a:ext cx="6176306" cy="369332"/>
          </a:xfrm>
          <a:prstGeom prst="rect">
            <a:avLst/>
          </a:prstGeom>
          <a:noFill/>
        </p:spPr>
        <p:txBody>
          <a:bodyPr wrap="none" rtlCol="0">
            <a:spAutoFit/>
          </a:bodyPr>
          <a:lstStyle/>
          <a:p>
            <a:r>
              <a:rPr lang="en-US" dirty="0"/>
              <a:t>Move this direction, number gets smaller, unit prefix gets bigger</a:t>
            </a:r>
          </a:p>
        </p:txBody>
      </p:sp>
      <p:sp>
        <p:nvSpPr>
          <p:cNvPr id="41" name="Right Arrow 40">
            <a:extLst>
              <a:ext uri="{FF2B5EF4-FFF2-40B4-BE49-F238E27FC236}">
                <a16:creationId xmlns:a16="http://schemas.microsoft.com/office/drawing/2014/main" id="{D8F20722-AD24-D34B-024B-18F7F408B791}"/>
              </a:ext>
            </a:extLst>
          </p:cNvPr>
          <p:cNvSpPr/>
          <p:nvPr/>
        </p:nvSpPr>
        <p:spPr>
          <a:xfrm flipH="1">
            <a:off x="697230" y="5651146"/>
            <a:ext cx="8216422" cy="458105"/>
          </a:xfrm>
          <a:prstGeom prst="rightArrow">
            <a:avLst>
              <a:gd name="adj1" fmla="val 50000"/>
              <a:gd name="adj2" fmla="val 150000"/>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3B1A54A2-9854-177C-E26A-F61291842AAB}"/>
              </a:ext>
            </a:extLst>
          </p:cNvPr>
          <p:cNvSpPr txBox="1"/>
          <p:nvPr/>
        </p:nvSpPr>
        <p:spPr>
          <a:xfrm>
            <a:off x="1859581" y="5401654"/>
            <a:ext cx="6368859" cy="369332"/>
          </a:xfrm>
          <a:prstGeom prst="rect">
            <a:avLst/>
          </a:prstGeom>
          <a:noFill/>
        </p:spPr>
        <p:txBody>
          <a:bodyPr wrap="none" rtlCol="0">
            <a:spAutoFit/>
          </a:bodyPr>
          <a:lstStyle/>
          <a:p>
            <a:r>
              <a:rPr lang="en-US" dirty="0"/>
              <a:t>Move this direction, number gets bigger, unit prefix gets smaller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94415" cy="59436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Converting Units: Dimensional Analysis</a:t>
            </a:r>
            <a:endParaRPr lang="en-US" sz="2800" dirty="0"/>
          </a:p>
        </p:txBody>
      </p:sp>
      <p:sp>
        <p:nvSpPr>
          <p:cNvPr id="3" name="Shape 1"/>
          <p:cNvSpPr/>
          <p:nvPr/>
        </p:nvSpPr>
        <p:spPr>
          <a:xfrm>
            <a:off x="548640" y="1371600"/>
            <a:ext cx="1711909" cy="3200400"/>
          </a:xfrm>
          <a:prstGeom prst="roundRect">
            <a:avLst>
              <a:gd name="adj" fmla="val 3739"/>
            </a:avLst>
          </a:prstGeom>
          <a:solidFill>
            <a:srgbClr val="F1F6F8"/>
          </a:solidFill>
          <a:ln/>
        </p:spPr>
        <p:txBody>
          <a:bodyPr/>
          <a:lstStyle/>
          <a:p>
            <a:endParaRPr lang="en-US"/>
          </a:p>
        </p:txBody>
      </p:sp>
      <p:sp>
        <p:nvSpPr>
          <p:cNvPr id="4" name="Text 2"/>
          <p:cNvSpPr txBox="1"/>
          <p:nvPr/>
        </p:nvSpPr>
        <p:spPr>
          <a:xfrm>
            <a:off x="548640" y="1429076"/>
            <a:ext cx="1711909" cy="320040"/>
          </a:xfrm>
          <a:prstGeom prst="rect">
            <a:avLst/>
          </a:prstGeom>
          <a:noFill/>
          <a:ln/>
        </p:spPr>
        <p:txBody>
          <a:bodyPr wrap="square" lIns="0" tIns="0" rIns="0" bIns="0" rtlCol="0" anchor="ctr"/>
          <a:lstStyle/>
          <a:p>
            <a:pPr marL="0" indent="0" algn="ctr">
              <a:buNone/>
            </a:pPr>
            <a:r>
              <a:rPr lang="en-US" sz="2400" b="1" dirty="0">
                <a:solidFill>
                  <a:srgbClr val="63737D"/>
                </a:solidFill>
                <a:latin typeface="Garamond" pitchFamily="34" charset="0"/>
                <a:ea typeface="Garamond" pitchFamily="34" charset="-122"/>
                <a:cs typeface="Garamond" pitchFamily="34" charset="-120"/>
              </a:rPr>
              <a:t>1</a:t>
            </a:r>
            <a:endParaRPr lang="en-US" sz="2400" dirty="0"/>
          </a:p>
        </p:txBody>
      </p:sp>
      <p:sp>
        <p:nvSpPr>
          <p:cNvPr id="5" name="Shape 3"/>
          <p:cNvSpPr/>
          <p:nvPr/>
        </p:nvSpPr>
        <p:spPr>
          <a:xfrm>
            <a:off x="1107415"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6" name="Image 0" descr="/tmp/chem101_topic2/icon_search_white.png"/>
          <p:cNvPicPr>
            <a:picLocks noChangeAspect="1"/>
          </p:cNvPicPr>
          <p:nvPr/>
        </p:nvPicPr>
        <p:blipFill>
          <a:blip r:embed="rId3"/>
          <a:stretch>
            <a:fillRect/>
          </a:stretch>
        </p:blipFill>
        <p:spPr>
          <a:xfrm>
            <a:off x="1250061" y="1925726"/>
            <a:ext cx="309067" cy="309067"/>
          </a:xfrm>
          <a:prstGeom prst="rect">
            <a:avLst/>
          </a:prstGeom>
        </p:spPr>
      </p:pic>
      <p:sp>
        <p:nvSpPr>
          <p:cNvPr id="7" name="Text 4"/>
          <p:cNvSpPr txBox="1"/>
          <p:nvPr/>
        </p:nvSpPr>
        <p:spPr>
          <a:xfrm>
            <a:off x="640080"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Identify Given</a:t>
            </a:r>
            <a:endParaRPr lang="en-US" sz="1400" dirty="0"/>
          </a:p>
        </p:txBody>
      </p:sp>
      <p:sp>
        <p:nvSpPr>
          <p:cNvPr id="8" name="Text 5"/>
          <p:cNvSpPr txBox="1"/>
          <p:nvPr/>
        </p:nvSpPr>
        <p:spPr>
          <a:xfrm>
            <a:off x="676656" y="3154680"/>
            <a:ext cx="1455877" cy="1280160"/>
          </a:xfrm>
          <a:prstGeom prst="rect">
            <a:avLst/>
          </a:prstGeom>
          <a:noFill/>
          <a:ln/>
        </p:spPr>
        <p:txBody>
          <a:bodyPr wrap="square" lIns="0" tIns="0" rIns="0" bIns="0" rtlCol="0" anchor="ctr"/>
          <a:lstStyle/>
          <a:p>
            <a:pPr marL="0" indent="0" algn="ctr">
              <a:buNone/>
            </a:pPr>
            <a:r>
              <a:rPr lang="en-US" sz="1600" dirty="0">
                <a:solidFill>
                  <a:srgbClr val="33414F"/>
                </a:solidFill>
                <a:latin typeface="Garamond" pitchFamily="34" charset="0"/>
                <a:ea typeface="Garamond" pitchFamily="34" charset="-122"/>
                <a:cs typeface="Garamond" pitchFamily="34" charset="-120"/>
              </a:rPr>
              <a:t>What value and unit do you start with?</a:t>
            </a:r>
            <a:endParaRPr lang="en-US" sz="1600" dirty="0"/>
          </a:p>
        </p:txBody>
      </p:sp>
      <p:pic>
        <p:nvPicPr>
          <p:cNvPr id="9" name="Image 1" descr="/tmp/chem101_topic2/icon_arrow_navy.png"/>
          <p:cNvPicPr>
            <a:picLocks noChangeAspect="1"/>
          </p:cNvPicPr>
          <p:nvPr/>
        </p:nvPicPr>
        <p:blipFill>
          <a:blip r:embed="rId4"/>
          <a:stretch>
            <a:fillRect/>
          </a:stretch>
        </p:blipFill>
        <p:spPr>
          <a:xfrm>
            <a:off x="2260549" y="2889504"/>
            <a:ext cx="164592" cy="164592"/>
          </a:xfrm>
          <a:prstGeom prst="rect">
            <a:avLst/>
          </a:prstGeom>
        </p:spPr>
      </p:pic>
      <p:sp>
        <p:nvSpPr>
          <p:cNvPr id="10" name="Shape 6"/>
          <p:cNvSpPr/>
          <p:nvPr/>
        </p:nvSpPr>
        <p:spPr>
          <a:xfrm>
            <a:off x="2425141" y="1371600"/>
            <a:ext cx="1711909" cy="3200400"/>
          </a:xfrm>
          <a:prstGeom prst="roundRect">
            <a:avLst>
              <a:gd name="adj" fmla="val 3739"/>
            </a:avLst>
          </a:prstGeom>
          <a:solidFill>
            <a:srgbClr val="E4EFF2"/>
          </a:solidFill>
          <a:ln/>
        </p:spPr>
        <p:txBody>
          <a:bodyPr/>
          <a:lstStyle/>
          <a:p>
            <a:endParaRPr lang="en-US"/>
          </a:p>
        </p:txBody>
      </p:sp>
      <p:sp>
        <p:nvSpPr>
          <p:cNvPr id="11" name="Text 7"/>
          <p:cNvSpPr txBox="1"/>
          <p:nvPr/>
        </p:nvSpPr>
        <p:spPr>
          <a:xfrm>
            <a:off x="2425141" y="1429076"/>
            <a:ext cx="1711909" cy="320040"/>
          </a:xfrm>
          <a:prstGeom prst="rect">
            <a:avLst/>
          </a:prstGeom>
          <a:noFill/>
          <a:ln/>
        </p:spPr>
        <p:txBody>
          <a:bodyPr wrap="square" lIns="0" tIns="0" rIns="0" bIns="0" rtlCol="0" anchor="ctr"/>
          <a:lstStyle/>
          <a:p>
            <a:pPr marL="0" indent="0" algn="ctr">
              <a:buNone/>
            </a:pPr>
            <a:r>
              <a:rPr lang="en-US" sz="2400" b="1" dirty="0">
                <a:solidFill>
                  <a:srgbClr val="63737D"/>
                </a:solidFill>
                <a:latin typeface="Garamond" pitchFamily="34" charset="0"/>
                <a:ea typeface="Garamond" pitchFamily="34" charset="-122"/>
                <a:cs typeface="Garamond" pitchFamily="34" charset="-120"/>
              </a:rPr>
              <a:t>2</a:t>
            </a:r>
            <a:endParaRPr lang="en-US" sz="2400" dirty="0"/>
          </a:p>
        </p:txBody>
      </p:sp>
      <p:sp>
        <p:nvSpPr>
          <p:cNvPr id="12" name="Shape 8"/>
          <p:cNvSpPr/>
          <p:nvPr/>
        </p:nvSpPr>
        <p:spPr>
          <a:xfrm>
            <a:off x="2983916"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13" name="Image 2" descr="/tmp/chem101_topic2/icon_question_white.png"/>
          <p:cNvPicPr>
            <a:picLocks noChangeAspect="1"/>
          </p:cNvPicPr>
          <p:nvPr/>
        </p:nvPicPr>
        <p:blipFill>
          <a:blip r:embed="rId5"/>
          <a:stretch>
            <a:fillRect/>
          </a:stretch>
        </p:blipFill>
        <p:spPr>
          <a:xfrm>
            <a:off x="3126562" y="1925726"/>
            <a:ext cx="309067" cy="309067"/>
          </a:xfrm>
          <a:prstGeom prst="rect">
            <a:avLst/>
          </a:prstGeom>
        </p:spPr>
      </p:pic>
      <p:sp>
        <p:nvSpPr>
          <p:cNvPr id="14" name="Text 9"/>
          <p:cNvSpPr txBox="1"/>
          <p:nvPr/>
        </p:nvSpPr>
        <p:spPr>
          <a:xfrm>
            <a:off x="2516581"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Identify Desired</a:t>
            </a:r>
            <a:endParaRPr lang="en-US" sz="1400" dirty="0"/>
          </a:p>
        </p:txBody>
      </p:sp>
      <p:sp>
        <p:nvSpPr>
          <p:cNvPr id="15" name="Text 10"/>
          <p:cNvSpPr txBox="1"/>
          <p:nvPr/>
        </p:nvSpPr>
        <p:spPr>
          <a:xfrm>
            <a:off x="2553157" y="3154680"/>
            <a:ext cx="1455877" cy="1280160"/>
          </a:xfrm>
          <a:prstGeom prst="rect">
            <a:avLst/>
          </a:prstGeom>
          <a:noFill/>
          <a:ln/>
        </p:spPr>
        <p:txBody>
          <a:bodyPr wrap="square" lIns="0" tIns="0" rIns="0" bIns="0" rtlCol="0" anchor="ctr"/>
          <a:lstStyle/>
          <a:p>
            <a:pPr marL="0" indent="0" algn="ctr">
              <a:buNone/>
            </a:pPr>
            <a:r>
              <a:rPr lang="en-US" sz="1600" dirty="0">
                <a:solidFill>
                  <a:srgbClr val="33414F"/>
                </a:solidFill>
                <a:latin typeface="Garamond" pitchFamily="34" charset="0"/>
                <a:ea typeface="Garamond" pitchFamily="34" charset="-122"/>
                <a:cs typeface="Garamond" pitchFamily="34" charset="-120"/>
              </a:rPr>
              <a:t>What unit do you need to end with?</a:t>
            </a:r>
            <a:endParaRPr lang="en-US" sz="1600" dirty="0"/>
          </a:p>
        </p:txBody>
      </p:sp>
      <p:pic>
        <p:nvPicPr>
          <p:cNvPr id="16" name="Image 3" descr="/tmp/chem101_topic2/icon_arrow_navy.png"/>
          <p:cNvPicPr>
            <a:picLocks noChangeAspect="1"/>
          </p:cNvPicPr>
          <p:nvPr/>
        </p:nvPicPr>
        <p:blipFill>
          <a:blip r:embed="rId4"/>
          <a:stretch>
            <a:fillRect/>
          </a:stretch>
        </p:blipFill>
        <p:spPr>
          <a:xfrm>
            <a:off x="4137050" y="2889504"/>
            <a:ext cx="164592" cy="164592"/>
          </a:xfrm>
          <a:prstGeom prst="rect">
            <a:avLst/>
          </a:prstGeom>
        </p:spPr>
      </p:pic>
      <p:sp>
        <p:nvSpPr>
          <p:cNvPr id="17" name="Shape 11"/>
          <p:cNvSpPr/>
          <p:nvPr/>
        </p:nvSpPr>
        <p:spPr>
          <a:xfrm>
            <a:off x="4301642" y="1371600"/>
            <a:ext cx="1711909" cy="3200400"/>
          </a:xfrm>
          <a:prstGeom prst="roundRect">
            <a:avLst>
              <a:gd name="adj" fmla="val 3739"/>
            </a:avLst>
          </a:prstGeom>
          <a:solidFill>
            <a:srgbClr val="F1F6F8"/>
          </a:solidFill>
          <a:ln/>
        </p:spPr>
        <p:txBody>
          <a:bodyPr/>
          <a:lstStyle/>
          <a:p>
            <a:endParaRPr lang="en-US"/>
          </a:p>
        </p:txBody>
      </p:sp>
      <p:sp>
        <p:nvSpPr>
          <p:cNvPr id="18" name="Text 12"/>
          <p:cNvSpPr txBox="1"/>
          <p:nvPr/>
        </p:nvSpPr>
        <p:spPr>
          <a:xfrm>
            <a:off x="4301642" y="1429076"/>
            <a:ext cx="1711909" cy="320040"/>
          </a:xfrm>
          <a:prstGeom prst="rect">
            <a:avLst/>
          </a:prstGeom>
          <a:noFill/>
          <a:ln/>
        </p:spPr>
        <p:txBody>
          <a:bodyPr wrap="square" lIns="0" tIns="0" rIns="0" bIns="0" rtlCol="0" anchor="ctr"/>
          <a:lstStyle/>
          <a:p>
            <a:pPr marL="0" indent="0" algn="ctr">
              <a:buNone/>
            </a:pPr>
            <a:r>
              <a:rPr lang="en-US" sz="2400" b="1" dirty="0">
                <a:solidFill>
                  <a:srgbClr val="63737D"/>
                </a:solidFill>
                <a:latin typeface="Garamond" pitchFamily="34" charset="0"/>
                <a:ea typeface="Garamond" pitchFamily="34" charset="-122"/>
                <a:cs typeface="Garamond" pitchFamily="34" charset="-120"/>
              </a:rPr>
              <a:t>3</a:t>
            </a:r>
            <a:endParaRPr lang="en-US" sz="2400" dirty="0"/>
          </a:p>
        </p:txBody>
      </p:sp>
      <p:sp>
        <p:nvSpPr>
          <p:cNvPr id="19" name="Shape 13"/>
          <p:cNvSpPr/>
          <p:nvPr/>
        </p:nvSpPr>
        <p:spPr>
          <a:xfrm>
            <a:off x="4860417"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20" name="Image 4" descr="/tmp/chem101_topic2/icon_exchange_white.png"/>
          <p:cNvPicPr>
            <a:picLocks noChangeAspect="1"/>
          </p:cNvPicPr>
          <p:nvPr/>
        </p:nvPicPr>
        <p:blipFill>
          <a:blip r:embed="rId6"/>
          <a:stretch>
            <a:fillRect/>
          </a:stretch>
        </p:blipFill>
        <p:spPr>
          <a:xfrm>
            <a:off x="5003063" y="1925726"/>
            <a:ext cx="309067" cy="309067"/>
          </a:xfrm>
          <a:prstGeom prst="rect">
            <a:avLst/>
          </a:prstGeom>
        </p:spPr>
      </p:pic>
      <p:sp>
        <p:nvSpPr>
          <p:cNvPr id="21" name="Text 14"/>
          <p:cNvSpPr txBox="1"/>
          <p:nvPr/>
        </p:nvSpPr>
        <p:spPr>
          <a:xfrm>
            <a:off x="4393082"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Find Factor</a:t>
            </a:r>
            <a:endParaRPr lang="en-US" sz="1400" dirty="0"/>
          </a:p>
        </p:txBody>
      </p:sp>
      <p:sp>
        <p:nvSpPr>
          <p:cNvPr id="22" name="Text 15"/>
          <p:cNvSpPr txBox="1"/>
          <p:nvPr/>
        </p:nvSpPr>
        <p:spPr>
          <a:xfrm>
            <a:off x="4429658" y="3154680"/>
            <a:ext cx="1455877" cy="1280160"/>
          </a:xfrm>
          <a:prstGeom prst="rect">
            <a:avLst/>
          </a:prstGeom>
          <a:noFill/>
          <a:ln/>
        </p:spPr>
        <p:txBody>
          <a:bodyPr wrap="square" lIns="0" tIns="0" rIns="0" bIns="0" rtlCol="0" anchor="ctr"/>
          <a:lstStyle/>
          <a:p>
            <a:pPr marL="0" indent="0" algn="ctr">
              <a:buNone/>
            </a:pPr>
            <a:r>
              <a:rPr lang="en-US" sz="1600" dirty="0">
                <a:solidFill>
                  <a:srgbClr val="33414F"/>
                </a:solidFill>
                <a:latin typeface="Garamond" pitchFamily="34" charset="0"/>
                <a:ea typeface="Garamond" pitchFamily="34" charset="-122"/>
                <a:cs typeface="Garamond" pitchFamily="34" charset="-120"/>
              </a:rPr>
              <a:t>What's the relationship connecting the two units?</a:t>
            </a:r>
            <a:endParaRPr lang="en-US" sz="1600" dirty="0"/>
          </a:p>
        </p:txBody>
      </p:sp>
      <p:pic>
        <p:nvPicPr>
          <p:cNvPr id="23" name="Image 5" descr="/tmp/chem101_topic2/icon_arrow_navy.png"/>
          <p:cNvPicPr>
            <a:picLocks noChangeAspect="1"/>
          </p:cNvPicPr>
          <p:nvPr/>
        </p:nvPicPr>
        <p:blipFill>
          <a:blip r:embed="rId4"/>
          <a:stretch>
            <a:fillRect/>
          </a:stretch>
        </p:blipFill>
        <p:spPr>
          <a:xfrm>
            <a:off x="6013552" y="2889504"/>
            <a:ext cx="164592" cy="164592"/>
          </a:xfrm>
          <a:prstGeom prst="rect">
            <a:avLst/>
          </a:prstGeom>
        </p:spPr>
      </p:pic>
      <p:sp>
        <p:nvSpPr>
          <p:cNvPr id="24" name="Shape 16"/>
          <p:cNvSpPr/>
          <p:nvPr/>
        </p:nvSpPr>
        <p:spPr>
          <a:xfrm>
            <a:off x="6178144" y="1371600"/>
            <a:ext cx="1711909" cy="3200400"/>
          </a:xfrm>
          <a:prstGeom prst="roundRect">
            <a:avLst>
              <a:gd name="adj" fmla="val 3739"/>
            </a:avLst>
          </a:prstGeom>
          <a:solidFill>
            <a:srgbClr val="E4EFF2"/>
          </a:solidFill>
          <a:ln/>
        </p:spPr>
        <p:txBody>
          <a:bodyPr/>
          <a:lstStyle/>
          <a:p>
            <a:endParaRPr lang="en-US"/>
          </a:p>
        </p:txBody>
      </p:sp>
      <p:sp>
        <p:nvSpPr>
          <p:cNvPr id="25" name="Text 17"/>
          <p:cNvSpPr txBox="1"/>
          <p:nvPr/>
        </p:nvSpPr>
        <p:spPr>
          <a:xfrm>
            <a:off x="6178144" y="1429076"/>
            <a:ext cx="1711909" cy="320040"/>
          </a:xfrm>
          <a:prstGeom prst="rect">
            <a:avLst/>
          </a:prstGeom>
          <a:noFill/>
          <a:ln/>
        </p:spPr>
        <p:txBody>
          <a:bodyPr wrap="square" lIns="0" tIns="0" rIns="0" bIns="0" rtlCol="0" anchor="ctr"/>
          <a:lstStyle/>
          <a:p>
            <a:pPr marL="0" indent="0" algn="ctr">
              <a:buNone/>
            </a:pPr>
            <a:r>
              <a:rPr lang="en-US" sz="2400" b="1" dirty="0">
                <a:solidFill>
                  <a:srgbClr val="63737D"/>
                </a:solidFill>
                <a:latin typeface="Garamond" pitchFamily="34" charset="0"/>
                <a:ea typeface="Garamond" pitchFamily="34" charset="-122"/>
                <a:cs typeface="Garamond" pitchFamily="34" charset="-120"/>
              </a:rPr>
              <a:t>4</a:t>
            </a:r>
            <a:endParaRPr lang="en-US" sz="2400" dirty="0"/>
          </a:p>
        </p:txBody>
      </p:sp>
      <p:sp>
        <p:nvSpPr>
          <p:cNvPr id="26" name="Shape 18"/>
          <p:cNvSpPr/>
          <p:nvPr/>
        </p:nvSpPr>
        <p:spPr>
          <a:xfrm>
            <a:off x="6736918"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27" name="Image 6" descr="/tmp/chem101_topic2/icon_calculator_white.png"/>
          <p:cNvPicPr>
            <a:picLocks noChangeAspect="1"/>
          </p:cNvPicPr>
          <p:nvPr/>
        </p:nvPicPr>
        <p:blipFill>
          <a:blip r:embed="rId7"/>
          <a:stretch>
            <a:fillRect/>
          </a:stretch>
        </p:blipFill>
        <p:spPr>
          <a:xfrm>
            <a:off x="6879565" y="1925726"/>
            <a:ext cx="309067" cy="309067"/>
          </a:xfrm>
          <a:prstGeom prst="rect">
            <a:avLst/>
          </a:prstGeom>
        </p:spPr>
      </p:pic>
      <p:sp>
        <p:nvSpPr>
          <p:cNvPr id="28" name="Text 19"/>
          <p:cNvSpPr txBox="1"/>
          <p:nvPr/>
        </p:nvSpPr>
        <p:spPr>
          <a:xfrm>
            <a:off x="6269584"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Set Up Fractions</a:t>
            </a:r>
            <a:endParaRPr lang="en-US" sz="1400" dirty="0"/>
          </a:p>
        </p:txBody>
      </p:sp>
      <p:sp>
        <p:nvSpPr>
          <p:cNvPr id="29" name="Text 20"/>
          <p:cNvSpPr txBox="1"/>
          <p:nvPr/>
        </p:nvSpPr>
        <p:spPr>
          <a:xfrm>
            <a:off x="6306160" y="3154680"/>
            <a:ext cx="1455877" cy="1280160"/>
          </a:xfrm>
          <a:prstGeom prst="rect">
            <a:avLst/>
          </a:prstGeom>
          <a:noFill/>
          <a:ln/>
        </p:spPr>
        <p:txBody>
          <a:bodyPr wrap="square" lIns="0" tIns="0" rIns="0" bIns="0" rtlCol="0" anchor="ctr"/>
          <a:lstStyle/>
          <a:p>
            <a:pPr marL="0" indent="0" algn="ctr">
              <a:buNone/>
            </a:pPr>
            <a:r>
              <a:rPr lang="en-US" sz="1600" dirty="0">
                <a:solidFill>
                  <a:srgbClr val="33414F"/>
                </a:solidFill>
                <a:latin typeface="Garamond" pitchFamily="34" charset="0"/>
                <a:ea typeface="Garamond" pitchFamily="34" charset="-122"/>
                <a:cs typeface="Garamond" pitchFamily="34" charset="-120"/>
              </a:rPr>
              <a:t>Arrange it so the unwanted unit cancels</a:t>
            </a:r>
            <a:endParaRPr lang="en-US" sz="1600" dirty="0"/>
          </a:p>
        </p:txBody>
      </p:sp>
      <p:pic>
        <p:nvPicPr>
          <p:cNvPr id="30" name="Image 7" descr="/tmp/chem101_topic2/icon_arrow_navy.png"/>
          <p:cNvPicPr>
            <a:picLocks noChangeAspect="1"/>
          </p:cNvPicPr>
          <p:nvPr/>
        </p:nvPicPr>
        <p:blipFill>
          <a:blip r:embed="rId4"/>
          <a:stretch>
            <a:fillRect/>
          </a:stretch>
        </p:blipFill>
        <p:spPr>
          <a:xfrm>
            <a:off x="7890053" y="2889504"/>
            <a:ext cx="164592" cy="164592"/>
          </a:xfrm>
          <a:prstGeom prst="rect">
            <a:avLst/>
          </a:prstGeom>
        </p:spPr>
      </p:pic>
      <p:sp>
        <p:nvSpPr>
          <p:cNvPr id="31" name="Shape 21"/>
          <p:cNvSpPr/>
          <p:nvPr/>
        </p:nvSpPr>
        <p:spPr>
          <a:xfrm>
            <a:off x="8054645" y="1371600"/>
            <a:ext cx="1711909" cy="3200400"/>
          </a:xfrm>
          <a:prstGeom prst="roundRect">
            <a:avLst>
              <a:gd name="adj" fmla="val 3739"/>
            </a:avLst>
          </a:prstGeom>
          <a:solidFill>
            <a:srgbClr val="F1F6F8"/>
          </a:solidFill>
          <a:ln/>
        </p:spPr>
        <p:txBody>
          <a:bodyPr/>
          <a:lstStyle/>
          <a:p>
            <a:endParaRPr lang="en-US"/>
          </a:p>
        </p:txBody>
      </p:sp>
      <p:sp>
        <p:nvSpPr>
          <p:cNvPr id="32" name="Text 22"/>
          <p:cNvSpPr txBox="1"/>
          <p:nvPr/>
        </p:nvSpPr>
        <p:spPr>
          <a:xfrm>
            <a:off x="8054645" y="1429076"/>
            <a:ext cx="1711909" cy="320040"/>
          </a:xfrm>
          <a:prstGeom prst="rect">
            <a:avLst/>
          </a:prstGeom>
          <a:noFill/>
          <a:ln/>
        </p:spPr>
        <p:txBody>
          <a:bodyPr wrap="square" lIns="0" tIns="0" rIns="0" bIns="0" rtlCol="0" anchor="ctr"/>
          <a:lstStyle/>
          <a:p>
            <a:pPr marL="0" indent="0" algn="ctr">
              <a:buNone/>
            </a:pPr>
            <a:r>
              <a:rPr lang="en-US" sz="2400" b="1" dirty="0">
                <a:solidFill>
                  <a:srgbClr val="63737D"/>
                </a:solidFill>
                <a:latin typeface="Garamond" pitchFamily="34" charset="0"/>
                <a:ea typeface="Garamond" pitchFamily="34" charset="-122"/>
                <a:cs typeface="Garamond" pitchFamily="34" charset="-120"/>
              </a:rPr>
              <a:t>5</a:t>
            </a:r>
            <a:endParaRPr lang="en-US" sz="2400" dirty="0"/>
          </a:p>
        </p:txBody>
      </p:sp>
      <p:sp>
        <p:nvSpPr>
          <p:cNvPr id="33" name="Shape 23"/>
          <p:cNvSpPr/>
          <p:nvPr/>
        </p:nvSpPr>
        <p:spPr>
          <a:xfrm>
            <a:off x="8613419"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4" name="Image 8" descr="/tmp/chem101_topic2/icon_chart_white.png"/>
          <p:cNvPicPr>
            <a:picLocks noChangeAspect="1"/>
          </p:cNvPicPr>
          <p:nvPr/>
        </p:nvPicPr>
        <p:blipFill>
          <a:blip r:embed="rId8"/>
          <a:stretch>
            <a:fillRect/>
          </a:stretch>
        </p:blipFill>
        <p:spPr>
          <a:xfrm>
            <a:off x="8756066" y="1925726"/>
            <a:ext cx="309067" cy="309067"/>
          </a:xfrm>
          <a:prstGeom prst="rect">
            <a:avLst/>
          </a:prstGeom>
        </p:spPr>
      </p:pic>
      <p:sp>
        <p:nvSpPr>
          <p:cNvPr id="35" name="Text 24"/>
          <p:cNvSpPr txBox="1"/>
          <p:nvPr/>
        </p:nvSpPr>
        <p:spPr>
          <a:xfrm>
            <a:off x="8146085"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Calculate</a:t>
            </a:r>
            <a:endParaRPr lang="en-US" sz="1400" dirty="0"/>
          </a:p>
        </p:txBody>
      </p:sp>
      <p:sp>
        <p:nvSpPr>
          <p:cNvPr id="36" name="Text 25"/>
          <p:cNvSpPr txBox="1"/>
          <p:nvPr/>
        </p:nvSpPr>
        <p:spPr>
          <a:xfrm>
            <a:off x="8182661" y="3154680"/>
            <a:ext cx="1455877" cy="1280160"/>
          </a:xfrm>
          <a:prstGeom prst="rect">
            <a:avLst/>
          </a:prstGeom>
          <a:noFill/>
          <a:ln/>
        </p:spPr>
        <p:txBody>
          <a:bodyPr wrap="square" lIns="0" tIns="0" rIns="0" bIns="0" rtlCol="0" anchor="ctr"/>
          <a:lstStyle/>
          <a:p>
            <a:pPr marL="0" indent="0" algn="ctr">
              <a:buNone/>
            </a:pPr>
            <a:r>
              <a:rPr lang="en-US" sz="1600" dirty="0">
                <a:solidFill>
                  <a:srgbClr val="33414F"/>
                </a:solidFill>
                <a:latin typeface="Garamond" pitchFamily="34" charset="0"/>
                <a:ea typeface="Garamond" pitchFamily="34" charset="-122"/>
                <a:cs typeface="Garamond" pitchFamily="34" charset="-120"/>
              </a:rPr>
              <a:t>Multiply straight across, divide as needed</a:t>
            </a:r>
            <a:endParaRPr lang="en-US" sz="1600" dirty="0"/>
          </a:p>
        </p:txBody>
      </p:sp>
      <p:pic>
        <p:nvPicPr>
          <p:cNvPr id="37" name="Image 9" descr="/tmp/chem101_topic2/icon_arrow_navy.png"/>
          <p:cNvPicPr>
            <a:picLocks noChangeAspect="1"/>
          </p:cNvPicPr>
          <p:nvPr/>
        </p:nvPicPr>
        <p:blipFill>
          <a:blip r:embed="rId4"/>
          <a:stretch>
            <a:fillRect/>
          </a:stretch>
        </p:blipFill>
        <p:spPr>
          <a:xfrm>
            <a:off x="9766554" y="2889504"/>
            <a:ext cx="164592" cy="164592"/>
          </a:xfrm>
          <a:prstGeom prst="rect">
            <a:avLst/>
          </a:prstGeom>
        </p:spPr>
      </p:pic>
      <p:sp>
        <p:nvSpPr>
          <p:cNvPr id="38" name="Shape 26"/>
          <p:cNvSpPr/>
          <p:nvPr/>
        </p:nvSpPr>
        <p:spPr>
          <a:xfrm>
            <a:off x="9931146" y="1371600"/>
            <a:ext cx="1711909" cy="3200400"/>
          </a:xfrm>
          <a:prstGeom prst="roundRect">
            <a:avLst>
              <a:gd name="adj" fmla="val 3739"/>
            </a:avLst>
          </a:prstGeom>
          <a:solidFill>
            <a:srgbClr val="E4EFF2"/>
          </a:solidFill>
          <a:ln/>
        </p:spPr>
        <p:txBody>
          <a:bodyPr/>
          <a:lstStyle/>
          <a:p>
            <a:endParaRPr lang="en-US"/>
          </a:p>
        </p:txBody>
      </p:sp>
      <p:sp>
        <p:nvSpPr>
          <p:cNvPr id="39" name="Text 27"/>
          <p:cNvSpPr txBox="1"/>
          <p:nvPr/>
        </p:nvSpPr>
        <p:spPr>
          <a:xfrm>
            <a:off x="9931146" y="1429076"/>
            <a:ext cx="1711909" cy="320040"/>
          </a:xfrm>
          <a:prstGeom prst="rect">
            <a:avLst/>
          </a:prstGeom>
          <a:noFill/>
          <a:ln/>
        </p:spPr>
        <p:txBody>
          <a:bodyPr wrap="square" lIns="0" tIns="0" rIns="0" bIns="0" rtlCol="0" anchor="ctr"/>
          <a:lstStyle/>
          <a:p>
            <a:pPr marL="0" indent="0" algn="ctr">
              <a:buNone/>
            </a:pPr>
            <a:r>
              <a:rPr lang="en-US" sz="2400" b="1" dirty="0">
                <a:solidFill>
                  <a:srgbClr val="63737D"/>
                </a:solidFill>
                <a:latin typeface="Garamond" pitchFamily="34" charset="0"/>
                <a:ea typeface="Garamond" pitchFamily="34" charset="-122"/>
                <a:cs typeface="Garamond" pitchFamily="34" charset="-120"/>
              </a:rPr>
              <a:t>6</a:t>
            </a:r>
            <a:endParaRPr lang="en-US" sz="2400" dirty="0"/>
          </a:p>
        </p:txBody>
      </p:sp>
      <p:sp>
        <p:nvSpPr>
          <p:cNvPr id="40" name="Shape 28"/>
          <p:cNvSpPr/>
          <p:nvPr/>
        </p:nvSpPr>
        <p:spPr>
          <a:xfrm>
            <a:off x="10489921" y="178308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1" name="Image 10" descr="/tmp/chem101_topic2/icon_check_white.png"/>
          <p:cNvPicPr>
            <a:picLocks noChangeAspect="1"/>
          </p:cNvPicPr>
          <p:nvPr/>
        </p:nvPicPr>
        <p:blipFill>
          <a:blip r:embed="rId9"/>
          <a:stretch>
            <a:fillRect/>
          </a:stretch>
        </p:blipFill>
        <p:spPr>
          <a:xfrm>
            <a:off x="10632567" y="1925726"/>
            <a:ext cx="309067" cy="309067"/>
          </a:xfrm>
          <a:prstGeom prst="rect">
            <a:avLst/>
          </a:prstGeom>
        </p:spPr>
      </p:pic>
      <p:sp>
        <p:nvSpPr>
          <p:cNvPr id="42" name="Text 29"/>
          <p:cNvSpPr txBox="1"/>
          <p:nvPr/>
        </p:nvSpPr>
        <p:spPr>
          <a:xfrm>
            <a:off x="10022586" y="2560320"/>
            <a:ext cx="1529029" cy="548640"/>
          </a:xfrm>
          <a:prstGeom prst="rect">
            <a:avLst/>
          </a:prstGeom>
          <a:noFill/>
          <a:ln/>
        </p:spPr>
        <p:txBody>
          <a:bodyPr wrap="square" lIns="0" tIns="0" rIns="0" bIns="0" rtlCol="0" anchor="ctr"/>
          <a:lstStyle/>
          <a:p>
            <a:pPr marL="0" indent="0" algn="ctr">
              <a:buNone/>
            </a:pPr>
            <a:r>
              <a:rPr lang="en-US" sz="1400" b="1" dirty="0">
                <a:solidFill>
                  <a:srgbClr val="14213D"/>
                </a:solidFill>
                <a:latin typeface="Garamond" pitchFamily="34" charset="0"/>
                <a:ea typeface="Garamond" pitchFamily="34" charset="-122"/>
                <a:cs typeface="Garamond" pitchFamily="34" charset="-120"/>
              </a:rPr>
              <a:t>Check</a:t>
            </a:r>
            <a:endParaRPr lang="en-US" sz="1400" dirty="0"/>
          </a:p>
        </p:txBody>
      </p:sp>
      <p:sp>
        <p:nvSpPr>
          <p:cNvPr id="43" name="Text 30"/>
          <p:cNvSpPr txBox="1"/>
          <p:nvPr/>
        </p:nvSpPr>
        <p:spPr>
          <a:xfrm>
            <a:off x="10059162" y="3154680"/>
            <a:ext cx="1455877" cy="1280160"/>
          </a:xfrm>
          <a:prstGeom prst="rect">
            <a:avLst/>
          </a:prstGeom>
          <a:noFill/>
          <a:ln/>
        </p:spPr>
        <p:txBody>
          <a:bodyPr wrap="square" lIns="0" tIns="0" rIns="0" bIns="0" rtlCol="0" anchor="ctr"/>
          <a:lstStyle/>
          <a:p>
            <a:pPr marL="0" indent="0" algn="ctr">
              <a:buNone/>
            </a:pPr>
            <a:r>
              <a:rPr lang="en-US" sz="1600" dirty="0">
                <a:solidFill>
                  <a:srgbClr val="33414F"/>
                </a:solidFill>
                <a:latin typeface="Garamond" pitchFamily="34" charset="0"/>
                <a:ea typeface="Garamond" pitchFamily="34" charset="-122"/>
                <a:cs typeface="Garamond" pitchFamily="34" charset="-120"/>
              </a:rPr>
              <a:t>Does the size and number of significant figures make sense?</a:t>
            </a:r>
            <a:endParaRPr lang="en-US" sz="1600" dirty="0"/>
          </a:p>
        </p:txBody>
      </p:sp>
      <p:sp>
        <p:nvSpPr>
          <p:cNvPr id="44" name="Text 31"/>
          <p:cNvSpPr txBox="1"/>
          <p:nvPr/>
        </p:nvSpPr>
        <p:spPr>
          <a:xfrm>
            <a:off x="548640" y="4800600"/>
            <a:ext cx="11094415" cy="457200"/>
          </a:xfrm>
          <a:prstGeom prst="rect">
            <a:avLst/>
          </a:prstGeom>
          <a:noFill/>
          <a:ln/>
        </p:spPr>
        <p:txBody>
          <a:bodyPr wrap="square" lIns="0" tIns="0" rIns="0" bIns="0" rtlCol="0" anchor="ctr"/>
          <a:lstStyle/>
          <a:p>
            <a:pPr marL="0" indent="0" algn="ctr">
              <a:buNone/>
            </a:pPr>
            <a:r>
              <a:rPr lang="en-US" dirty="0">
                <a:solidFill>
                  <a:srgbClr val="FFFF00"/>
                </a:solidFill>
                <a:highlight>
                  <a:srgbClr val="0000FF"/>
                </a:highlight>
                <a:latin typeface="Garamond" pitchFamily="34" charset="0"/>
                <a:ea typeface="Garamond" pitchFamily="34" charset="-122"/>
                <a:cs typeface="Garamond" pitchFamily="34" charset="-120"/>
              </a:rPr>
              <a:t>This is the single most useful method you'll use all semester — in lecture, lab, and clinically.</a:t>
            </a:r>
            <a:endParaRPr lang="en-US" dirty="0">
              <a:solidFill>
                <a:srgbClr val="FFFF00"/>
              </a:solidFill>
              <a:highlight>
                <a:srgbClr val="0000FF"/>
              </a:highlight>
            </a:endParaRPr>
          </a:p>
        </p:txBody>
      </p:sp>
      <p:sp>
        <p:nvSpPr>
          <p:cNvPr id="45" name="Text 32"/>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46" name="Text 3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F4A100"/>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vial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500" b="1" dirty="0">
                <a:solidFill>
                  <a:srgbClr val="14213D"/>
                </a:solidFill>
                <a:latin typeface="Cambria" pitchFamily="34" charset="0"/>
                <a:ea typeface="Cambria" pitchFamily="34" charset="-122"/>
                <a:cs typeface="Cambria" pitchFamily="34" charset="-120"/>
              </a:rPr>
              <a:t>Worked Example: A Medication Dose Conversion</a:t>
            </a:r>
            <a:endParaRPr lang="en-US" sz="2500" dirty="0"/>
          </a:p>
        </p:txBody>
      </p:sp>
      <p:sp>
        <p:nvSpPr>
          <p:cNvPr id="5" name="Shape 2"/>
          <p:cNvSpPr/>
          <p:nvPr/>
        </p:nvSpPr>
        <p:spPr>
          <a:xfrm>
            <a:off x="548640" y="1417320"/>
            <a:ext cx="11094415" cy="804672"/>
          </a:xfrm>
          <a:prstGeom prst="roundRect">
            <a:avLst>
              <a:gd name="adj" fmla="val 6818"/>
            </a:avLst>
          </a:prstGeom>
          <a:solidFill>
            <a:srgbClr val="F1F6F8"/>
          </a:solidFill>
          <a:ln/>
        </p:spPr>
        <p:txBody>
          <a:bodyPr/>
          <a:lstStyle/>
          <a:p>
            <a:endParaRPr lang="en-US"/>
          </a:p>
        </p:txBody>
      </p:sp>
      <p:sp>
        <p:nvSpPr>
          <p:cNvPr id="6" name="Shape 3"/>
          <p:cNvSpPr/>
          <p:nvPr/>
        </p:nvSpPr>
        <p:spPr>
          <a:xfrm>
            <a:off x="785969" y="1642628"/>
            <a:ext cx="1454727" cy="354056"/>
          </a:xfrm>
          <a:prstGeom prst="roundRect">
            <a:avLst>
              <a:gd name="adj" fmla="val 15625"/>
            </a:avLst>
          </a:prstGeom>
          <a:solidFill>
            <a:srgbClr val="14213D"/>
          </a:solidFill>
          <a:ln/>
        </p:spPr>
        <p:txBody>
          <a:bodyPr/>
          <a:lstStyle/>
          <a:p>
            <a:endParaRPr lang="en-US"/>
          </a:p>
        </p:txBody>
      </p:sp>
      <p:sp>
        <p:nvSpPr>
          <p:cNvPr id="7" name="Text 4"/>
          <p:cNvSpPr txBox="1"/>
          <p:nvPr/>
        </p:nvSpPr>
        <p:spPr>
          <a:xfrm>
            <a:off x="912205" y="1624925"/>
            <a:ext cx="1202254" cy="389462"/>
          </a:xfrm>
          <a:prstGeom prst="rect">
            <a:avLst/>
          </a:prstGeom>
          <a:noFill/>
          <a:ln/>
        </p:spPr>
        <p:txBody>
          <a:bodyPr wrap="square" lIns="0" tIns="0" rIns="0" bIns="0" rtlCol="0" anchor="ctr"/>
          <a:lstStyle/>
          <a:p>
            <a:pPr marL="0" indent="0" algn="ctr">
              <a:buNone/>
            </a:pPr>
            <a:r>
              <a:rPr lang="en-US" sz="1900" b="1" dirty="0">
                <a:solidFill>
                  <a:srgbClr val="FFFFFF"/>
                </a:solidFill>
                <a:latin typeface="Garamond" pitchFamily="34" charset="0"/>
                <a:ea typeface="Garamond" pitchFamily="34" charset="-122"/>
                <a:cs typeface="Garamond" pitchFamily="34" charset="-120"/>
              </a:rPr>
              <a:t>Order</a:t>
            </a:r>
            <a:endParaRPr lang="en-US" sz="1900" dirty="0"/>
          </a:p>
        </p:txBody>
      </p:sp>
      <p:sp>
        <p:nvSpPr>
          <p:cNvPr id="8" name="Text 5"/>
          <p:cNvSpPr txBox="1"/>
          <p:nvPr/>
        </p:nvSpPr>
        <p:spPr>
          <a:xfrm>
            <a:off x="2514600" y="1417320"/>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 physician orders 250 micrograms (mcg) of a medication, but stock is milligram (mg) tablets.</a:t>
            </a:r>
            <a:endParaRPr lang="en-US" dirty="0"/>
          </a:p>
        </p:txBody>
      </p:sp>
      <p:sp>
        <p:nvSpPr>
          <p:cNvPr id="9" name="Shape 6"/>
          <p:cNvSpPr/>
          <p:nvPr/>
        </p:nvSpPr>
        <p:spPr>
          <a:xfrm>
            <a:off x="548640" y="2350008"/>
            <a:ext cx="11094415" cy="804672"/>
          </a:xfrm>
          <a:prstGeom prst="roundRect">
            <a:avLst>
              <a:gd name="adj" fmla="val 6818"/>
            </a:avLst>
          </a:prstGeom>
          <a:solidFill>
            <a:srgbClr val="E4EFF2"/>
          </a:solidFill>
          <a:ln/>
        </p:spPr>
        <p:txBody>
          <a:bodyPr/>
          <a:lstStyle/>
          <a:p>
            <a:endParaRPr lang="en-US"/>
          </a:p>
        </p:txBody>
      </p:sp>
      <p:sp>
        <p:nvSpPr>
          <p:cNvPr id="10" name="Shape 7"/>
          <p:cNvSpPr/>
          <p:nvPr/>
        </p:nvSpPr>
        <p:spPr>
          <a:xfrm>
            <a:off x="785969" y="2575316"/>
            <a:ext cx="1454727" cy="354056"/>
          </a:xfrm>
          <a:prstGeom prst="roundRect">
            <a:avLst>
              <a:gd name="adj" fmla="val 15625"/>
            </a:avLst>
          </a:prstGeom>
          <a:solidFill>
            <a:srgbClr val="C00000"/>
          </a:solidFill>
          <a:ln/>
        </p:spPr>
        <p:txBody>
          <a:bodyPr/>
          <a:lstStyle/>
          <a:p>
            <a:endParaRPr lang="en-US"/>
          </a:p>
        </p:txBody>
      </p:sp>
      <p:sp>
        <p:nvSpPr>
          <p:cNvPr id="11" name="Text 8"/>
          <p:cNvSpPr txBox="1"/>
          <p:nvPr/>
        </p:nvSpPr>
        <p:spPr>
          <a:xfrm>
            <a:off x="912205" y="2557613"/>
            <a:ext cx="1202254" cy="389462"/>
          </a:xfrm>
          <a:prstGeom prst="rect">
            <a:avLst/>
          </a:prstGeom>
          <a:noFill/>
          <a:ln/>
        </p:spPr>
        <p:txBody>
          <a:bodyPr wrap="square" lIns="0" tIns="0" rIns="0" bIns="0" rtlCol="0" anchor="ctr"/>
          <a:lstStyle/>
          <a:p>
            <a:pPr marL="0" indent="0" algn="ctr">
              <a:buNone/>
            </a:pPr>
            <a:r>
              <a:rPr lang="en-US" sz="1900" b="1" dirty="0">
                <a:solidFill>
                  <a:srgbClr val="FFFFFF"/>
                </a:solidFill>
                <a:latin typeface="Garamond" pitchFamily="34" charset="0"/>
                <a:ea typeface="Garamond" pitchFamily="34" charset="-122"/>
                <a:cs typeface="Garamond" pitchFamily="34" charset="-120"/>
              </a:rPr>
              <a:t>Factor</a:t>
            </a:r>
            <a:endParaRPr lang="en-US" sz="1900" dirty="0"/>
          </a:p>
        </p:txBody>
      </p:sp>
      <p:sp>
        <p:nvSpPr>
          <p:cNvPr id="12" name="Text 9"/>
          <p:cNvSpPr txBox="1"/>
          <p:nvPr/>
        </p:nvSpPr>
        <p:spPr>
          <a:xfrm>
            <a:off x="2514600" y="2350008"/>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The conversion factor is 1 mg = 1,000 mcg, (1,000 mg = 1 g   &amp;   1,000,000 mcg = 1 g)</a:t>
            </a:r>
            <a:endParaRPr lang="en-US" dirty="0"/>
          </a:p>
        </p:txBody>
      </p:sp>
      <p:sp>
        <p:nvSpPr>
          <p:cNvPr id="13" name="Shape 10"/>
          <p:cNvSpPr/>
          <p:nvPr/>
        </p:nvSpPr>
        <p:spPr>
          <a:xfrm>
            <a:off x="548640" y="3282696"/>
            <a:ext cx="11094415" cy="804672"/>
          </a:xfrm>
          <a:prstGeom prst="roundRect">
            <a:avLst>
              <a:gd name="adj" fmla="val 6818"/>
            </a:avLst>
          </a:prstGeom>
          <a:solidFill>
            <a:srgbClr val="F1F6F8"/>
          </a:solidFill>
          <a:ln/>
        </p:spPr>
        <p:txBody>
          <a:bodyPr/>
          <a:lstStyle/>
          <a:p>
            <a:endParaRPr lang="en-US"/>
          </a:p>
        </p:txBody>
      </p:sp>
      <p:sp>
        <p:nvSpPr>
          <p:cNvPr id="14" name="Shape 11"/>
          <p:cNvSpPr/>
          <p:nvPr/>
        </p:nvSpPr>
        <p:spPr>
          <a:xfrm>
            <a:off x="785969" y="3508004"/>
            <a:ext cx="1454727" cy="354056"/>
          </a:xfrm>
          <a:prstGeom prst="roundRect">
            <a:avLst>
              <a:gd name="adj" fmla="val 15625"/>
            </a:avLst>
          </a:prstGeom>
          <a:solidFill>
            <a:srgbClr val="FFC000"/>
          </a:solidFill>
          <a:ln/>
        </p:spPr>
        <p:txBody>
          <a:bodyPr/>
          <a:lstStyle/>
          <a:p>
            <a:endParaRPr lang="en-US"/>
          </a:p>
        </p:txBody>
      </p:sp>
      <p:sp>
        <p:nvSpPr>
          <p:cNvPr id="15" name="Text 12"/>
          <p:cNvSpPr txBox="1"/>
          <p:nvPr/>
        </p:nvSpPr>
        <p:spPr>
          <a:xfrm>
            <a:off x="912205" y="3490301"/>
            <a:ext cx="1202254" cy="389462"/>
          </a:xfrm>
          <a:prstGeom prst="rect">
            <a:avLst/>
          </a:prstGeom>
          <a:noFill/>
          <a:ln/>
        </p:spPr>
        <p:txBody>
          <a:bodyPr wrap="square" lIns="0" tIns="0" rIns="0" bIns="0" rtlCol="0" anchor="ctr"/>
          <a:lstStyle/>
          <a:p>
            <a:pPr marL="0" indent="0" algn="ctr">
              <a:buNone/>
            </a:pPr>
            <a:r>
              <a:rPr lang="en-US" sz="1900" b="1" dirty="0">
                <a:solidFill>
                  <a:srgbClr val="FFFFFF"/>
                </a:solidFill>
                <a:latin typeface="Garamond" pitchFamily="34" charset="0"/>
                <a:ea typeface="Garamond" pitchFamily="34" charset="-122"/>
                <a:cs typeface="Garamond" pitchFamily="34" charset="-120"/>
              </a:rPr>
              <a:t>Set Up</a:t>
            </a:r>
            <a:endParaRPr lang="en-US" sz="1900" dirty="0"/>
          </a:p>
        </p:txBody>
      </p:sp>
      <p:sp>
        <p:nvSpPr>
          <p:cNvPr id="16" name="Text 13"/>
          <p:cNvSpPr txBox="1"/>
          <p:nvPr/>
        </p:nvSpPr>
        <p:spPr>
          <a:xfrm>
            <a:off x="2514600" y="3282696"/>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250 mcg × (1 mg / 1,000 mcg) — the "mcg" units cancel, leaving mg.</a:t>
            </a:r>
            <a:endParaRPr lang="en-US" dirty="0"/>
          </a:p>
        </p:txBody>
      </p:sp>
      <p:sp>
        <p:nvSpPr>
          <p:cNvPr id="17" name="Shape 14"/>
          <p:cNvSpPr/>
          <p:nvPr/>
        </p:nvSpPr>
        <p:spPr>
          <a:xfrm>
            <a:off x="548640" y="4215384"/>
            <a:ext cx="11094415" cy="804672"/>
          </a:xfrm>
          <a:prstGeom prst="roundRect">
            <a:avLst>
              <a:gd name="adj" fmla="val 6818"/>
            </a:avLst>
          </a:prstGeom>
          <a:solidFill>
            <a:srgbClr val="E4EFF2"/>
          </a:solidFill>
          <a:ln/>
        </p:spPr>
        <p:txBody>
          <a:bodyPr/>
          <a:lstStyle/>
          <a:p>
            <a:endParaRPr lang="en-US"/>
          </a:p>
        </p:txBody>
      </p:sp>
      <p:sp>
        <p:nvSpPr>
          <p:cNvPr id="18" name="Shape 15"/>
          <p:cNvSpPr/>
          <p:nvPr/>
        </p:nvSpPr>
        <p:spPr>
          <a:xfrm>
            <a:off x="785969" y="4440692"/>
            <a:ext cx="1454727" cy="354056"/>
          </a:xfrm>
          <a:prstGeom prst="roundRect">
            <a:avLst>
              <a:gd name="adj" fmla="val 15625"/>
            </a:avLst>
          </a:prstGeom>
          <a:solidFill>
            <a:schemeClr val="accent1">
              <a:lumMod val="50000"/>
            </a:schemeClr>
          </a:solidFill>
          <a:ln/>
        </p:spPr>
        <p:txBody>
          <a:bodyPr/>
          <a:lstStyle/>
          <a:p>
            <a:endParaRPr lang="en-US"/>
          </a:p>
        </p:txBody>
      </p:sp>
      <p:sp>
        <p:nvSpPr>
          <p:cNvPr id="19" name="Text 16"/>
          <p:cNvSpPr txBox="1"/>
          <p:nvPr/>
        </p:nvSpPr>
        <p:spPr>
          <a:xfrm>
            <a:off x="912205" y="4422989"/>
            <a:ext cx="1202254" cy="389462"/>
          </a:xfrm>
          <a:prstGeom prst="rect">
            <a:avLst/>
          </a:prstGeom>
          <a:noFill/>
          <a:ln/>
        </p:spPr>
        <p:txBody>
          <a:bodyPr wrap="square" lIns="0" tIns="0" rIns="0" bIns="0" rtlCol="0" anchor="ctr"/>
          <a:lstStyle/>
          <a:p>
            <a:pPr marL="0" indent="0" algn="ctr">
              <a:buNone/>
            </a:pPr>
            <a:r>
              <a:rPr lang="en-US" sz="1900" b="1" dirty="0">
                <a:solidFill>
                  <a:srgbClr val="FFFFFF"/>
                </a:solidFill>
                <a:latin typeface="Garamond" pitchFamily="34" charset="0"/>
                <a:ea typeface="Garamond" pitchFamily="34" charset="-122"/>
                <a:cs typeface="Garamond" pitchFamily="34" charset="-120"/>
              </a:rPr>
              <a:t>Calculate</a:t>
            </a:r>
            <a:endParaRPr lang="en-US" sz="1900" dirty="0"/>
          </a:p>
        </p:txBody>
      </p:sp>
      <p:sp>
        <p:nvSpPr>
          <p:cNvPr id="20" name="Text 17"/>
          <p:cNvSpPr txBox="1"/>
          <p:nvPr/>
        </p:nvSpPr>
        <p:spPr>
          <a:xfrm>
            <a:off x="2514600" y="4215384"/>
            <a:ext cx="8945575" cy="804672"/>
          </a:xfrm>
          <a:prstGeom prst="rect">
            <a:avLst/>
          </a:prstGeom>
          <a:noFill/>
          <a:ln/>
        </p:spPr>
        <p:txBody>
          <a:bodyPr wrap="square" lIns="0" tIns="0" rIns="0" bIns="0" rtlCol="0" anchor="ctr"/>
          <a:lstStyle/>
          <a:p>
            <a:pPr marL="0" indent="0">
              <a:buNone/>
            </a:pPr>
            <a:r>
              <a:rPr lang="en-US" sz="2000" dirty="0">
                <a:solidFill>
                  <a:srgbClr val="33414F"/>
                </a:solidFill>
                <a:latin typeface="Garamond" pitchFamily="34" charset="0"/>
                <a:ea typeface="Garamond" pitchFamily="34" charset="-122"/>
                <a:cs typeface="Garamond" pitchFamily="34" charset="-120"/>
              </a:rPr>
              <a:t>250 ÷ 1,000 = </a:t>
            </a:r>
            <a:r>
              <a:rPr lang="en-US" sz="2000" b="1" dirty="0">
                <a:solidFill>
                  <a:srgbClr val="33414F"/>
                </a:solidFill>
                <a:latin typeface="Garamond" pitchFamily="34" charset="0"/>
                <a:ea typeface="Garamond" pitchFamily="34" charset="-122"/>
                <a:cs typeface="Garamond" pitchFamily="34" charset="-120"/>
              </a:rPr>
              <a:t>0.25 mg</a:t>
            </a:r>
            <a:r>
              <a:rPr lang="en-US" sz="2000" dirty="0">
                <a:solidFill>
                  <a:srgbClr val="33414F"/>
                </a:solidFill>
                <a:latin typeface="Garamond" pitchFamily="34" charset="0"/>
                <a:ea typeface="Garamond" pitchFamily="34" charset="-122"/>
                <a:cs typeface="Garamond" pitchFamily="34" charset="-120"/>
              </a:rPr>
              <a:t>.</a:t>
            </a:r>
            <a:endParaRPr lang="en-US" sz="2000" dirty="0"/>
          </a:p>
        </p:txBody>
      </p:sp>
      <p:sp>
        <p:nvSpPr>
          <p:cNvPr id="21" name="Shape 18"/>
          <p:cNvSpPr/>
          <p:nvPr/>
        </p:nvSpPr>
        <p:spPr>
          <a:xfrm>
            <a:off x="548640" y="5148072"/>
            <a:ext cx="11094415" cy="1069848"/>
          </a:xfrm>
          <a:prstGeom prst="roundRect">
            <a:avLst>
              <a:gd name="adj" fmla="val 6818"/>
            </a:avLst>
          </a:prstGeom>
          <a:solidFill>
            <a:srgbClr val="F1F6F8"/>
          </a:solidFill>
          <a:ln/>
        </p:spPr>
        <p:txBody>
          <a:bodyPr/>
          <a:lstStyle/>
          <a:p>
            <a:endParaRPr lang="en-US"/>
          </a:p>
        </p:txBody>
      </p:sp>
      <p:sp>
        <p:nvSpPr>
          <p:cNvPr id="22" name="Shape 19"/>
          <p:cNvSpPr/>
          <p:nvPr/>
        </p:nvSpPr>
        <p:spPr>
          <a:xfrm>
            <a:off x="804257" y="5504010"/>
            <a:ext cx="1454727" cy="354056"/>
          </a:xfrm>
          <a:prstGeom prst="roundRect">
            <a:avLst>
              <a:gd name="adj" fmla="val 15625"/>
            </a:avLst>
          </a:prstGeom>
          <a:solidFill>
            <a:srgbClr val="14213D"/>
          </a:solidFill>
          <a:ln/>
        </p:spPr>
        <p:txBody>
          <a:bodyPr/>
          <a:lstStyle/>
          <a:p>
            <a:endParaRPr lang="en-US"/>
          </a:p>
        </p:txBody>
      </p:sp>
      <p:sp>
        <p:nvSpPr>
          <p:cNvPr id="23" name="Text 20"/>
          <p:cNvSpPr txBox="1"/>
          <p:nvPr/>
        </p:nvSpPr>
        <p:spPr>
          <a:xfrm>
            <a:off x="928219" y="5486307"/>
            <a:ext cx="1188514" cy="389462"/>
          </a:xfrm>
          <a:prstGeom prst="rect">
            <a:avLst/>
          </a:prstGeom>
          <a:noFill/>
          <a:ln/>
        </p:spPr>
        <p:txBody>
          <a:bodyPr wrap="square" lIns="0" tIns="0" rIns="0" bIns="0" rtlCol="0" anchor="ctr"/>
          <a:lstStyle/>
          <a:p>
            <a:pPr marL="0" indent="0" algn="ctr">
              <a:buNone/>
            </a:pPr>
            <a:r>
              <a:rPr lang="en-US" sz="1900" b="1" dirty="0">
                <a:solidFill>
                  <a:srgbClr val="FFFFFF"/>
                </a:solidFill>
                <a:latin typeface="Garamond" pitchFamily="34" charset="0"/>
                <a:ea typeface="Garamond" pitchFamily="34" charset="-122"/>
                <a:cs typeface="Garamond" pitchFamily="34" charset="-120"/>
              </a:rPr>
              <a:t>Check</a:t>
            </a:r>
            <a:endParaRPr lang="en-US" sz="1900" dirty="0"/>
          </a:p>
        </p:txBody>
      </p:sp>
      <p:sp>
        <p:nvSpPr>
          <p:cNvPr id="24" name="Text 21"/>
          <p:cNvSpPr txBox="1"/>
          <p:nvPr/>
        </p:nvSpPr>
        <p:spPr>
          <a:xfrm>
            <a:off x="2533193" y="5276088"/>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Going from a smaller unit (mcg) to a larger one (mg) should give a smaller number — </a:t>
            </a:r>
          </a:p>
          <a:p>
            <a:pPr marL="0" indent="0">
              <a:buNone/>
            </a:pPr>
            <a:r>
              <a:rPr lang="en-US" dirty="0">
                <a:solidFill>
                  <a:srgbClr val="33414F"/>
                </a:solidFill>
                <a:latin typeface="Garamond" pitchFamily="34" charset="0"/>
                <a:ea typeface="Garamond" pitchFamily="34" charset="-122"/>
                <a:cs typeface="Garamond" pitchFamily="34" charset="-120"/>
              </a:rPr>
              <a:t>	</a:t>
            </a:r>
          </a:p>
          <a:p>
            <a:pPr marL="0" indent="0">
              <a:buNone/>
            </a:pPr>
            <a:r>
              <a:rPr lang="en-US" b="1" dirty="0">
                <a:solidFill>
                  <a:srgbClr val="33414F"/>
                </a:solidFill>
                <a:latin typeface="Garamond" pitchFamily="34" charset="0"/>
                <a:ea typeface="Garamond" pitchFamily="34" charset="-122"/>
                <a:cs typeface="Garamond" pitchFamily="34" charset="-120"/>
              </a:rPr>
              <a:t>		</a:t>
            </a:r>
            <a:r>
              <a:rPr lang="en-US" b="1" u="sng" dirty="0">
                <a:solidFill>
                  <a:srgbClr val="33414F"/>
                </a:solidFill>
                <a:latin typeface="Garamond" pitchFamily="34" charset="0"/>
                <a:ea typeface="Garamond" pitchFamily="34" charset="-122"/>
                <a:cs typeface="Garamond" pitchFamily="34" charset="-120"/>
              </a:rPr>
              <a:t>therefore 0.25 mg makes sense</a:t>
            </a:r>
            <a:endParaRPr lang="en-US" b="1" u="sng" dirty="0"/>
          </a:p>
        </p:txBody>
      </p:sp>
      <p:sp>
        <p:nvSpPr>
          <p:cNvPr id="25" name="Text 22"/>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26" name="Text 2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754880" cy="4754880"/>
          </a:xfrm>
          <a:prstGeom prst="ellipse">
            <a:avLst/>
          </a:prstGeom>
          <a:solidFill>
            <a:srgbClr val="1E3A5F"/>
          </a:solidFill>
          <a:ln/>
        </p:spPr>
        <p:txBody>
          <a:bodyPr/>
          <a:lstStyle/>
          <a:p>
            <a:endParaRPr lang="en-US"/>
          </a:p>
        </p:txBody>
      </p:sp>
      <p:sp>
        <p:nvSpPr>
          <p:cNvPr id="3" name="Shape 1"/>
          <p:cNvSpPr/>
          <p:nvPr/>
        </p:nvSpPr>
        <p:spPr>
          <a:xfrm>
            <a:off x="5592928" y="1234440"/>
            <a:ext cx="1005840" cy="10058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 name="Image 0" descr="/tmp/chem101_topic2/icon_exchange_white.png"/>
          <p:cNvPicPr>
            <a:picLocks noChangeAspect="1"/>
          </p:cNvPicPr>
          <p:nvPr/>
        </p:nvPicPr>
        <p:blipFill>
          <a:blip r:embed="rId3"/>
          <a:stretch>
            <a:fillRect/>
          </a:stretch>
        </p:blipFill>
        <p:spPr>
          <a:xfrm>
            <a:off x="5844388" y="1485900"/>
            <a:ext cx="502920" cy="502920"/>
          </a:xfrm>
          <a:prstGeom prst="rect">
            <a:avLst/>
          </a:prstGeom>
        </p:spPr>
      </p:pic>
      <p:sp>
        <p:nvSpPr>
          <p:cNvPr id="5" name="Text 2"/>
          <p:cNvSpPr txBox="1"/>
          <p:nvPr/>
        </p:nvSpPr>
        <p:spPr>
          <a:xfrm>
            <a:off x="914400" y="2514600"/>
            <a:ext cx="10362895"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Scientific Notation</a:t>
            </a:r>
            <a:endParaRPr lang="en-US" sz="3800" dirty="0"/>
          </a:p>
        </p:txBody>
      </p:sp>
      <p:sp>
        <p:nvSpPr>
          <p:cNvPr id="6" name="Text 3"/>
          <p:cNvSpPr txBox="1"/>
          <p:nvPr/>
        </p:nvSpPr>
        <p:spPr>
          <a:xfrm>
            <a:off x="914400" y="3474720"/>
            <a:ext cx="10362895" cy="548640"/>
          </a:xfrm>
          <a:prstGeom prst="rect">
            <a:avLst/>
          </a:prstGeom>
          <a:noFill/>
          <a:ln/>
        </p:spPr>
        <p:txBody>
          <a:bodyPr wrap="square" lIns="0" tIns="0" rIns="0" bIns="0" rtlCol="0" anchor="ctr"/>
          <a:lstStyle/>
          <a:p>
            <a:pPr marL="0" indent="0" algn="ctr">
              <a:buNone/>
            </a:pPr>
            <a:r>
              <a:rPr lang="en-US" sz="1800" dirty="0">
                <a:solidFill>
                  <a:srgbClr val="CADCEA"/>
                </a:solidFill>
                <a:latin typeface="Garamond" pitchFamily="34" charset="0"/>
                <a:ea typeface="Garamond" pitchFamily="34" charset="-122"/>
                <a:cs typeface="Garamond" pitchFamily="34" charset="-120"/>
              </a:rPr>
              <a:t>Writing very large and very small numbers without the zeros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exchange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601200" cy="68580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What Is Scientific Notation?</a:t>
            </a:r>
            <a:endParaRPr lang="en-US" sz="3000" dirty="0"/>
          </a:p>
        </p:txBody>
      </p:sp>
      <p:sp>
        <p:nvSpPr>
          <p:cNvPr id="5" name="Shape 2"/>
          <p:cNvSpPr/>
          <p:nvPr/>
        </p:nvSpPr>
        <p:spPr>
          <a:xfrm>
            <a:off x="548640" y="1417320"/>
            <a:ext cx="11094415" cy="1005840"/>
          </a:xfrm>
          <a:prstGeom prst="roundRect">
            <a:avLst>
              <a:gd name="adj" fmla="val 7273"/>
            </a:avLst>
          </a:prstGeom>
          <a:solidFill>
            <a:schemeClr val="accent1">
              <a:lumMod val="50000"/>
            </a:schemeClr>
          </a:solidFill>
          <a:ln/>
          <a:effectLst>
            <a:outerShdw blurRad="76200" dist="38100" dir="5400000" algn="bl" rotWithShape="0">
              <a:srgbClr val="1B1B1B">
                <a:alpha val="18000"/>
              </a:srgbClr>
            </a:outerShdw>
          </a:effectLst>
        </p:spPr>
        <p:txBody>
          <a:bodyPr/>
          <a:lstStyle/>
          <a:p>
            <a:endParaRPr lang="en-US"/>
          </a:p>
        </p:txBody>
      </p:sp>
      <p:sp>
        <p:nvSpPr>
          <p:cNvPr id="6" name="Text 3"/>
          <p:cNvSpPr txBox="1"/>
          <p:nvPr/>
        </p:nvSpPr>
        <p:spPr>
          <a:xfrm>
            <a:off x="868680" y="1417320"/>
            <a:ext cx="10454335" cy="1005840"/>
          </a:xfrm>
          <a:prstGeom prst="rect">
            <a:avLst/>
          </a:prstGeom>
          <a:noFill/>
          <a:ln/>
        </p:spPr>
        <p:txBody>
          <a:bodyPr wrap="square" lIns="0" tIns="0" rIns="0" bIns="0" rtlCol="0" anchor="ctr"/>
          <a:lstStyle/>
          <a:p>
            <a:pPr marL="0" indent="0">
              <a:buNone/>
            </a:pPr>
            <a:r>
              <a:rPr lang="en-US" sz="2000" dirty="0">
                <a:solidFill>
                  <a:srgbClr val="FFFFFF"/>
                </a:solidFill>
                <a:latin typeface="Cambria" pitchFamily="34" charset="0"/>
                <a:ea typeface="Cambria" pitchFamily="34" charset="-122"/>
                <a:cs typeface="Cambria" pitchFamily="34" charset="-120"/>
              </a:rPr>
              <a:t>Rewriting numbers as a value between 1 and 10, multiplied by a power of ten (10</a:t>
            </a:r>
            <a:r>
              <a:rPr lang="en-US" sz="2000" baseline="30000" dirty="0">
                <a:solidFill>
                  <a:srgbClr val="FFFFFF"/>
                </a:solidFill>
                <a:latin typeface="Cambria" pitchFamily="34" charset="0"/>
                <a:ea typeface="Cambria" pitchFamily="34" charset="-122"/>
                <a:cs typeface="Cambria" pitchFamily="34" charset="-120"/>
              </a:rPr>
              <a:t>x</a:t>
            </a:r>
            <a:r>
              <a:rPr lang="en-US" sz="2000" dirty="0">
                <a:solidFill>
                  <a:srgbClr val="FFFFFF"/>
                </a:solidFill>
                <a:latin typeface="Cambria" pitchFamily="34" charset="0"/>
                <a:ea typeface="Cambria" pitchFamily="34" charset="-122"/>
                <a:cs typeface="Cambria" pitchFamily="34" charset="-120"/>
              </a:rPr>
              <a:t>).</a:t>
            </a:r>
            <a:endParaRPr lang="en-US" sz="2000" dirty="0"/>
          </a:p>
        </p:txBody>
      </p:sp>
      <p:sp>
        <p:nvSpPr>
          <p:cNvPr id="7" name="Shape 4"/>
          <p:cNvSpPr/>
          <p:nvPr/>
        </p:nvSpPr>
        <p:spPr>
          <a:xfrm>
            <a:off x="548640" y="2743200"/>
            <a:ext cx="11094415" cy="960120"/>
          </a:xfrm>
          <a:prstGeom prst="roundRect">
            <a:avLst>
              <a:gd name="adj" fmla="val 6667"/>
            </a:avLst>
          </a:prstGeom>
          <a:solidFill>
            <a:srgbClr val="F1F6F8"/>
          </a:solidFill>
          <a:ln/>
        </p:spPr>
        <p:txBody>
          <a:bodyPr/>
          <a:lstStyle/>
          <a:p>
            <a:endParaRPr lang="en-US"/>
          </a:p>
        </p:txBody>
      </p:sp>
      <p:sp>
        <p:nvSpPr>
          <p:cNvPr id="8" name="Text 5"/>
          <p:cNvSpPr txBox="1"/>
          <p:nvPr/>
        </p:nvSpPr>
        <p:spPr>
          <a:xfrm>
            <a:off x="706120" y="2743200"/>
            <a:ext cx="2743200" cy="960120"/>
          </a:xfrm>
          <a:prstGeom prst="rect">
            <a:avLst/>
          </a:prstGeom>
          <a:noFill/>
          <a:ln/>
        </p:spPr>
        <p:txBody>
          <a:bodyPr wrap="square" lIns="0" tIns="0" rIns="0" bIns="0" rtlCol="0" anchor="ctr"/>
          <a:lstStyle/>
          <a:p>
            <a:pPr marL="0" indent="0">
              <a:buNone/>
            </a:pPr>
            <a:r>
              <a:rPr lang="en-US" b="1" dirty="0">
                <a:solidFill>
                  <a:srgbClr val="14213D"/>
                </a:solidFill>
                <a:latin typeface="Garamond" pitchFamily="34" charset="0"/>
                <a:ea typeface="Garamond" pitchFamily="34" charset="-122"/>
                <a:cs typeface="Garamond" pitchFamily="34" charset="-120"/>
              </a:rPr>
              <a:t>Format</a:t>
            </a:r>
            <a:endParaRPr lang="en-US" dirty="0"/>
          </a:p>
        </p:txBody>
      </p:sp>
      <p:sp>
        <p:nvSpPr>
          <p:cNvPr id="9" name="Text 6"/>
          <p:cNvSpPr txBox="1"/>
          <p:nvPr/>
        </p:nvSpPr>
        <p:spPr>
          <a:xfrm>
            <a:off x="2485016" y="2743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Value (between 1 and 10) × 10^exponent — for example, 6.02 × 10²³</a:t>
            </a:r>
            <a:endParaRPr lang="en-US" dirty="0"/>
          </a:p>
        </p:txBody>
      </p:sp>
      <p:sp>
        <p:nvSpPr>
          <p:cNvPr id="10" name="Shape 7"/>
          <p:cNvSpPr/>
          <p:nvPr/>
        </p:nvSpPr>
        <p:spPr>
          <a:xfrm>
            <a:off x="548640" y="3886200"/>
            <a:ext cx="11094415" cy="960120"/>
          </a:xfrm>
          <a:prstGeom prst="roundRect">
            <a:avLst>
              <a:gd name="adj" fmla="val 6667"/>
            </a:avLst>
          </a:prstGeom>
          <a:solidFill>
            <a:srgbClr val="F1F6F8"/>
          </a:solidFill>
          <a:ln/>
        </p:spPr>
        <p:txBody>
          <a:bodyPr/>
          <a:lstStyle/>
          <a:p>
            <a:endParaRPr lang="en-US"/>
          </a:p>
        </p:txBody>
      </p:sp>
      <p:sp>
        <p:nvSpPr>
          <p:cNvPr id="11" name="Text 8"/>
          <p:cNvSpPr txBox="1"/>
          <p:nvPr/>
        </p:nvSpPr>
        <p:spPr>
          <a:xfrm>
            <a:off x="706120" y="3886200"/>
            <a:ext cx="2743200" cy="960120"/>
          </a:xfrm>
          <a:prstGeom prst="rect">
            <a:avLst/>
          </a:prstGeom>
          <a:noFill/>
          <a:ln/>
        </p:spPr>
        <p:txBody>
          <a:bodyPr wrap="square" lIns="0" tIns="0" rIns="0" bIns="0" rtlCol="0" anchor="ctr"/>
          <a:lstStyle/>
          <a:p>
            <a:pPr marL="0" indent="0">
              <a:buNone/>
            </a:pPr>
            <a:r>
              <a:rPr lang="en-US" b="1" dirty="0">
                <a:solidFill>
                  <a:srgbClr val="14213D"/>
                </a:solidFill>
                <a:latin typeface="Garamond" pitchFamily="34" charset="0"/>
                <a:ea typeface="Garamond" pitchFamily="34" charset="-122"/>
                <a:cs typeface="Garamond" pitchFamily="34" charset="-120"/>
              </a:rPr>
              <a:t>Large numbers</a:t>
            </a:r>
            <a:endParaRPr lang="en-US" dirty="0"/>
          </a:p>
        </p:txBody>
      </p:sp>
      <p:sp>
        <p:nvSpPr>
          <p:cNvPr id="12" name="Text 9"/>
          <p:cNvSpPr txBox="1"/>
          <p:nvPr/>
        </p:nvSpPr>
        <p:spPr>
          <a:xfrm>
            <a:off x="2485016" y="3886200"/>
            <a:ext cx="9158039"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Use a positive exponent — the decimal moves left (456,000. → 4.56 x 10⁵ decimal moved 5 places)</a:t>
            </a:r>
            <a:endParaRPr lang="en-US" dirty="0"/>
          </a:p>
        </p:txBody>
      </p:sp>
      <p:sp>
        <p:nvSpPr>
          <p:cNvPr id="13" name="Shape 10"/>
          <p:cNvSpPr/>
          <p:nvPr/>
        </p:nvSpPr>
        <p:spPr>
          <a:xfrm>
            <a:off x="548640" y="5029200"/>
            <a:ext cx="11094415" cy="960120"/>
          </a:xfrm>
          <a:prstGeom prst="roundRect">
            <a:avLst>
              <a:gd name="adj" fmla="val 6667"/>
            </a:avLst>
          </a:prstGeom>
          <a:solidFill>
            <a:srgbClr val="F1F6F8"/>
          </a:solidFill>
          <a:ln/>
        </p:spPr>
        <p:txBody>
          <a:bodyPr/>
          <a:lstStyle/>
          <a:p>
            <a:endParaRPr lang="en-US"/>
          </a:p>
        </p:txBody>
      </p:sp>
      <p:sp>
        <p:nvSpPr>
          <p:cNvPr id="14" name="Text 11"/>
          <p:cNvSpPr txBox="1"/>
          <p:nvPr/>
        </p:nvSpPr>
        <p:spPr>
          <a:xfrm>
            <a:off x="706120" y="5029200"/>
            <a:ext cx="2743200" cy="960120"/>
          </a:xfrm>
          <a:prstGeom prst="rect">
            <a:avLst/>
          </a:prstGeom>
          <a:noFill/>
          <a:ln/>
        </p:spPr>
        <p:txBody>
          <a:bodyPr wrap="square" lIns="0" tIns="0" rIns="0" bIns="0" rtlCol="0" anchor="ctr"/>
          <a:lstStyle/>
          <a:p>
            <a:pPr marL="0" indent="0">
              <a:buNone/>
            </a:pPr>
            <a:r>
              <a:rPr lang="en-US" b="1" dirty="0">
                <a:solidFill>
                  <a:srgbClr val="14213D"/>
                </a:solidFill>
                <a:latin typeface="Garamond" pitchFamily="34" charset="0"/>
                <a:ea typeface="Garamond" pitchFamily="34" charset="-122"/>
                <a:cs typeface="Garamond" pitchFamily="34" charset="-120"/>
              </a:rPr>
              <a:t>Small numbers</a:t>
            </a:r>
            <a:endParaRPr lang="en-US" dirty="0"/>
          </a:p>
        </p:txBody>
      </p:sp>
      <p:sp>
        <p:nvSpPr>
          <p:cNvPr id="15" name="Text 12"/>
          <p:cNvSpPr txBox="1"/>
          <p:nvPr/>
        </p:nvSpPr>
        <p:spPr>
          <a:xfrm>
            <a:off x="2485016" y="5029200"/>
            <a:ext cx="9158039"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Use a negative exponent — the decimal moves right (0.00713 → 7.13 x 10</a:t>
            </a:r>
            <a:r>
              <a:rPr lang="en-US" baseline="30000" dirty="0">
                <a:solidFill>
                  <a:srgbClr val="33414F"/>
                </a:solidFill>
                <a:latin typeface="Garamond" pitchFamily="34" charset="0"/>
                <a:ea typeface="Garamond" pitchFamily="34" charset="-122"/>
                <a:cs typeface="Garamond" pitchFamily="34" charset="-120"/>
              </a:rPr>
              <a:t>-3</a:t>
            </a:r>
            <a:r>
              <a:rPr lang="en-US" dirty="0">
                <a:solidFill>
                  <a:srgbClr val="33414F"/>
                </a:solidFill>
                <a:latin typeface="Garamond" pitchFamily="34" charset="0"/>
                <a:ea typeface="Garamond" pitchFamily="34" charset="-122"/>
                <a:cs typeface="Garamond" pitchFamily="34" charset="-120"/>
              </a:rPr>
              <a:t> decimal moved 3 places)</a:t>
            </a:r>
            <a:endParaRPr lang="en-US" baseline="30000" dirty="0"/>
          </a:p>
        </p:txBody>
      </p:sp>
      <p:sp>
        <p:nvSpPr>
          <p:cNvPr id="16"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chemeClr val="tx2">
              <a:lumMod val="50000"/>
            </a:schemeClr>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atom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Scientific Notation in Practice</a:t>
            </a:r>
            <a:endParaRPr lang="en-US" sz="2800" dirty="0"/>
          </a:p>
        </p:txBody>
      </p:sp>
      <p:sp>
        <p:nvSpPr>
          <p:cNvPr id="5" name="Shape 2"/>
          <p:cNvSpPr/>
          <p:nvPr/>
        </p:nvSpPr>
        <p:spPr>
          <a:xfrm>
            <a:off x="548640" y="1508760"/>
            <a:ext cx="5547360" cy="1691640"/>
          </a:xfrm>
          <a:prstGeom prst="roundRect">
            <a:avLst>
              <a:gd name="adj" fmla="val 4324"/>
            </a:avLst>
          </a:prstGeom>
          <a:solidFill>
            <a:srgbClr val="F1F6F8"/>
          </a:solidFill>
          <a:ln/>
        </p:spPr>
        <p:txBody>
          <a:bodyPr/>
          <a:lstStyle/>
          <a:p>
            <a:endParaRPr lang="en-US"/>
          </a:p>
        </p:txBody>
      </p:sp>
      <p:sp>
        <p:nvSpPr>
          <p:cNvPr id="6" name="Shape 3"/>
          <p:cNvSpPr/>
          <p:nvPr/>
        </p:nvSpPr>
        <p:spPr>
          <a:xfrm>
            <a:off x="731520" y="1691640"/>
            <a:ext cx="457200" cy="73152"/>
          </a:xfrm>
          <a:prstGeom prst="roundRect">
            <a:avLst>
              <a:gd name="adj" fmla="val 50000"/>
            </a:avLst>
          </a:prstGeom>
          <a:solidFill>
            <a:srgbClr val="B5121A"/>
          </a:solidFill>
          <a:ln/>
        </p:spPr>
        <p:txBody>
          <a:bodyPr/>
          <a:lstStyle/>
          <a:p>
            <a:endParaRPr lang="en-US"/>
          </a:p>
        </p:txBody>
      </p:sp>
      <p:sp>
        <p:nvSpPr>
          <p:cNvPr id="7" name="Text 4"/>
          <p:cNvSpPr txBox="1"/>
          <p:nvPr/>
        </p:nvSpPr>
        <p:spPr>
          <a:xfrm>
            <a:off x="731520" y="1856232"/>
            <a:ext cx="3179978" cy="32004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Avogadro's Number*</a:t>
            </a:r>
            <a:endParaRPr lang="en-US" sz="2000" dirty="0"/>
          </a:p>
        </p:txBody>
      </p:sp>
      <p:sp>
        <p:nvSpPr>
          <p:cNvPr id="8" name="Text 5"/>
          <p:cNvSpPr txBox="1"/>
          <p:nvPr/>
        </p:nvSpPr>
        <p:spPr>
          <a:xfrm>
            <a:off x="731520" y="2194560"/>
            <a:ext cx="5364480" cy="868680"/>
          </a:xfrm>
          <a:prstGeom prst="rect">
            <a:avLst/>
          </a:prstGeom>
          <a:noFill/>
          <a:ln/>
        </p:spPr>
        <p:txBody>
          <a:bodyPr wrap="square" lIns="0" tIns="0" rIns="0" bIns="0" rtlCol="0" anchor="ctr"/>
          <a:lstStyle/>
          <a:p>
            <a:pPr marL="0" indent="0">
              <a:buNone/>
            </a:pPr>
            <a:r>
              <a:rPr lang="en-US" sz="2000" dirty="0">
                <a:solidFill>
                  <a:srgbClr val="33414F"/>
                </a:solidFill>
                <a:latin typeface="Garamond" pitchFamily="34" charset="0"/>
                <a:ea typeface="Garamond" pitchFamily="34" charset="-122"/>
                <a:cs typeface="Garamond" pitchFamily="34" charset="-120"/>
              </a:rPr>
              <a:t>602,230,000,000,000,000,000,000 → 6.02 × 10</a:t>
            </a:r>
            <a:r>
              <a:rPr lang="en-US" sz="2000" baseline="30000" dirty="0">
                <a:solidFill>
                  <a:srgbClr val="33414F"/>
                </a:solidFill>
                <a:latin typeface="Garamond" pitchFamily="34" charset="0"/>
                <a:ea typeface="Garamond" pitchFamily="34" charset="-122"/>
                <a:cs typeface="Garamond" pitchFamily="34" charset="-120"/>
              </a:rPr>
              <a:t>23</a:t>
            </a:r>
            <a:endParaRPr lang="en-US" sz="2000" baseline="30000" dirty="0"/>
          </a:p>
        </p:txBody>
      </p:sp>
      <p:sp>
        <p:nvSpPr>
          <p:cNvPr id="9" name="Shape 6"/>
          <p:cNvSpPr/>
          <p:nvPr/>
        </p:nvSpPr>
        <p:spPr>
          <a:xfrm>
            <a:off x="4397188" y="3931920"/>
            <a:ext cx="5997388" cy="2116836"/>
          </a:xfrm>
          <a:prstGeom prst="roundRect">
            <a:avLst>
              <a:gd name="adj" fmla="val 4324"/>
            </a:avLst>
          </a:prstGeom>
          <a:solidFill>
            <a:srgbClr val="F1F6F8"/>
          </a:solidFill>
          <a:ln/>
        </p:spPr>
        <p:txBody>
          <a:bodyPr/>
          <a:lstStyle/>
          <a:p>
            <a:endParaRPr lang="en-US"/>
          </a:p>
        </p:txBody>
      </p:sp>
      <p:sp>
        <p:nvSpPr>
          <p:cNvPr id="10" name="Shape 7"/>
          <p:cNvSpPr/>
          <p:nvPr/>
        </p:nvSpPr>
        <p:spPr>
          <a:xfrm>
            <a:off x="4633724" y="4198950"/>
            <a:ext cx="524270" cy="91539"/>
          </a:xfrm>
          <a:prstGeom prst="roundRect">
            <a:avLst>
              <a:gd name="adj" fmla="val 50000"/>
            </a:avLst>
          </a:prstGeom>
          <a:solidFill>
            <a:srgbClr val="B5121A"/>
          </a:solidFill>
          <a:ln/>
        </p:spPr>
        <p:txBody>
          <a:bodyPr/>
          <a:lstStyle/>
          <a:p>
            <a:endParaRPr lang="en-US"/>
          </a:p>
        </p:txBody>
      </p:sp>
      <p:sp>
        <p:nvSpPr>
          <p:cNvPr id="11" name="Text 8"/>
          <p:cNvSpPr txBox="1"/>
          <p:nvPr/>
        </p:nvSpPr>
        <p:spPr>
          <a:xfrm>
            <a:off x="4633724" y="4395731"/>
            <a:ext cx="3646473" cy="40048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Mass of a Hydrogen Atom</a:t>
            </a:r>
            <a:endParaRPr lang="en-US" sz="2000" dirty="0"/>
          </a:p>
        </p:txBody>
      </p:sp>
      <p:sp>
        <p:nvSpPr>
          <p:cNvPr id="12" name="Text 9"/>
          <p:cNvSpPr txBox="1"/>
          <p:nvPr/>
        </p:nvSpPr>
        <p:spPr>
          <a:xfrm>
            <a:off x="4633724" y="4824572"/>
            <a:ext cx="5298141" cy="1087024"/>
          </a:xfrm>
          <a:prstGeom prst="rect">
            <a:avLst/>
          </a:prstGeom>
          <a:noFill/>
          <a:ln/>
        </p:spPr>
        <p:txBody>
          <a:bodyPr wrap="square" lIns="0" tIns="0" rIns="0" bIns="0" rtlCol="0" anchor="ctr"/>
          <a:lstStyle/>
          <a:p>
            <a:pPr marL="0" indent="0">
              <a:buNone/>
            </a:pPr>
            <a:r>
              <a:rPr lang="en-US" sz="2000" dirty="0">
                <a:solidFill>
                  <a:srgbClr val="33414F"/>
                </a:solidFill>
                <a:latin typeface="Garamond" pitchFamily="34" charset="0"/>
                <a:ea typeface="Garamond" pitchFamily="34" charset="-122"/>
                <a:cs typeface="Garamond" pitchFamily="34" charset="-120"/>
              </a:rPr>
              <a:t>0.00000000000000000000000167 g → 1.67 × 10</a:t>
            </a:r>
            <a:r>
              <a:rPr lang="en-US" sz="2000" baseline="30000" dirty="0">
                <a:solidFill>
                  <a:srgbClr val="33414F"/>
                </a:solidFill>
                <a:latin typeface="Garamond" pitchFamily="34" charset="0"/>
                <a:ea typeface="Garamond" pitchFamily="34" charset="-122"/>
                <a:cs typeface="Garamond" pitchFamily="34" charset="-120"/>
              </a:rPr>
              <a:t>-24</a:t>
            </a:r>
            <a:r>
              <a:rPr lang="en-US" sz="2000" dirty="0">
                <a:solidFill>
                  <a:srgbClr val="33414F"/>
                </a:solidFill>
                <a:latin typeface="Garamond" pitchFamily="34" charset="0"/>
                <a:ea typeface="Garamond" pitchFamily="34" charset="-122"/>
                <a:cs typeface="Garamond" pitchFamily="34" charset="-120"/>
              </a:rPr>
              <a:t> g</a:t>
            </a:r>
            <a:endParaRPr lang="en-US" sz="2000" dirty="0"/>
          </a:p>
        </p:txBody>
      </p:sp>
      <p:sp>
        <p:nvSpPr>
          <p:cNvPr id="13" name="Shape 10"/>
          <p:cNvSpPr/>
          <p:nvPr/>
        </p:nvSpPr>
        <p:spPr>
          <a:xfrm>
            <a:off x="6949440" y="1508760"/>
            <a:ext cx="4693615" cy="1691640"/>
          </a:xfrm>
          <a:prstGeom prst="roundRect">
            <a:avLst>
              <a:gd name="adj" fmla="val 4324"/>
            </a:avLst>
          </a:prstGeom>
          <a:solidFill>
            <a:srgbClr val="F1F6F8"/>
          </a:solidFill>
          <a:ln/>
        </p:spPr>
        <p:txBody>
          <a:bodyPr/>
          <a:lstStyle/>
          <a:p>
            <a:endParaRPr lang="en-US"/>
          </a:p>
        </p:txBody>
      </p:sp>
      <p:sp>
        <p:nvSpPr>
          <p:cNvPr id="14" name="Shape 11"/>
          <p:cNvSpPr/>
          <p:nvPr/>
        </p:nvSpPr>
        <p:spPr>
          <a:xfrm>
            <a:off x="7217884" y="1691640"/>
            <a:ext cx="457200" cy="73152"/>
          </a:xfrm>
          <a:prstGeom prst="roundRect">
            <a:avLst>
              <a:gd name="adj" fmla="val 50000"/>
            </a:avLst>
          </a:prstGeom>
          <a:solidFill>
            <a:srgbClr val="B5121A"/>
          </a:solidFill>
          <a:ln/>
        </p:spPr>
        <p:txBody>
          <a:bodyPr/>
          <a:lstStyle/>
          <a:p>
            <a:endParaRPr lang="en-US"/>
          </a:p>
        </p:txBody>
      </p:sp>
      <p:sp>
        <p:nvSpPr>
          <p:cNvPr id="15" name="Text 12"/>
          <p:cNvSpPr txBox="1"/>
          <p:nvPr/>
        </p:nvSpPr>
        <p:spPr>
          <a:xfrm>
            <a:off x="7217884" y="1856232"/>
            <a:ext cx="3647340" cy="32004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Diameter of a Red Blood Cell</a:t>
            </a:r>
            <a:endParaRPr lang="en-US" sz="2000" dirty="0"/>
          </a:p>
        </p:txBody>
      </p:sp>
      <p:sp>
        <p:nvSpPr>
          <p:cNvPr id="16" name="Text 13"/>
          <p:cNvSpPr txBox="1"/>
          <p:nvPr/>
        </p:nvSpPr>
        <p:spPr>
          <a:xfrm>
            <a:off x="7217884" y="2194560"/>
            <a:ext cx="3647340" cy="868680"/>
          </a:xfrm>
          <a:prstGeom prst="rect">
            <a:avLst/>
          </a:prstGeom>
          <a:noFill/>
          <a:ln/>
        </p:spPr>
        <p:txBody>
          <a:bodyPr wrap="square" lIns="0" tIns="0" rIns="0" bIns="0" rtlCol="0" anchor="ctr"/>
          <a:lstStyle/>
          <a:p>
            <a:pPr marL="0" indent="0">
              <a:buNone/>
            </a:pPr>
            <a:r>
              <a:rPr lang="en-US" sz="2000" dirty="0">
                <a:solidFill>
                  <a:srgbClr val="33414F"/>
                </a:solidFill>
                <a:latin typeface="Garamond" pitchFamily="34" charset="0"/>
                <a:ea typeface="Garamond" pitchFamily="34" charset="-122"/>
                <a:cs typeface="Garamond" pitchFamily="34" charset="-120"/>
              </a:rPr>
              <a:t>0.000007 m → 7 × 10</a:t>
            </a:r>
            <a:r>
              <a:rPr lang="en-US" sz="2000" baseline="30000" dirty="0">
                <a:solidFill>
                  <a:srgbClr val="33414F"/>
                </a:solidFill>
                <a:latin typeface="Garamond" pitchFamily="34" charset="0"/>
                <a:ea typeface="Garamond" pitchFamily="34" charset="-122"/>
                <a:cs typeface="Garamond" pitchFamily="34" charset="-120"/>
              </a:rPr>
              <a:t>-6</a:t>
            </a:r>
            <a:r>
              <a:rPr lang="en-US" sz="2000" dirty="0">
                <a:solidFill>
                  <a:srgbClr val="33414F"/>
                </a:solidFill>
                <a:latin typeface="Garamond" pitchFamily="34" charset="0"/>
                <a:ea typeface="Garamond" pitchFamily="34" charset="-122"/>
                <a:cs typeface="Garamond" pitchFamily="34" charset="-120"/>
              </a:rPr>
              <a:t> m</a:t>
            </a:r>
            <a:endParaRPr lang="en-US" sz="2000" dirty="0"/>
          </a:p>
        </p:txBody>
      </p:sp>
      <p:sp>
        <p:nvSpPr>
          <p:cNvPr id="17" name="Text 14"/>
          <p:cNvSpPr txBox="1"/>
          <p:nvPr/>
        </p:nvSpPr>
        <p:spPr>
          <a:xfrm>
            <a:off x="548640" y="3081528"/>
            <a:ext cx="5547360" cy="457200"/>
          </a:xfrm>
          <a:prstGeom prst="rect">
            <a:avLst/>
          </a:prstGeom>
          <a:noFill/>
          <a:ln/>
        </p:spPr>
        <p:txBody>
          <a:bodyPr wrap="square" lIns="0" tIns="0" rIns="0" bIns="0" rtlCol="0" anchor="ctr"/>
          <a:lstStyle/>
          <a:p>
            <a:pPr marL="0" indent="0" algn="ctr">
              <a:buNone/>
            </a:pPr>
            <a:r>
              <a:rPr lang="en-US" sz="1400" dirty="0">
                <a:solidFill>
                  <a:srgbClr val="63737D"/>
                </a:solidFill>
                <a:latin typeface="Garamond" pitchFamily="34" charset="0"/>
                <a:ea typeface="Garamond" pitchFamily="34" charset="-122"/>
                <a:cs typeface="Garamond" pitchFamily="34" charset="-120"/>
              </a:rPr>
              <a:t>*We’ll see Avogadro's number again — it’s a foundational value in chemistry</a:t>
            </a:r>
            <a:endParaRPr lang="en-US" sz="1400" dirty="0"/>
          </a:p>
        </p:txBody>
      </p:sp>
      <p:sp>
        <p:nvSpPr>
          <p:cNvPr id="18" name="Text 15"/>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9" name="Text 16"/>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754880" cy="4754880"/>
          </a:xfrm>
          <a:prstGeom prst="ellipse">
            <a:avLst/>
          </a:prstGeom>
          <a:solidFill>
            <a:srgbClr val="1E3A5F"/>
          </a:solidFill>
          <a:ln/>
        </p:spPr>
        <p:txBody>
          <a:bodyPr/>
          <a:lstStyle/>
          <a:p>
            <a:endParaRPr lang="en-US"/>
          </a:p>
        </p:txBody>
      </p:sp>
      <p:sp>
        <p:nvSpPr>
          <p:cNvPr id="3" name="Shape 1"/>
          <p:cNvSpPr/>
          <p:nvPr/>
        </p:nvSpPr>
        <p:spPr>
          <a:xfrm>
            <a:off x="5592928" y="1234440"/>
            <a:ext cx="1005840" cy="10058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 name="Image 0" descr="/tmp/chem101_topic2/icon_calculator_white.png"/>
          <p:cNvPicPr>
            <a:picLocks noChangeAspect="1"/>
          </p:cNvPicPr>
          <p:nvPr/>
        </p:nvPicPr>
        <p:blipFill>
          <a:blip r:embed="rId3"/>
          <a:stretch>
            <a:fillRect/>
          </a:stretch>
        </p:blipFill>
        <p:spPr>
          <a:xfrm>
            <a:off x="5844388" y="1485900"/>
            <a:ext cx="502920" cy="502920"/>
          </a:xfrm>
          <a:prstGeom prst="rect">
            <a:avLst/>
          </a:prstGeom>
        </p:spPr>
      </p:pic>
      <p:sp>
        <p:nvSpPr>
          <p:cNvPr id="5" name="Text 2"/>
          <p:cNvSpPr txBox="1"/>
          <p:nvPr/>
        </p:nvSpPr>
        <p:spPr>
          <a:xfrm>
            <a:off x="914400" y="2514600"/>
            <a:ext cx="10362895"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Significant Figures</a:t>
            </a:r>
            <a:endParaRPr lang="en-US" sz="3800" dirty="0"/>
          </a:p>
        </p:txBody>
      </p:sp>
      <p:sp>
        <p:nvSpPr>
          <p:cNvPr id="6" name="Text 3"/>
          <p:cNvSpPr txBox="1"/>
          <p:nvPr/>
        </p:nvSpPr>
        <p:spPr>
          <a:xfrm>
            <a:off x="914400" y="3474720"/>
            <a:ext cx="10362895" cy="548640"/>
          </a:xfrm>
          <a:prstGeom prst="rect">
            <a:avLst/>
          </a:prstGeom>
          <a:noFill/>
          <a:ln/>
        </p:spPr>
        <p:txBody>
          <a:bodyPr wrap="square" lIns="0" tIns="0" rIns="0" bIns="0" rtlCol="0" anchor="ctr"/>
          <a:lstStyle/>
          <a:p>
            <a:pPr marL="0" indent="0" algn="ctr">
              <a:buNone/>
            </a:pPr>
            <a:r>
              <a:rPr lang="en-US" sz="1800" dirty="0">
                <a:solidFill>
                  <a:srgbClr val="CADCEA"/>
                </a:solidFill>
                <a:latin typeface="Garamond" pitchFamily="34" charset="0"/>
                <a:ea typeface="Garamond" pitchFamily="34" charset="-122"/>
                <a:cs typeface="Garamond" pitchFamily="34" charset="-120"/>
              </a:rPr>
              <a:t>How precise </a:t>
            </a:r>
            <a:r>
              <a:rPr lang="en-US" dirty="0">
                <a:solidFill>
                  <a:srgbClr val="CADCEA"/>
                </a:solidFill>
                <a:latin typeface="Garamond" pitchFamily="34" charset="0"/>
                <a:ea typeface="Garamond" pitchFamily="34" charset="-122"/>
                <a:cs typeface="Garamond" pitchFamily="34" charset="-120"/>
              </a:rPr>
              <a:t>can</a:t>
            </a:r>
            <a:r>
              <a:rPr lang="en-US" sz="1800" dirty="0">
                <a:solidFill>
                  <a:srgbClr val="CADCEA"/>
                </a:solidFill>
                <a:latin typeface="Garamond" pitchFamily="34" charset="0"/>
                <a:ea typeface="Garamond" pitchFamily="34" charset="-122"/>
                <a:cs typeface="Garamond" pitchFamily="34" charset="-120"/>
              </a:rPr>
              <a:t> a measurement or calculation be, really?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calculator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601200" cy="68580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What Are Significant Figures?</a:t>
            </a:r>
            <a:endParaRPr lang="en-US" sz="3000" dirty="0"/>
          </a:p>
        </p:txBody>
      </p:sp>
      <p:sp>
        <p:nvSpPr>
          <p:cNvPr id="5" name="Shape 2"/>
          <p:cNvSpPr/>
          <p:nvPr/>
        </p:nvSpPr>
        <p:spPr>
          <a:xfrm>
            <a:off x="548640" y="1417320"/>
            <a:ext cx="11094415" cy="1005840"/>
          </a:xfrm>
          <a:prstGeom prst="roundRect">
            <a:avLst>
              <a:gd name="adj" fmla="val 7273"/>
            </a:avLst>
          </a:prstGeom>
          <a:solidFill>
            <a:schemeClr val="accent1">
              <a:lumMod val="50000"/>
            </a:schemeClr>
          </a:solidFill>
          <a:ln/>
          <a:effectLst>
            <a:outerShdw blurRad="76200" dist="38100" dir="5400000" algn="bl" rotWithShape="0">
              <a:srgbClr val="1B1B1B">
                <a:alpha val="18000"/>
              </a:srgbClr>
            </a:outerShdw>
          </a:effectLst>
        </p:spPr>
        <p:txBody>
          <a:bodyPr/>
          <a:lstStyle/>
          <a:p>
            <a:endParaRPr lang="en-US"/>
          </a:p>
        </p:txBody>
      </p:sp>
      <p:sp>
        <p:nvSpPr>
          <p:cNvPr id="6" name="Text 3"/>
          <p:cNvSpPr txBox="1"/>
          <p:nvPr/>
        </p:nvSpPr>
        <p:spPr>
          <a:xfrm>
            <a:off x="868680" y="1417320"/>
            <a:ext cx="10454335" cy="1005840"/>
          </a:xfrm>
          <a:prstGeom prst="rect">
            <a:avLst/>
          </a:prstGeom>
          <a:noFill/>
          <a:ln/>
        </p:spPr>
        <p:txBody>
          <a:bodyPr wrap="square" lIns="0" tIns="0" rIns="0" bIns="0" rtlCol="0" anchor="ctr"/>
          <a:lstStyle/>
          <a:p>
            <a:pPr marL="0" indent="0">
              <a:buNone/>
            </a:pPr>
            <a:r>
              <a:rPr lang="en-US" sz="1800" dirty="0">
                <a:solidFill>
                  <a:srgbClr val="FFFFFF"/>
                </a:solidFill>
                <a:latin typeface="Cambria" pitchFamily="34" charset="0"/>
                <a:ea typeface="Cambria" pitchFamily="34" charset="-122"/>
                <a:cs typeface="Cambria" pitchFamily="34" charset="-120"/>
              </a:rPr>
              <a:t>The digits in a measurement that carry real, meaningful precision.</a:t>
            </a:r>
            <a:endParaRPr lang="en-US" sz="1800" dirty="0"/>
          </a:p>
        </p:txBody>
      </p:sp>
      <p:sp>
        <p:nvSpPr>
          <p:cNvPr id="7" name="Shape 4"/>
          <p:cNvSpPr/>
          <p:nvPr/>
        </p:nvSpPr>
        <p:spPr>
          <a:xfrm>
            <a:off x="548640" y="2743200"/>
            <a:ext cx="11094415" cy="960120"/>
          </a:xfrm>
          <a:prstGeom prst="roundRect">
            <a:avLst>
              <a:gd name="adj" fmla="val 6667"/>
            </a:avLst>
          </a:prstGeom>
          <a:solidFill>
            <a:srgbClr val="F1F6F8"/>
          </a:solidFill>
          <a:ln/>
        </p:spPr>
        <p:txBody>
          <a:bodyPr/>
          <a:lstStyle/>
          <a:p>
            <a:endParaRPr lang="en-US"/>
          </a:p>
        </p:txBody>
      </p:sp>
      <p:sp>
        <p:nvSpPr>
          <p:cNvPr id="8" name="Text 5"/>
          <p:cNvSpPr txBox="1"/>
          <p:nvPr/>
        </p:nvSpPr>
        <p:spPr>
          <a:xfrm>
            <a:off x="868680" y="2743200"/>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Certain digits</a:t>
            </a:r>
            <a:endParaRPr lang="en-US" sz="2000" dirty="0"/>
          </a:p>
        </p:txBody>
      </p:sp>
      <p:sp>
        <p:nvSpPr>
          <p:cNvPr id="9" name="Text 6"/>
          <p:cNvSpPr txBox="1"/>
          <p:nvPr/>
        </p:nvSpPr>
        <p:spPr>
          <a:xfrm>
            <a:off x="3587672" y="2743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Read directly from the marked scale of the measuring instrument or tool</a:t>
            </a:r>
            <a:endParaRPr lang="en-US" dirty="0"/>
          </a:p>
        </p:txBody>
      </p:sp>
      <p:sp>
        <p:nvSpPr>
          <p:cNvPr id="10" name="Shape 7"/>
          <p:cNvSpPr/>
          <p:nvPr/>
        </p:nvSpPr>
        <p:spPr>
          <a:xfrm>
            <a:off x="548640" y="3886200"/>
            <a:ext cx="11094415" cy="960120"/>
          </a:xfrm>
          <a:prstGeom prst="roundRect">
            <a:avLst>
              <a:gd name="adj" fmla="val 6667"/>
            </a:avLst>
          </a:prstGeom>
          <a:solidFill>
            <a:srgbClr val="F1F6F8"/>
          </a:solidFill>
          <a:ln/>
        </p:spPr>
        <p:txBody>
          <a:bodyPr/>
          <a:lstStyle/>
          <a:p>
            <a:endParaRPr lang="en-US"/>
          </a:p>
        </p:txBody>
      </p:sp>
      <p:sp>
        <p:nvSpPr>
          <p:cNvPr id="11" name="Text 8"/>
          <p:cNvSpPr txBox="1"/>
          <p:nvPr/>
        </p:nvSpPr>
        <p:spPr>
          <a:xfrm>
            <a:off x="868680" y="3886200"/>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One estimated digit</a:t>
            </a:r>
            <a:endParaRPr lang="en-US" sz="2000" dirty="0"/>
          </a:p>
        </p:txBody>
      </p:sp>
      <p:sp>
        <p:nvSpPr>
          <p:cNvPr id="12" name="Text 9"/>
          <p:cNvSpPr txBox="1"/>
          <p:nvPr/>
        </p:nvSpPr>
        <p:spPr>
          <a:xfrm>
            <a:off x="3587672" y="3886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You estimate a single digit between the instrument's smallest markings</a:t>
            </a:r>
            <a:endParaRPr lang="en-US" dirty="0"/>
          </a:p>
        </p:txBody>
      </p:sp>
      <p:sp>
        <p:nvSpPr>
          <p:cNvPr id="13" name="Shape 10"/>
          <p:cNvSpPr/>
          <p:nvPr/>
        </p:nvSpPr>
        <p:spPr>
          <a:xfrm>
            <a:off x="548640" y="5029200"/>
            <a:ext cx="11094415" cy="960120"/>
          </a:xfrm>
          <a:prstGeom prst="roundRect">
            <a:avLst>
              <a:gd name="adj" fmla="val 6667"/>
            </a:avLst>
          </a:prstGeom>
          <a:solidFill>
            <a:srgbClr val="F1F6F8"/>
          </a:solidFill>
          <a:ln/>
        </p:spPr>
        <p:txBody>
          <a:bodyPr/>
          <a:lstStyle/>
          <a:p>
            <a:endParaRPr lang="en-US" dirty="0"/>
          </a:p>
        </p:txBody>
      </p:sp>
      <p:sp>
        <p:nvSpPr>
          <p:cNvPr id="14" name="Text 11"/>
          <p:cNvSpPr txBox="1"/>
          <p:nvPr/>
        </p:nvSpPr>
        <p:spPr>
          <a:xfrm>
            <a:off x="868680" y="5029200"/>
            <a:ext cx="2743200" cy="960120"/>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Why it matters</a:t>
            </a:r>
            <a:endParaRPr lang="en-US" sz="2000" dirty="0"/>
          </a:p>
        </p:txBody>
      </p:sp>
      <p:sp>
        <p:nvSpPr>
          <p:cNvPr id="15" name="Text 12"/>
          <p:cNvSpPr txBox="1"/>
          <p:nvPr/>
        </p:nvSpPr>
        <p:spPr>
          <a:xfrm>
            <a:off x="3587672" y="5029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 calculated result can only be as precise as your </a:t>
            </a:r>
            <a:r>
              <a:rPr lang="en-US" u="sng" dirty="0">
                <a:solidFill>
                  <a:srgbClr val="33414F"/>
                </a:solidFill>
                <a:latin typeface="Garamond" pitchFamily="34" charset="0"/>
                <a:ea typeface="Garamond" pitchFamily="34" charset="-122"/>
                <a:cs typeface="Garamond" pitchFamily="34" charset="-120"/>
              </a:rPr>
              <a:t>least precise measurement</a:t>
            </a:r>
            <a:endParaRPr lang="en-US" u="sng" dirty="0"/>
          </a:p>
        </p:txBody>
      </p:sp>
      <p:sp>
        <p:nvSpPr>
          <p:cNvPr id="16"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calculator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79" y="457200"/>
            <a:ext cx="10317175"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Rules for counting/determining Significant Figures (Sig Figs)</a:t>
            </a:r>
            <a:endParaRPr lang="en-US" sz="2800" dirty="0"/>
          </a:p>
        </p:txBody>
      </p:sp>
      <p:sp>
        <p:nvSpPr>
          <p:cNvPr id="7" name="Text 4"/>
          <p:cNvSpPr txBox="1"/>
          <p:nvPr/>
        </p:nvSpPr>
        <p:spPr>
          <a:xfrm>
            <a:off x="697230" y="1836196"/>
            <a:ext cx="4385758" cy="36522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Nonzero digits</a:t>
            </a:r>
            <a:endParaRPr lang="en-US" sz="2000" dirty="0"/>
          </a:p>
        </p:txBody>
      </p:sp>
      <p:sp>
        <p:nvSpPr>
          <p:cNvPr id="8" name="Text 5"/>
          <p:cNvSpPr txBox="1"/>
          <p:nvPr/>
        </p:nvSpPr>
        <p:spPr>
          <a:xfrm>
            <a:off x="5343855" y="1566919"/>
            <a:ext cx="7401853" cy="86868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Always significant — every digit 1 through 9 counts</a:t>
            </a:r>
            <a:endParaRPr lang="en-US" dirty="0"/>
          </a:p>
        </p:txBody>
      </p:sp>
      <p:sp>
        <p:nvSpPr>
          <p:cNvPr id="11" name="Text 8"/>
          <p:cNvSpPr txBox="1"/>
          <p:nvPr/>
        </p:nvSpPr>
        <p:spPr>
          <a:xfrm>
            <a:off x="697230" y="2423160"/>
            <a:ext cx="4385758" cy="36522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Zeros between nonzero digits</a:t>
            </a:r>
            <a:endParaRPr lang="en-US" sz="2000" dirty="0"/>
          </a:p>
        </p:txBody>
      </p:sp>
      <p:sp>
        <p:nvSpPr>
          <p:cNvPr id="12" name="Text 9"/>
          <p:cNvSpPr txBox="1"/>
          <p:nvPr/>
        </p:nvSpPr>
        <p:spPr>
          <a:xfrm>
            <a:off x="5378145" y="2148840"/>
            <a:ext cx="7401853" cy="86868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Always significant — 405 has 3 significant figures</a:t>
            </a:r>
            <a:endParaRPr lang="en-US" dirty="0"/>
          </a:p>
        </p:txBody>
      </p:sp>
      <p:sp>
        <p:nvSpPr>
          <p:cNvPr id="15" name="Text 12"/>
          <p:cNvSpPr txBox="1"/>
          <p:nvPr/>
        </p:nvSpPr>
        <p:spPr>
          <a:xfrm>
            <a:off x="697230" y="3063778"/>
            <a:ext cx="4385758" cy="36522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Leading zeros</a:t>
            </a:r>
            <a:endParaRPr lang="en-US" sz="2000" dirty="0"/>
          </a:p>
        </p:txBody>
      </p:sp>
      <p:sp>
        <p:nvSpPr>
          <p:cNvPr id="16" name="Text 13"/>
          <p:cNvSpPr txBox="1"/>
          <p:nvPr/>
        </p:nvSpPr>
        <p:spPr>
          <a:xfrm>
            <a:off x="5378145" y="2789458"/>
            <a:ext cx="7401853" cy="86868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Never significant — they only locate the decimal point (0.0025 has 2)</a:t>
            </a:r>
            <a:endParaRPr lang="en-US" dirty="0"/>
          </a:p>
        </p:txBody>
      </p:sp>
      <p:sp>
        <p:nvSpPr>
          <p:cNvPr id="19" name="Text 16"/>
          <p:cNvSpPr txBox="1"/>
          <p:nvPr/>
        </p:nvSpPr>
        <p:spPr>
          <a:xfrm>
            <a:off x="731520" y="3646708"/>
            <a:ext cx="4385758" cy="36522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Trailing zeros, with a decimal point</a:t>
            </a:r>
            <a:endParaRPr lang="en-US" sz="2000" dirty="0"/>
          </a:p>
        </p:txBody>
      </p:sp>
      <p:sp>
        <p:nvSpPr>
          <p:cNvPr id="20" name="Text 17"/>
          <p:cNvSpPr txBox="1"/>
          <p:nvPr/>
        </p:nvSpPr>
        <p:spPr>
          <a:xfrm>
            <a:off x="5343855" y="3374136"/>
            <a:ext cx="7401853" cy="86868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Always significant — 2.50 has 3 significant figures</a:t>
            </a:r>
            <a:endParaRPr lang="en-US" dirty="0"/>
          </a:p>
        </p:txBody>
      </p:sp>
      <p:sp>
        <p:nvSpPr>
          <p:cNvPr id="23" name="Text 20"/>
          <p:cNvSpPr txBox="1"/>
          <p:nvPr/>
        </p:nvSpPr>
        <p:spPr>
          <a:xfrm>
            <a:off x="731520" y="4229638"/>
            <a:ext cx="4385758" cy="36522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Trailing zeros, no decimal point</a:t>
            </a:r>
            <a:endParaRPr lang="en-US" sz="2000" dirty="0"/>
          </a:p>
        </p:txBody>
      </p:sp>
      <p:sp>
        <p:nvSpPr>
          <p:cNvPr id="24" name="Text 21"/>
          <p:cNvSpPr txBox="1"/>
          <p:nvPr/>
        </p:nvSpPr>
        <p:spPr>
          <a:xfrm>
            <a:off x="5343855" y="3953301"/>
            <a:ext cx="7401853" cy="86868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Ambiguous — 100 is usually read as having just 1</a:t>
            </a:r>
            <a:endParaRPr lang="en-US" dirty="0"/>
          </a:p>
        </p:txBody>
      </p:sp>
      <p:sp>
        <p:nvSpPr>
          <p:cNvPr id="27" name="Text 24"/>
          <p:cNvSpPr txBox="1"/>
          <p:nvPr/>
        </p:nvSpPr>
        <p:spPr>
          <a:xfrm>
            <a:off x="697230" y="4946366"/>
            <a:ext cx="4385758" cy="365222"/>
          </a:xfrm>
          <a:prstGeom prst="rect">
            <a:avLst/>
          </a:prstGeom>
          <a:noFill/>
          <a:ln/>
        </p:spPr>
        <p:txBody>
          <a:bodyPr wrap="square" lIns="0" tIns="0" rIns="0" bIns="0" rtlCol="0" anchor="ctr"/>
          <a:lstStyle/>
          <a:p>
            <a:pPr marL="0" indent="0">
              <a:buNone/>
            </a:pPr>
            <a:r>
              <a:rPr lang="en-US" sz="2000" b="1" dirty="0">
                <a:solidFill>
                  <a:srgbClr val="14213D"/>
                </a:solidFill>
                <a:latin typeface="Garamond" pitchFamily="34" charset="0"/>
                <a:ea typeface="Garamond" pitchFamily="34" charset="-122"/>
                <a:cs typeface="Garamond" pitchFamily="34" charset="-120"/>
              </a:rPr>
              <a:t>Exact numbers</a:t>
            </a:r>
            <a:endParaRPr lang="en-US" sz="2000" dirty="0"/>
          </a:p>
        </p:txBody>
      </p:sp>
      <p:sp>
        <p:nvSpPr>
          <p:cNvPr id="28" name="Text 25"/>
          <p:cNvSpPr txBox="1"/>
          <p:nvPr/>
        </p:nvSpPr>
        <p:spPr>
          <a:xfrm>
            <a:off x="5343855" y="4722405"/>
            <a:ext cx="7401853" cy="86868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Infinite significant figures — counted or defined values like 12 eggs</a:t>
            </a:r>
            <a:endParaRPr lang="en-US" dirty="0"/>
          </a:p>
        </p:txBody>
      </p:sp>
      <p:sp>
        <p:nvSpPr>
          <p:cNvPr id="29" name="Text 26"/>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30" name="Text 27"/>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calculator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Sig Figs in Calculations</a:t>
            </a:r>
            <a:endParaRPr lang="en-US" sz="2400" dirty="0"/>
          </a:p>
        </p:txBody>
      </p:sp>
      <p:sp>
        <p:nvSpPr>
          <p:cNvPr id="5" name="Shape 2"/>
          <p:cNvSpPr/>
          <p:nvPr/>
        </p:nvSpPr>
        <p:spPr>
          <a:xfrm>
            <a:off x="548640" y="1417320"/>
            <a:ext cx="5419192" cy="594360"/>
          </a:xfrm>
          <a:prstGeom prst="roundRect">
            <a:avLst>
              <a:gd name="adj" fmla="val 10769"/>
            </a:avLst>
          </a:prstGeom>
          <a:solidFill>
            <a:srgbClr val="14213D"/>
          </a:solidFill>
          <a:ln/>
        </p:spPr>
        <p:txBody>
          <a:bodyPr/>
          <a:lstStyle/>
          <a:p>
            <a:endParaRPr lang="en-US"/>
          </a:p>
        </p:txBody>
      </p:sp>
      <p:sp>
        <p:nvSpPr>
          <p:cNvPr id="6" name="Text 3"/>
          <p:cNvSpPr txBox="1"/>
          <p:nvPr/>
        </p:nvSpPr>
        <p:spPr>
          <a:xfrm>
            <a:off x="548640" y="1417320"/>
            <a:ext cx="5419192"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Garamond" pitchFamily="34" charset="0"/>
                <a:ea typeface="Garamond" pitchFamily="34" charset="-122"/>
                <a:cs typeface="Garamond" pitchFamily="34" charset="-120"/>
              </a:rPr>
              <a:t>Addition &amp; Subtraction</a:t>
            </a:r>
            <a:endParaRPr lang="en-US" sz="2400" dirty="0"/>
          </a:p>
        </p:txBody>
      </p:sp>
      <p:sp>
        <p:nvSpPr>
          <p:cNvPr id="7" name="Shape 4"/>
          <p:cNvSpPr/>
          <p:nvPr/>
        </p:nvSpPr>
        <p:spPr>
          <a:xfrm>
            <a:off x="548640" y="2103120"/>
            <a:ext cx="5419192" cy="3154680"/>
          </a:xfrm>
          <a:prstGeom prst="roundRect">
            <a:avLst>
              <a:gd name="adj" fmla="val 2029"/>
            </a:avLst>
          </a:prstGeom>
          <a:solidFill>
            <a:srgbClr val="F1F6F8"/>
          </a:solidFill>
          <a:ln/>
        </p:spPr>
        <p:txBody>
          <a:bodyPr/>
          <a:lstStyle/>
          <a:p>
            <a:endParaRPr lang="en-US"/>
          </a:p>
        </p:txBody>
      </p:sp>
      <p:sp>
        <p:nvSpPr>
          <p:cNvPr id="8" name="Text 5"/>
          <p:cNvSpPr txBox="1"/>
          <p:nvPr/>
        </p:nvSpPr>
        <p:spPr>
          <a:xfrm>
            <a:off x="731520" y="2286000"/>
            <a:ext cx="5053432" cy="2788920"/>
          </a:xfrm>
          <a:prstGeom prst="rect">
            <a:avLst/>
          </a:prstGeom>
          <a:noFill/>
          <a:ln/>
        </p:spPr>
        <p:txBody>
          <a:bodyPr wrap="square" lIns="0" tIns="0" rIns="0" bIns="0" rtlCol="0" anchor="t"/>
          <a:lstStyle/>
          <a:p>
            <a:pPr marL="0" indent="0">
              <a:buNone/>
            </a:pPr>
            <a:r>
              <a:rPr lang="en-US" sz="2000" dirty="0">
                <a:solidFill>
                  <a:srgbClr val="33414F"/>
                </a:solidFill>
                <a:latin typeface="Garamond" pitchFamily="34" charset="0"/>
                <a:ea typeface="Garamond" pitchFamily="34" charset="-122"/>
                <a:cs typeface="Garamond" pitchFamily="34" charset="-120"/>
              </a:rPr>
              <a:t>Round your answer to match the fewest decimal places among your measurements.</a:t>
            </a:r>
            <a:endParaRPr lang="en-US" sz="2000" dirty="0"/>
          </a:p>
        </p:txBody>
      </p:sp>
      <p:sp>
        <p:nvSpPr>
          <p:cNvPr id="9" name="Shape 6"/>
          <p:cNvSpPr/>
          <p:nvPr/>
        </p:nvSpPr>
        <p:spPr>
          <a:xfrm>
            <a:off x="6223864" y="1417320"/>
            <a:ext cx="5419192" cy="594360"/>
          </a:xfrm>
          <a:prstGeom prst="roundRect">
            <a:avLst>
              <a:gd name="adj" fmla="val 10769"/>
            </a:avLst>
          </a:prstGeom>
          <a:solidFill>
            <a:srgbClr val="F4A100"/>
          </a:solidFill>
          <a:ln/>
        </p:spPr>
        <p:txBody>
          <a:bodyPr/>
          <a:lstStyle/>
          <a:p>
            <a:endParaRPr lang="en-US"/>
          </a:p>
        </p:txBody>
      </p:sp>
      <p:sp>
        <p:nvSpPr>
          <p:cNvPr id="10" name="Text 7"/>
          <p:cNvSpPr txBox="1"/>
          <p:nvPr/>
        </p:nvSpPr>
        <p:spPr>
          <a:xfrm>
            <a:off x="6223864" y="1417320"/>
            <a:ext cx="5419192" cy="594360"/>
          </a:xfrm>
          <a:prstGeom prst="rect">
            <a:avLst/>
          </a:prstGeom>
          <a:noFill/>
          <a:ln/>
        </p:spPr>
        <p:txBody>
          <a:bodyPr wrap="square" lIns="0" tIns="0" rIns="0" bIns="0" rtlCol="0" anchor="ctr"/>
          <a:lstStyle/>
          <a:p>
            <a:pPr marL="0" indent="0" algn="ctr">
              <a:buNone/>
            </a:pPr>
            <a:r>
              <a:rPr lang="en-US" sz="2400" b="1" dirty="0">
                <a:solidFill>
                  <a:srgbClr val="FFFFFF"/>
                </a:solidFill>
                <a:latin typeface="Garamond" pitchFamily="34" charset="0"/>
                <a:ea typeface="Garamond" pitchFamily="34" charset="-122"/>
                <a:cs typeface="Garamond" pitchFamily="34" charset="-120"/>
              </a:rPr>
              <a:t>Multiplication &amp; Division</a:t>
            </a:r>
            <a:endParaRPr lang="en-US" sz="2400" dirty="0"/>
          </a:p>
        </p:txBody>
      </p:sp>
      <p:sp>
        <p:nvSpPr>
          <p:cNvPr id="11" name="Shape 8"/>
          <p:cNvSpPr/>
          <p:nvPr/>
        </p:nvSpPr>
        <p:spPr>
          <a:xfrm>
            <a:off x="6223864" y="2103120"/>
            <a:ext cx="5419192" cy="3154680"/>
          </a:xfrm>
          <a:prstGeom prst="roundRect">
            <a:avLst>
              <a:gd name="adj" fmla="val 2029"/>
            </a:avLst>
          </a:prstGeom>
          <a:solidFill>
            <a:srgbClr val="F1F6F8"/>
          </a:solidFill>
          <a:ln/>
        </p:spPr>
        <p:txBody>
          <a:bodyPr/>
          <a:lstStyle/>
          <a:p>
            <a:endParaRPr lang="en-US"/>
          </a:p>
        </p:txBody>
      </p:sp>
      <p:sp>
        <p:nvSpPr>
          <p:cNvPr id="12" name="Text 9"/>
          <p:cNvSpPr txBox="1"/>
          <p:nvPr/>
        </p:nvSpPr>
        <p:spPr>
          <a:xfrm>
            <a:off x="6406744" y="2286000"/>
            <a:ext cx="5053432" cy="2788920"/>
          </a:xfrm>
          <a:prstGeom prst="rect">
            <a:avLst/>
          </a:prstGeom>
          <a:noFill/>
          <a:ln/>
        </p:spPr>
        <p:txBody>
          <a:bodyPr wrap="square" lIns="0" tIns="0" rIns="0" bIns="0" rtlCol="0" anchor="t"/>
          <a:lstStyle/>
          <a:p>
            <a:pPr marL="0" indent="0">
              <a:buNone/>
            </a:pPr>
            <a:r>
              <a:rPr lang="en-US" sz="2000" dirty="0">
                <a:solidFill>
                  <a:srgbClr val="33414F"/>
                </a:solidFill>
                <a:latin typeface="Garamond" pitchFamily="34" charset="0"/>
                <a:ea typeface="Garamond" pitchFamily="34" charset="-122"/>
                <a:cs typeface="Garamond" pitchFamily="34" charset="-120"/>
              </a:rPr>
              <a:t>Round your answer to match the fewest total significant figures among your measurements.</a:t>
            </a:r>
            <a:endParaRPr lang="en-US" sz="2000" dirty="0"/>
          </a:p>
        </p:txBody>
      </p:sp>
      <p:sp>
        <p:nvSpPr>
          <p:cNvPr id="13" name="Text 10"/>
          <p:cNvSpPr txBox="1"/>
          <p:nvPr/>
        </p:nvSpPr>
        <p:spPr>
          <a:xfrm>
            <a:off x="548640" y="5394960"/>
            <a:ext cx="11094415" cy="502920"/>
          </a:xfrm>
          <a:prstGeom prst="rect">
            <a:avLst/>
          </a:prstGeom>
          <a:noFill/>
          <a:ln/>
        </p:spPr>
        <p:txBody>
          <a:bodyPr wrap="square" lIns="0" tIns="0" rIns="0" bIns="0" rtlCol="0" anchor="ctr"/>
          <a:lstStyle/>
          <a:p>
            <a:pPr marL="0" indent="0" algn="ctr">
              <a:buNone/>
            </a:pPr>
            <a:r>
              <a:rPr lang="en-US" sz="1600" dirty="0">
                <a:solidFill>
                  <a:srgbClr val="63737D"/>
                </a:solidFill>
                <a:latin typeface="Garamond" pitchFamily="34" charset="0"/>
                <a:ea typeface="Garamond" pitchFamily="34" charset="-122"/>
                <a:cs typeface="Garamond" pitchFamily="34" charset="-120"/>
              </a:rPr>
              <a:t>Different operations, different rule — always identify which one you're doing before you round.</a:t>
            </a:r>
            <a:endParaRPr lang="en-US" sz="1600" dirty="0"/>
          </a:p>
        </p:txBody>
      </p:sp>
      <p:sp>
        <p:nvSpPr>
          <p:cNvPr id="14" name="Text 11"/>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5" name="Text 12"/>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12</a:t>
            </a:r>
            <a:endParaRPr lang="en-US" sz="900" dirty="0"/>
          </a:p>
        </p:txBody>
      </p:sp>
      <p:sp>
        <p:nvSpPr>
          <p:cNvPr id="16" name="TextBox 15">
            <a:extLst>
              <a:ext uri="{FF2B5EF4-FFF2-40B4-BE49-F238E27FC236}">
                <a16:creationId xmlns:a16="http://schemas.microsoft.com/office/drawing/2014/main" id="{846927A8-7493-A2C5-B8DA-5537D949B530}"/>
              </a:ext>
            </a:extLst>
          </p:cNvPr>
          <p:cNvSpPr txBox="1"/>
          <p:nvPr/>
        </p:nvSpPr>
        <p:spPr>
          <a:xfrm>
            <a:off x="731520" y="3357294"/>
            <a:ext cx="4842286" cy="1015663"/>
          </a:xfrm>
          <a:prstGeom prst="rect">
            <a:avLst/>
          </a:prstGeom>
          <a:noFill/>
        </p:spPr>
        <p:txBody>
          <a:bodyPr wrap="square" rtlCol="0">
            <a:spAutoFit/>
          </a:bodyPr>
          <a:lstStyle/>
          <a:p>
            <a:r>
              <a:rPr lang="en-US" sz="2000" dirty="0"/>
              <a:t>56.231 + 91.3 = 147.531 → </a:t>
            </a:r>
            <a:r>
              <a:rPr lang="en-US" sz="2000" b="1" dirty="0"/>
              <a:t>147.5</a:t>
            </a:r>
            <a:r>
              <a:rPr lang="en-US" sz="2000" dirty="0"/>
              <a:t> </a:t>
            </a:r>
          </a:p>
          <a:p>
            <a:endParaRPr lang="en-US" sz="2000" dirty="0"/>
          </a:p>
          <a:p>
            <a:r>
              <a:rPr lang="en-US" sz="2000" dirty="0"/>
              <a:t>4 sig figs because 91.3 has one decimal place</a:t>
            </a:r>
          </a:p>
        </p:txBody>
      </p:sp>
      <p:sp>
        <p:nvSpPr>
          <p:cNvPr id="17" name="TextBox 16">
            <a:extLst>
              <a:ext uri="{FF2B5EF4-FFF2-40B4-BE49-F238E27FC236}">
                <a16:creationId xmlns:a16="http://schemas.microsoft.com/office/drawing/2014/main" id="{444CC6D0-89C1-8F7F-FB78-65763462CEB6}"/>
              </a:ext>
            </a:extLst>
          </p:cNvPr>
          <p:cNvSpPr txBox="1"/>
          <p:nvPr/>
        </p:nvSpPr>
        <p:spPr>
          <a:xfrm>
            <a:off x="6578750" y="3357293"/>
            <a:ext cx="4881426" cy="1015663"/>
          </a:xfrm>
          <a:prstGeom prst="rect">
            <a:avLst/>
          </a:prstGeom>
          <a:noFill/>
        </p:spPr>
        <p:txBody>
          <a:bodyPr wrap="square" rtlCol="0">
            <a:spAutoFit/>
          </a:bodyPr>
          <a:lstStyle/>
          <a:p>
            <a:r>
              <a:rPr lang="en-US" sz="2000" dirty="0"/>
              <a:t>56.231 x 91.3 = 5,133.8903 → </a:t>
            </a:r>
            <a:r>
              <a:rPr lang="en-US" sz="2000" b="1" dirty="0"/>
              <a:t>5.13 x 10³</a:t>
            </a:r>
            <a:r>
              <a:rPr lang="en-US" sz="2000" dirty="0"/>
              <a:t> </a:t>
            </a:r>
          </a:p>
          <a:p>
            <a:endParaRPr lang="en-US" sz="2000" dirty="0"/>
          </a:p>
          <a:p>
            <a:r>
              <a:rPr lang="en-US" sz="2000" dirty="0"/>
              <a:t>3 sig figs because 91.3 has 3 sig figs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1280160" y="4206240"/>
            <a:ext cx="4754880" cy="4754880"/>
          </a:xfrm>
          <a:prstGeom prst="ellipse">
            <a:avLst/>
          </a:prstGeom>
          <a:solidFill>
            <a:srgbClr val="1E3A5F"/>
          </a:solidFill>
          <a:ln/>
        </p:spPr>
        <p:txBody>
          <a:bodyPr/>
          <a:lstStyle/>
          <a:p>
            <a:endParaRPr lang="en-US"/>
          </a:p>
        </p:txBody>
      </p:sp>
      <p:sp>
        <p:nvSpPr>
          <p:cNvPr id="3" name="Shape 1"/>
          <p:cNvSpPr/>
          <p:nvPr/>
        </p:nvSpPr>
        <p:spPr>
          <a:xfrm>
            <a:off x="5592928" y="1234440"/>
            <a:ext cx="1005840" cy="100584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4" name="Image 0" descr="/tmp/chem101_topic2/icon_thermometer_white.png"/>
          <p:cNvPicPr>
            <a:picLocks noChangeAspect="1"/>
          </p:cNvPicPr>
          <p:nvPr/>
        </p:nvPicPr>
        <p:blipFill>
          <a:blip r:embed="rId3"/>
          <a:stretch>
            <a:fillRect/>
          </a:stretch>
        </p:blipFill>
        <p:spPr>
          <a:xfrm>
            <a:off x="5844388" y="1485900"/>
            <a:ext cx="502920" cy="502920"/>
          </a:xfrm>
          <a:prstGeom prst="rect">
            <a:avLst/>
          </a:prstGeom>
        </p:spPr>
      </p:pic>
      <p:sp>
        <p:nvSpPr>
          <p:cNvPr id="5" name="Text 2"/>
          <p:cNvSpPr txBox="1"/>
          <p:nvPr/>
        </p:nvSpPr>
        <p:spPr>
          <a:xfrm>
            <a:off x="914400" y="2514600"/>
            <a:ext cx="10362895" cy="1005840"/>
          </a:xfrm>
          <a:prstGeom prst="rect">
            <a:avLst/>
          </a:prstGeom>
          <a:noFill/>
          <a:ln/>
        </p:spPr>
        <p:txBody>
          <a:bodyPr wrap="square" lIns="0" tIns="0" rIns="0" bIns="0" rtlCol="0" anchor="ctr"/>
          <a:lstStyle/>
          <a:p>
            <a:pPr marL="0" indent="0" algn="ctr">
              <a:buNone/>
            </a:pPr>
            <a:r>
              <a:rPr lang="en-US" sz="3800" b="1" dirty="0">
                <a:solidFill>
                  <a:srgbClr val="FFFFFF"/>
                </a:solidFill>
                <a:latin typeface="Cambria" pitchFamily="34" charset="0"/>
                <a:ea typeface="Cambria" pitchFamily="34" charset="-122"/>
                <a:cs typeface="Cambria" pitchFamily="34" charset="-120"/>
              </a:rPr>
              <a:t>Temperature &amp; Density</a:t>
            </a:r>
            <a:endParaRPr lang="en-US" sz="3800" dirty="0"/>
          </a:p>
        </p:txBody>
      </p:sp>
      <p:sp>
        <p:nvSpPr>
          <p:cNvPr id="6" name="Text 3"/>
          <p:cNvSpPr txBox="1"/>
          <p:nvPr/>
        </p:nvSpPr>
        <p:spPr>
          <a:xfrm>
            <a:off x="914400" y="3474720"/>
            <a:ext cx="10362895" cy="548640"/>
          </a:xfrm>
          <a:prstGeom prst="rect">
            <a:avLst/>
          </a:prstGeom>
          <a:noFill/>
          <a:ln/>
        </p:spPr>
        <p:txBody>
          <a:bodyPr wrap="square" lIns="0" tIns="0" rIns="0" bIns="0" rtlCol="0" anchor="ctr"/>
          <a:lstStyle/>
          <a:p>
            <a:pPr marL="0" indent="0" algn="ctr">
              <a:buNone/>
            </a:pPr>
            <a:r>
              <a:rPr lang="en-US" sz="1800" dirty="0">
                <a:solidFill>
                  <a:srgbClr val="CADCEA"/>
                </a:solidFill>
                <a:latin typeface="Garamond" pitchFamily="34" charset="0"/>
                <a:ea typeface="Garamond" pitchFamily="34" charset="-122"/>
                <a:cs typeface="Garamond" pitchFamily="34" charset="-120"/>
              </a:rPr>
              <a:t>Two important physical properties of</a:t>
            </a:r>
            <a:r>
              <a:rPr lang="en-US" dirty="0">
                <a:solidFill>
                  <a:srgbClr val="CADCEA"/>
                </a:solidFill>
                <a:latin typeface="Garamond" pitchFamily="34" charset="0"/>
                <a:ea typeface="Garamond" pitchFamily="34" charset="-122"/>
                <a:cs typeface="Garamond" pitchFamily="34" charset="-120"/>
              </a:rPr>
              <a:t> </a:t>
            </a:r>
            <a:r>
              <a:rPr lang="en-US" sz="1800" dirty="0">
                <a:solidFill>
                  <a:srgbClr val="CADCEA"/>
                </a:solidFill>
                <a:latin typeface="Garamond" pitchFamily="34" charset="0"/>
                <a:ea typeface="Garamond" pitchFamily="34" charset="-122"/>
                <a:cs typeface="Garamond" pitchFamily="34" charset="-120"/>
              </a:rPr>
              <a:t>substances or solutions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C00000"/>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thermometer_white.png"/>
          <p:cNvPicPr>
            <a:picLocks noChangeAspect="1"/>
          </p:cNvPicPr>
          <p:nvPr/>
        </p:nvPicPr>
        <p:blipFill>
          <a:blip r:embed="rId3"/>
          <a:stretch>
            <a:fillRect/>
          </a:stretch>
        </p:blipFill>
        <p:spPr>
          <a:xfrm>
            <a:off x="697230" y="651510"/>
            <a:ext cx="297180" cy="297180"/>
          </a:xfrm>
          <a:prstGeom prst="rect">
            <a:avLst/>
          </a:prstGeom>
        </p:spPr>
      </p:pic>
      <p:sp>
        <p:nvSpPr>
          <p:cNvPr id="4" name="Text 1"/>
          <p:cNvSpPr txBox="1"/>
          <p:nvPr/>
        </p:nvSpPr>
        <p:spPr>
          <a:xfrm>
            <a:off x="1325880" y="457200"/>
            <a:ext cx="9601200" cy="685800"/>
          </a:xfrm>
          <a:prstGeom prst="rect">
            <a:avLst/>
          </a:prstGeom>
          <a:noFill/>
          <a:ln/>
        </p:spPr>
        <p:txBody>
          <a:bodyPr wrap="square" lIns="0" tIns="0" rIns="0" bIns="0" rtlCol="0" anchor="ctr"/>
          <a:lstStyle/>
          <a:p>
            <a:pPr marL="0" indent="0">
              <a:buNone/>
            </a:pPr>
            <a:r>
              <a:rPr lang="en-US" sz="3000" b="1" dirty="0">
                <a:solidFill>
                  <a:srgbClr val="14213D"/>
                </a:solidFill>
                <a:latin typeface="Cambria" pitchFamily="34" charset="0"/>
                <a:ea typeface="Cambria" pitchFamily="34" charset="-122"/>
                <a:cs typeface="Cambria" pitchFamily="34" charset="-120"/>
              </a:rPr>
              <a:t>Temperature Scales</a:t>
            </a:r>
            <a:endParaRPr lang="en-US" sz="3000" dirty="0"/>
          </a:p>
        </p:txBody>
      </p:sp>
      <p:sp>
        <p:nvSpPr>
          <p:cNvPr id="5" name="Shape 2"/>
          <p:cNvSpPr/>
          <p:nvPr/>
        </p:nvSpPr>
        <p:spPr>
          <a:xfrm>
            <a:off x="548640" y="1417320"/>
            <a:ext cx="11094415" cy="1005840"/>
          </a:xfrm>
          <a:prstGeom prst="roundRect">
            <a:avLst>
              <a:gd name="adj" fmla="val 7273"/>
            </a:avLst>
          </a:prstGeom>
          <a:solidFill>
            <a:schemeClr val="tx2">
              <a:lumMod val="50000"/>
            </a:schemeClr>
          </a:solidFill>
          <a:ln/>
          <a:effectLst>
            <a:outerShdw blurRad="76200" dist="38100" dir="5400000" algn="bl" rotWithShape="0">
              <a:srgbClr val="1B1B1B">
                <a:alpha val="18000"/>
              </a:srgbClr>
            </a:outerShdw>
          </a:effectLst>
        </p:spPr>
        <p:txBody>
          <a:bodyPr/>
          <a:lstStyle/>
          <a:p>
            <a:endParaRPr lang="en-US"/>
          </a:p>
        </p:txBody>
      </p:sp>
      <p:sp>
        <p:nvSpPr>
          <p:cNvPr id="6" name="Text 3"/>
          <p:cNvSpPr txBox="1"/>
          <p:nvPr/>
        </p:nvSpPr>
        <p:spPr>
          <a:xfrm>
            <a:off x="868680" y="1417320"/>
            <a:ext cx="10454335" cy="1005840"/>
          </a:xfrm>
          <a:prstGeom prst="rect">
            <a:avLst/>
          </a:prstGeom>
          <a:noFill/>
          <a:ln/>
        </p:spPr>
        <p:txBody>
          <a:bodyPr wrap="square" lIns="0" tIns="0" rIns="0" bIns="0" rtlCol="0" anchor="ctr"/>
          <a:lstStyle/>
          <a:p>
            <a:pPr marL="0" indent="0">
              <a:buNone/>
            </a:pPr>
            <a:r>
              <a:rPr lang="en-US" sz="1800" dirty="0">
                <a:solidFill>
                  <a:srgbClr val="FFFFFF"/>
                </a:solidFill>
                <a:latin typeface="Cambria" pitchFamily="34" charset="0"/>
                <a:ea typeface="Cambria" pitchFamily="34" charset="-122"/>
                <a:cs typeface="Cambria" pitchFamily="34" charset="-120"/>
              </a:rPr>
              <a:t>Chemists move between three temperature scales, and you'll need to convert confidently among them.</a:t>
            </a:r>
            <a:endParaRPr lang="en-US" sz="1800" dirty="0"/>
          </a:p>
        </p:txBody>
      </p:sp>
      <p:sp>
        <p:nvSpPr>
          <p:cNvPr id="7" name="Shape 4"/>
          <p:cNvSpPr/>
          <p:nvPr/>
        </p:nvSpPr>
        <p:spPr>
          <a:xfrm>
            <a:off x="548640" y="2743200"/>
            <a:ext cx="11094415" cy="960120"/>
          </a:xfrm>
          <a:prstGeom prst="roundRect">
            <a:avLst>
              <a:gd name="adj" fmla="val 6667"/>
            </a:avLst>
          </a:prstGeom>
          <a:solidFill>
            <a:srgbClr val="F1F6F8"/>
          </a:solidFill>
          <a:ln/>
        </p:spPr>
        <p:txBody>
          <a:bodyPr/>
          <a:lstStyle/>
          <a:p>
            <a:endParaRPr lang="en-US"/>
          </a:p>
        </p:txBody>
      </p:sp>
      <p:sp>
        <p:nvSpPr>
          <p:cNvPr id="8" name="Text 5"/>
          <p:cNvSpPr txBox="1"/>
          <p:nvPr/>
        </p:nvSpPr>
        <p:spPr>
          <a:xfrm>
            <a:off x="868680" y="2743200"/>
            <a:ext cx="2743200" cy="960120"/>
          </a:xfrm>
          <a:prstGeom prst="rect">
            <a:avLst/>
          </a:prstGeom>
          <a:noFill/>
          <a:ln/>
        </p:spPr>
        <p:txBody>
          <a:bodyPr wrap="square" lIns="0" tIns="0" rIns="0" bIns="0" rtlCol="0" anchor="ctr"/>
          <a:lstStyle/>
          <a:p>
            <a:pPr marL="0" indent="0">
              <a:buNone/>
            </a:pPr>
            <a:r>
              <a:rPr lang="en-US" sz="1600" b="1" dirty="0">
                <a:solidFill>
                  <a:srgbClr val="14213D"/>
                </a:solidFill>
                <a:latin typeface="Garamond" pitchFamily="34" charset="0"/>
                <a:ea typeface="Garamond" pitchFamily="34" charset="-122"/>
                <a:cs typeface="Garamond" pitchFamily="34" charset="-120"/>
              </a:rPr>
              <a:t>Celsius (°C)</a:t>
            </a:r>
            <a:endParaRPr lang="en-US" sz="1600" dirty="0"/>
          </a:p>
        </p:txBody>
      </p:sp>
      <p:sp>
        <p:nvSpPr>
          <p:cNvPr id="9" name="Text 6"/>
          <p:cNvSpPr txBox="1"/>
          <p:nvPr/>
        </p:nvSpPr>
        <p:spPr>
          <a:xfrm>
            <a:off x="2813537" y="2743200"/>
            <a:ext cx="7619695"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Water freezes at 0°C and boils at 100°C — the everyday scale in science</a:t>
            </a:r>
            <a:endParaRPr lang="en-US" dirty="0"/>
          </a:p>
        </p:txBody>
      </p:sp>
      <p:sp>
        <p:nvSpPr>
          <p:cNvPr id="10" name="Shape 7"/>
          <p:cNvSpPr/>
          <p:nvPr/>
        </p:nvSpPr>
        <p:spPr>
          <a:xfrm>
            <a:off x="548640" y="3886200"/>
            <a:ext cx="11094415" cy="960120"/>
          </a:xfrm>
          <a:prstGeom prst="roundRect">
            <a:avLst>
              <a:gd name="adj" fmla="val 6667"/>
            </a:avLst>
          </a:prstGeom>
          <a:solidFill>
            <a:srgbClr val="F1F6F8"/>
          </a:solidFill>
          <a:ln/>
        </p:spPr>
        <p:txBody>
          <a:bodyPr/>
          <a:lstStyle/>
          <a:p>
            <a:endParaRPr lang="en-US"/>
          </a:p>
        </p:txBody>
      </p:sp>
      <p:sp>
        <p:nvSpPr>
          <p:cNvPr id="11" name="Text 8"/>
          <p:cNvSpPr txBox="1"/>
          <p:nvPr/>
        </p:nvSpPr>
        <p:spPr>
          <a:xfrm>
            <a:off x="868680" y="3886200"/>
            <a:ext cx="2743200" cy="960120"/>
          </a:xfrm>
          <a:prstGeom prst="rect">
            <a:avLst/>
          </a:prstGeom>
          <a:noFill/>
          <a:ln/>
        </p:spPr>
        <p:txBody>
          <a:bodyPr wrap="square" lIns="0" tIns="0" rIns="0" bIns="0" rtlCol="0" anchor="ctr"/>
          <a:lstStyle/>
          <a:p>
            <a:pPr marL="0" indent="0">
              <a:buNone/>
            </a:pPr>
            <a:r>
              <a:rPr lang="en-US" sz="1600" b="1" dirty="0">
                <a:solidFill>
                  <a:srgbClr val="14213D"/>
                </a:solidFill>
                <a:latin typeface="Garamond" pitchFamily="34" charset="0"/>
                <a:ea typeface="Garamond" pitchFamily="34" charset="-122"/>
                <a:cs typeface="Garamond" pitchFamily="34" charset="-120"/>
              </a:rPr>
              <a:t>Fahrenheit (°F)</a:t>
            </a:r>
            <a:endParaRPr lang="en-US" sz="1600" dirty="0"/>
          </a:p>
        </p:txBody>
      </p:sp>
      <p:sp>
        <p:nvSpPr>
          <p:cNvPr id="12" name="Text 9"/>
          <p:cNvSpPr txBox="1"/>
          <p:nvPr/>
        </p:nvSpPr>
        <p:spPr>
          <a:xfrm>
            <a:off x="2813538" y="3886200"/>
            <a:ext cx="7857811" cy="960120"/>
          </a:xfrm>
          <a:prstGeom prst="rect">
            <a:avLst/>
          </a:prstGeom>
          <a:noFill/>
          <a:ln/>
        </p:spPr>
        <p:txBody>
          <a:bodyPr wrap="square" lIns="0" tIns="0" rIns="0" bIns="0" rtlCol="0" anchor="ctr"/>
          <a:lstStyle/>
          <a:p>
            <a:r>
              <a:rPr lang="en-US" dirty="0">
                <a:solidFill>
                  <a:srgbClr val="33414F"/>
                </a:solidFill>
                <a:latin typeface="Garamond" pitchFamily="34" charset="0"/>
                <a:ea typeface="Garamond" pitchFamily="34" charset="-122"/>
                <a:cs typeface="Garamond" pitchFamily="34" charset="-120"/>
              </a:rPr>
              <a:t>°F = (°C × 9/5) + 32 — still common in U.S. clinical settings  (°C = °F – 32 × (5/9))</a:t>
            </a:r>
            <a:endParaRPr lang="en-US" dirty="0"/>
          </a:p>
        </p:txBody>
      </p:sp>
      <p:sp>
        <p:nvSpPr>
          <p:cNvPr id="13" name="Shape 10"/>
          <p:cNvSpPr/>
          <p:nvPr/>
        </p:nvSpPr>
        <p:spPr>
          <a:xfrm>
            <a:off x="548640" y="5029200"/>
            <a:ext cx="11094415" cy="960120"/>
          </a:xfrm>
          <a:prstGeom prst="roundRect">
            <a:avLst>
              <a:gd name="adj" fmla="val 6667"/>
            </a:avLst>
          </a:prstGeom>
          <a:solidFill>
            <a:srgbClr val="F1F6F8"/>
          </a:solidFill>
          <a:ln/>
        </p:spPr>
        <p:txBody>
          <a:bodyPr/>
          <a:lstStyle/>
          <a:p>
            <a:endParaRPr lang="en-US"/>
          </a:p>
        </p:txBody>
      </p:sp>
      <p:sp>
        <p:nvSpPr>
          <p:cNvPr id="14" name="Text 11"/>
          <p:cNvSpPr txBox="1"/>
          <p:nvPr/>
        </p:nvSpPr>
        <p:spPr>
          <a:xfrm>
            <a:off x="868680" y="5029200"/>
            <a:ext cx="2743200" cy="960120"/>
          </a:xfrm>
          <a:prstGeom prst="rect">
            <a:avLst/>
          </a:prstGeom>
          <a:noFill/>
          <a:ln/>
        </p:spPr>
        <p:txBody>
          <a:bodyPr wrap="square" lIns="0" tIns="0" rIns="0" bIns="0" rtlCol="0" anchor="ctr"/>
          <a:lstStyle/>
          <a:p>
            <a:pPr marL="0" indent="0">
              <a:buNone/>
            </a:pPr>
            <a:r>
              <a:rPr lang="en-US" sz="1600" b="1" dirty="0">
                <a:solidFill>
                  <a:srgbClr val="14213D"/>
                </a:solidFill>
                <a:latin typeface="Garamond" pitchFamily="34" charset="0"/>
                <a:ea typeface="Garamond" pitchFamily="34" charset="-122"/>
                <a:cs typeface="Garamond" pitchFamily="34" charset="-120"/>
              </a:rPr>
              <a:t>Kelvin (K)</a:t>
            </a:r>
            <a:endParaRPr lang="en-US" sz="1600" dirty="0"/>
          </a:p>
        </p:txBody>
      </p:sp>
      <p:sp>
        <p:nvSpPr>
          <p:cNvPr id="15" name="Text 12"/>
          <p:cNvSpPr txBox="1"/>
          <p:nvPr/>
        </p:nvSpPr>
        <p:spPr>
          <a:xfrm>
            <a:off x="2813538" y="5029200"/>
            <a:ext cx="8555197" cy="960120"/>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K = °C + 273 — the absolute scale used in gas and energy calculations; 0 K is absolute zero</a:t>
            </a:r>
            <a:endParaRPr lang="en-US" dirty="0"/>
          </a:p>
        </p:txBody>
      </p:sp>
      <p:sp>
        <p:nvSpPr>
          <p:cNvPr id="16" name="Text 13"/>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7" name="Text 14"/>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13</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F4A100"/>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tint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500" b="1" dirty="0">
                <a:solidFill>
                  <a:srgbClr val="14213D"/>
                </a:solidFill>
                <a:latin typeface="Cambria" pitchFamily="34" charset="0"/>
                <a:ea typeface="Cambria" pitchFamily="34" charset="-122"/>
                <a:cs typeface="Cambria" pitchFamily="34" charset="-120"/>
              </a:rPr>
              <a:t>Worked Example: Density and Urine Specific Gravity (SG)</a:t>
            </a:r>
            <a:endParaRPr lang="en-US" sz="2500" dirty="0"/>
          </a:p>
        </p:txBody>
      </p:sp>
      <p:sp>
        <p:nvSpPr>
          <p:cNvPr id="5" name="Shape 2"/>
          <p:cNvSpPr/>
          <p:nvPr/>
        </p:nvSpPr>
        <p:spPr>
          <a:xfrm>
            <a:off x="548640" y="1417320"/>
            <a:ext cx="11094415" cy="804672"/>
          </a:xfrm>
          <a:prstGeom prst="roundRect">
            <a:avLst>
              <a:gd name="adj" fmla="val 6818"/>
            </a:avLst>
          </a:prstGeom>
          <a:solidFill>
            <a:srgbClr val="F1F6F8"/>
          </a:solidFill>
          <a:ln/>
        </p:spPr>
        <p:txBody>
          <a:bodyPr/>
          <a:lstStyle/>
          <a:p>
            <a:endParaRPr lang="en-US"/>
          </a:p>
        </p:txBody>
      </p:sp>
      <p:sp>
        <p:nvSpPr>
          <p:cNvPr id="6" name="Shape 3"/>
          <p:cNvSpPr/>
          <p:nvPr/>
        </p:nvSpPr>
        <p:spPr>
          <a:xfrm>
            <a:off x="713232" y="1642628"/>
            <a:ext cx="1600200" cy="354056"/>
          </a:xfrm>
          <a:prstGeom prst="roundRect">
            <a:avLst>
              <a:gd name="adj" fmla="val 15625"/>
            </a:avLst>
          </a:prstGeom>
          <a:solidFill>
            <a:srgbClr val="14213D"/>
          </a:solidFill>
          <a:ln/>
        </p:spPr>
        <p:txBody>
          <a:bodyPr/>
          <a:lstStyle/>
          <a:p>
            <a:endParaRPr lang="en-US"/>
          </a:p>
        </p:txBody>
      </p:sp>
      <p:sp>
        <p:nvSpPr>
          <p:cNvPr id="7" name="Text 4"/>
          <p:cNvSpPr txBox="1"/>
          <p:nvPr/>
        </p:nvSpPr>
        <p:spPr>
          <a:xfrm>
            <a:off x="852093" y="1673352"/>
            <a:ext cx="1322479"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Definition</a:t>
            </a:r>
            <a:endParaRPr lang="en-US" sz="1600" dirty="0"/>
          </a:p>
        </p:txBody>
      </p:sp>
      <p:sp>
        <p:nvSpPr>
          <p:cNvPr id="8" name="Text 5"/>
          <p:cNvSpPr txBox="1"/>
          <p:nvPr/>
        </p:nvSpPr>
        <p:spPr>
          <a:xfrm>
            <a:off x="2514600" y="1417320"/>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Density = mass ÷ volume (D = m/V), commonly expressed in g/mL.</a:t>
            </a:r>
            <a:endParaRPr lang="en-US" dirty="0"/>
          </a:p>
        </p:txBody>
      </p:sp>
      <p:sp>
        <p:nvSpPr>
          <p:cNvPr id="9" name="Shape 6"/>
          <p:cNvSpPr/>
          <p:nvPr/>
        </p:nvSpPr>
        <p:spPr>
          <a:xfrm>
            <a:off x="548640" y="2350008"/>
            <a:ext cx="11094415" cy="804672"/>
          </a:xfrm>
          <a:prstGeom prst="roundRect">
            <a:avLst>
              <a:gd name="adj" fmla="val 6818"/>
            </a:avLst>
          </a:prstGeom>
          <a:solidFill>
            <a:srgbClr val="E4EFF2"/>
          </a:solidFill>
          <a:ln/>
        </p:spPr>
        <p:txBody>
          <a:bodyPr/>
          <a:lstStyle/>
          <a:p>
            <a:endParaRPr lang="en-US"/>
          </a:p>
        </p:txBody>
      </p:sp>
      <p:sp>
        <p:nvSpPr>
          <p:cNvPr id="10" name="Shape 7"/>
          <p:cNvSpPr/>
          <p:nvPr/>
        </p:nvSpPr>
        <p:spPr>
          <a:xfrm>
            <a:off x="713232" y="2575316"/>
            <a:ext cx="1600200" cy="354056"/>
          </a:xfrm>
          <a:prstGeom prst="roundRect">
            <a:avLst>
              <a:gd name="adj" fmla="val 15625"/>
            </a:avLst>
          </a:prstGeom>
          <a:solidFill>
            <a:srgbClr val="C00000"/>
          </a:solidFill>
          <a:ln/>
        </p:spPr>
        <p:txBody>
          <a:bodyPr/>
          <a:lstStyle/>
          <a:p>
            <a:endParaRPr lang="en-US"/>
          </a:p>
        </p:txBody>
      </p:sp>
      <p:sp>
        <p:nvSpPr>
          <p:cNvPr id="11" name="Text 8"/>
          <p:cNvSpPr txBox="1"/>
          <p:nvPr/>
        </p:nvSpPr>
        <p:spPr>
          <a:xfrm>
            <a:off x="852093" y="2606040"/>
            <a:ext cx="1322479" cy="292608"/>
          </a:xfrm>
          <a:prstGeom prst="rect">
            <a:avLst/>
          </a:prstGeom>
          <a:solidFill>
            <a:srgbClr val="C00000"/>
          </a:solid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Clinical use</a:t>
            </a:r>
            <a:endParaRPr lang="en-US" sz="1600" dirty="0"/>
          </a:p>
        </p:txBody>
      </p:sp>
      <p:sp>
        <p:nvSpPr>
          <p:cNvPr id="12" name="Text 9"/>
          <p:cNvSpPr txBox="1"/>
          <p:nvPr/>
        </p:nvSpPr>
        <p:spPr>
          <a:xfrm>
            <a:off x="2514600" y="2350008"/>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Urine SG compares urine's density to water’s and helps assess hydration and kidney function.</a:t>
            </a:r>
            <a:endParaRPr lang="en-US" dirty="0"/>
          </a:p>
        </p:txBody>
      </p:sp>
      <p:sp>
        <p:nvSpPr>
          <p:cNvPr id="13" name="Shape 10"/>
          <p:cNvSpPr/>
          <p:nvPr/>
        </p:nvSpPr>
        <p:spPr>
          <a:xfrm>
            <a:off x="548640" y="3282696"/>
            <a:ext cx="11094415" cy="804672"/>
          </a:xfrm>
          <a:prstGeom prst="roundRect">
            <a:avLst>
              <a:gd name="adj" fmla="val 6818"/>
            </a:avLst>
          </a:prstGeom>
          <a:solidFill>
            <a:srgbClr val="F1F6F8"/>
          </a:solidFill>
          <a:ln/>
        </p:spPr>
        <p:txBody>
          <a:bodyPr/>
          <a:lstStyle/>
          <a:p>
            <a:endParaRPr lang="en-US"/>
          </a:p>
        </p:txBody>
      </p:sp>
      <p:sp>
        <p:nvSpPr>
          <p:cNvPr id="14" name="Shape 11"/>
          <p:cNvSpPr/>
          <p:nvPr/>
        </p:nvSpPr>
        <p:spPr>
          <a:xfrm>
            <a:off x="713232" y="3508004"/>
            <a:ext cx="1600200" cy="354056"/>
          </a:xfrm>
          <a:prstGeom prst="roundRect">
            <a:avLst>
              <a:gd name="adj" fmla="val 15625"/>
            </a:avLst>
          </a:prstGeom>
          <a:solidFill>
            <a:srgbClr val="FFC000"/>
          </a:solidFill>
          <a:ln/>
        </p:spPr>
        <p:txBody>
          <a:bodyPr/>
          <a:lstStyle/>
          <a:p>
            <a:endParaRPr lang="en-US"/>
          </a:p>
        </p:txBody>
      </p:sp>
      <p:sp>
        <p:nvSpPr>
          <p:cNvPr id="15" name="Text 12"/>
          <p:cNvSpPr txBox="1"/>
          <p:nvPr/>
        </p:nvSpPr>
        <p:spPr>
          <a:xfrm>
            <a:off x="852093" y="3538728"/>
            <a:ext cx="1322479" cy="292608"/>
          </a:xfrm>
          <a:prstGeom prst="rect">
            <a:avLst/>
          </a:prstGeom>
          <a:solidFill>
            <a:srgbClr val="FFC000"/>
          </a:solid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Given</a:t>
            </a:r>
            <a:endParaRPr lang="en-US" sz="1600" dirty="0"/>
          </a:p>
        </p:txBody>
      </p:sp>
      <p:sp>
        <p:nvSpPr>
          <p:cNvPr id="16" name="Text 13"/>
          <p:cNvSpPr txBox="1"/>
          <p:nvPr/>
        </p:nvSpPr>
        <p:spPr>
          <a:xfrm>
            <a:off x="2514600" y="3282696"/>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A 15 mL urine sample has a mass of 15.30 g.</a:t>
            </a:r>
            <a:endParaRPr lang="en-US" dirty="0"/>
          </a:p>
        </p:txBody>
      </p:sp>
      <p:sp>
        <p:nvSpPr>
          <p:cNvPr id="17" name="Shape 14"/>
          <p:cNvSpPr/>
          <p:nvPr/>
        </p:nvSpPr>
        <p:spPr>
          <a:xfrm>
            <a:off x="548640" y="4215384"/>
            <a:ext cx="11094415" cy="804672"/>
          </a:xfrm>
          <a:prstGeom prst="roundRect">
            <a:avLst>
              <a:gd name="adj" fmla="val 6818"/>
            </a:avLst>
          </a:prstGeom>
          <a:solidFill>
            <a:srgbClr val="E4EFF2"/>
          </a:solidFill>
          <a:ln/>
        </p:spPr>
        <p:txBody>
          <a:bodyPr/>
          <a:lstStyle/>
          <a:p>
            <a:endParaRPr lang="en-US"/>
          </a:p>
        </p:txBody>
      </p:sp>
      <p:sp>
        <p:nvSpPr>
          <p:cNvPr id="18" name="Shape 15"/>
          <p:cNvSpPr/>
          <p:nvPr/>
        </p:nvSpPr>
        <p:spPr>
          <a:xfrm>
            <a:off x="713232" y="4440692"/>
            <a:ext cx="1600200" cy="354056"/>
          </a:xfrm>
          <a:prstGeom prst="roundRect">
            <a:avLst>
              <a:gd name="adj" fmla="val 15625"/>
            </a:avLst>
          </a:prstGeom>
          <a:solidFill>
            <a:schemeClr val="accent1">
              <a:lumMod val="50000"/>
            </a:schemeClr>
          </a:solidFill>
          <a:ln/>
        </p:spPr>
        <p:txBody>
          <a:bodyPr/>
          <a:lstStyle/>
          <a:p>
            <a:endParaRPr lang="en-US"/>
          </a:p>
        </p:txBody>
      </p:sp>
      <p:sp>
        <p:nvSpPr>
          <p:cNvPr id="19" name="Text 16"/>
          <p:cNvSpPr txBox="1"/>
          <p:nvPr/>
        </p:nvSpPr>
        <p:spPr>
          <a:xfrm>
            <a:off x="852093" y="4471416"/>
            <a:ext cx="1322479" cy="292608"/>
          </a:xfrm>
          <a:prstGeom prst="rect">
            <a:avLst/>
          </a:prstGeom>
          <a:solidFill>
            <a:schemeClr val="accent1">
              <a:lumMod val="50000"/>
            </a:schemeClr>
          </a:solid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Calculate</a:t>
            </a:r>
            <a:endParaRPr lang="en-US" sz="1600" dirty="0"/>
          </a:p>
        </p:txBody>
      </p:sp>
      <p:sp>
        <p:nvSpPr>
          <p:cNvPr id="20" name="Text 17"/>
          <p:cNvSpPr txBox="1"/>
          <p:nvPr/>
        </p:nvSpPr>
        <p:spPr>
          <a:xfrm>
            <a:off x="2514600" y="4215384"/>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D = 15.30 g ÷ 15 mL = 1.02 g/mL      (Note Water density ~ 1.00 g/mL)</a:t>
            </a:r>
            <a:endParaRPr lang="en-US" dirty="0"/>
          </a:p>
        </p:txBody>
      </p:sp>
      <p:sp>
        <p:nvSpPr>
          <p:cNvPr id="21" name="Shape 18"/>
          <p:cNvSpPr/>
          <p:nvPr/>
        </p:nvSpPr>
        <p:spPr>
          <a:xfrm>
            <a:off x="548640" y="5148072"/>
            <a:ext cx="11094415" cy="804672"/>
          </a:xfrm>
          <a:prstGeom prst="roundRect">
            <a:avLst>
              <a:gd name="adj" fmla="val 6818"/>
            </a:avLst>
          </a:prstGeom>
          <a:solidFill>
            <a:srgbClr val="F1F6F8"/>
          </a:solidFill>
          <a:ln/>
        </p:spPr>
        <p:txBody>
          <a:bodyPr/>
          <a:lstStyle/>
          <a:p>
            <a:endParaRPr lang="en-US"/>
          </a:p>
        </p:txBody>
      </p:sp>
      <p:sp>
        <p:nvSpPr>
          <p:cNvPr id="22" name="Shape 19"/>
          <p:cNvSpPr/>
          <p:nvPr/>
        </p:nvSpPr>
        <p:spPr>
          <a:xfrm>
            <a:off x="713232" y="5373380"/>
            <a:ext cx="1600200" cy="354056"/>
          </a:xfrm>
          <a:prstGeom prst="roundRect">
            <a:avLst>
              <a:gd name="adj" fmla="val 15625"/>
            </a:avLst>
          </a:prstGeom>
          <a:solidFill>
            <a:srgbClr val="14213D"/>
          </a:solidFill>
          <a:ln/>
        </p:spPr>
        <p:txBody>
          <a:bodyPr/>
          <a:lstStyle/>
          <a:p>
            <a:endParaRPr lang="en-US"/>
          </a:p>
        </p:txBody>
      </p:sp>
      <p:sp>
        <p:nvSpPr>
          <p:cNvPr id="23" name="Text 20"/>
          <p:cNvSpPr txBox="1"/>
          <p:nvPr/>
        </p:nvSpPr>
        <p:spPr>
          <a:xfrm>
            <a:off x="966853" y="5404104"/>
            <a:ext cx="1092958" cy="292608"/>
          </a:xfrm>
          <a:prstGeom prst="rect">
            <a:avLst/>
          </a:prstGeom>
          <a:noFill/>
          <a:ln/>
        </p:spPr>
        <p:txBody>
          <a:bodyPr wrap="square" lIns="0" tIns="0" rIns="0" bIns="0" rtlCol="0" anchor="ctr"/>
          <a:lstStyle/>
          <a:p>
            <a:pPr marL="0" indent="0" algn="ctr">
              <a:buNone/>
            </a:pPr>
            <a:r>
              <a:rPr lang="en-US" sz="1600" b="1" dirty="0">
                <a:solidFill>
                  <a:srgbClr val="FFFFFF"/>
                </a:solidFill>
                <a:latin typeface="Garamond" pitchFamily="34" charset="0"/>
                <a:ea typeface="Garamond" pitchFamily="34" charset="-122"/>
                <a:cs typeface="Garamond" pitchFamily="34" charset="-120"/>
              </a:rPr>
              <a:t>Interpret</a:t>
            </a:r>
            <a:endParaRPr lang="en-US" sz="1600" dirty="0"/>
          </a:p>
        </p:txBody>
      </p:sp>
      <p:sp>
        <p:nvSpPr>
          <p:cNvPr id="24" name="Text 21"/>
          <p:cNvSpPr txBox="1"/>
          <p:nvPr/>
        </p:nvSpPr>
        <p:spPr>
          <a:xfrm>
            <a:off x="2514600" y="5148072"/>
            <a:ext cx="8945575" cy="804672"/>
          </a:xfrm>
          <a:prstGeom prst="rect">
            <a:avLst/>
          </a:prstGeom>
          <a:noFill/>
          <a:ln/>
        </p:spPr>
        <p:txBody>
          <a:bodyPr wrap="square" lIns="0" tIns="0" rIns="0" bIns="0" rtlCol="0" anchor="ctr"/>
          <a:lstStyle/>
          <a:p>
            <a:pPr marL="0" indent="0">
              <a:buNone/>
            </a:pPr>
            <a:r>
              <a:rPr lang="en-US" dirty="0">
                <a:solidFill>
                  <a:srgbClr val="33414F"/>
                </a:solidFill>
                <a:latin typeface="Garamond" pitchFamily="34" charset="0"/>
                <a:ea typeface="Garamond" pitchFamily="34" charset="-122"/>
                <a:cs typeface="Garamond" pitchFamily="34" charset="-120"/>
              </a:rPr>
              <a:t>Typical urine SG runs roughly 1.005–1.030 g/mL — this result falls within that normal range.</a:t>
            </a:r>
            <a:endParaRPr lang="en-US" dirty="0"/>
          </a:p>
        </p:txBody>
      </p:sp>
      <p:sp>
        <p:nvSpPr>
          <p:cNvPr id="25" name="Text 22"/>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26" name="Text 23"/>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594360" cy="594360"/>
          </a:xfrm>
          <a:prstGeom prst="ellipse">
            <a:avLst/>
          </a:prstGeom>
          <a:solidFill>
            <a:srgbClr val="14213D"/>
          </a:solidFill>
          <a:ln/>
          <a:effectLst>
            <a:outerShdw blurRad="76200" dist="38100" dir="5400000" algn="bl" rotWithShape="0">
              <a:srgbClr val="1B1B1B">
                <a:alpha val="18000"/>
              </a:srgbClr>
            </a:outerShdw>
          </a:effectLst>
        </p:spPr>
        <p:txBody>
          <a:bodyPr/>
          <a:lstStyle/>
          <a:p>
            <a:endParaRPr lang="en-US"/>
          </a:p>
        </p:txBody>
      </p:sp>
      <p:pic>
        <p:nvPicPr>
          <p:cNvPr id="3" name="Image 0" descr="/tmp/chem101_topic2/icon_book_white.png"/>
          <p:cNvPicPr>
            <a:picLocks noChangeAspect="1"/>
          </p:cNvPicPr>
          <p:nvPr/>
        </p:nvPicPr>
        <p:blipFill>
          <a:blip r:embed="rId3"/>
          <a:stretch>
            <a:fillRect/>
          </a:stretch>
        </p:blipFill>
        <p:spPr>
          <a:xfrm>
            <a:off x="697230" y="605790"/>
            <a:ext cx="297180" cy="297180"/>
          </a:xfrm>
          <a:prstGeom prst="rect">
            <a:avLst/>
          </a:prstGeom>
        </p:spPr>
      </p:pic>
      <p:sp>
        <p:nvSpPr>
          <p:cNvPr id="4" name="Text 1"/>
          <p:cNvSpPr txBox="1"/>
          <p:nvPr/>
        </p:nvSpPr>
        <p:spPr>
          <a:xfrm>
            <a:off x="1325880" y="411480"/>
            <a:ext cx="9784080" cy="685800"/>
          </a:xfrm>
          <a:prstGeom prst="rect">
            <a:avLst/>
          </a:prstGeom>
          <a:noFill/>
          <a:ln/>
        </p:spPr>
        <p:txBody>
          <a:bodyPr wrap="square" lIns="0" tIns="0" rIns="0" bIns="0" rtlCol="0" anchor="ctr"/>
          <a:lstStyle/>
          <a:p>
            <a:pPr marL="0" indent="0">
              <a:buNone/>
            </a:pPr>
            <a:r>
              <a:rPr lang="en-US" sz="2800" b="1" dirty="0">
                <a:solidFill>
                  <a:srgbClr val="14213D"/>
                </a:solidFill>
                <a:latin typeface="Cambria" pitchFamily="34" charset="0"/>
                <a:ea typeface="Cambria" pitchFamily="34" charset="-122"/>
                <a:cs typeface="Cambria" pitchFamily="34" charset="-120"/>
              </a:rPr>
              <a:t>Key terms and skills to Know/Review &amp; Understand</a:t>
            </a:r>
            <a:endParaRPr lang="en-US" sz="2800" dirty="0"/>
          </a:p>
        </p:txBody>
      </p:sp>
      <p:sp>
        <p:nvSpPr>
          <p:cNvPr id="5" name="Text 2"/>
          <p:cNvSpPr txBox="1"/>
          <p:nvPr/>
        </p:nvSpPr>
        <p:spPr>
          <a:xfrm>
            <a:off x="548638" y="1417320"/>
            <a:ext cx="11094416"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Metric system — </a:t>
            </a:r>
            <a:r>
              <a:rPr lang="en-US" dirty="0">
                <a:solidFill>
                  <a:srgbClr val="33414F"/>
                </a:solidFill>
                <a:latin typeface="Garamond" pitchFamily="34" charset="0"/>
                <a:ea typeface="Garamond" pitchFamily="34" charset="-122"/>
                <a:cs typeface="Garamond" pitchFamily="34" charset="-120"/>
              </a:rPr>
              <a:t>A measurement system built on powers of ten used by the rest of the world for measurement.</a:t>
            </a:r>
            <a:endParaRPr lang="en-US" sz="2000" dirty="0"/>
          </a:p>
        </p:txBody>
      </p:sp>
      <p:sp>
        <p:nvSpPr>
          <p:cNvPr id="6" name="Text 3"/>
          <p:cNvSpPr txBox="1"/>
          <p:nvPr/>
        </p:nvSpPr>
        <p:spPr>
          <a:xfrm>
            <a:off x="548634" y="2037417"/>
            <a:ext cx="11094416"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Base unit — </a:t>
            </a:r>
            <a:r>
              <a:rPr lang="en-US" dirty="0">
                <a:solidFill>
                  <a:srgbClr val="33414F"/>
                </a:solidFill>
                <a:latin typeface="Garamond" pitchFamily="34" charset="0"/>
                <a:ea typeface="Garamond" pitchFamily="34" charset="-122"/>
                <a:cs typeface="Garamond" pitchFamily="34" charset="-120"/>
              </a:rPr>
              <a:t>The unscaled anchor unit — meter, gram, or liter (includes seconds and Celsius for time and temp.)</a:t>
            </a:r>
            <a:endParaRPr lang="en-US" sz="2000" dirty="0"/>
          </a:p>
        </p:txBody>
      </p:sp>
      <p:sp>
        <p:nvSpPr>
          <p:cNvPr id="7" name="Text 4"/>
          <p:cNvSpPr txBox="1"/>
          <p:nvPr/>
        </p:nvSpPr>
        <p:spPr>
          <a:xfrm>
            <a:off x="548634" y="2603579"/>
            <a:ext cx="11643361"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Dimensional analysis — </a:t>
            </a:r>
            <a:r>
              <a:rPr lang="en-US" dirty="0">
                <a:solidFill>
                  <a:srgbClr val="33414F"/>
                </a:solidFill>
                <a:latin typeface="Garamond" pitchFamily="34" charset="0"/>
                <a:ea typeface="Garamond" pitchFamily="34" charset="-122"/>
                <a:cs typeface="Garamond" pitchFamily="34" charset="-120"/>
              </a:rPr>
              <a:t>Using conversion factors so units cancel to express quantities in desired units</a:t>
            </a:r>
            <a:endParaRPr lang="en-US" sz="2000" dirty="0"/>
          </a:p>
        </p:txBody>
      </p:sp>
      <p:sp>
        <p:nvSpPr>
          <p:cNvPr id="8" name="Text 5"/>
          <p:cNvSpPr txBox="1"/>
          <p:nvPr/>
        </p:nvSpPr>
        <p:spPr>
          <a:xfrm>
            <a:off x="548635" y="3808476"/>
            <a:ext cx="11094415"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Scientific notation — </a:t>
            </a:r>
            <a:r>
              <a:rPr lang="en-US" dirty="0">
                <a:solidFill>
                  <a:srgbClr val="33414F"/>
                </a:solidFill>
                <a:latin typeface="Garamond" pitchFamily="34" charset="0"/>
                <a:ea typeface="Garamond" pitchFamily="34" charset="-122"/>
                <a:cs typeface="Garamond" pitchFamily="34" charset="-120"/>
              </a:rPr>
              <a:t>A coefficient (1–10) multiplied by a power of 10 — i.e. 2,453 → 2.45 x 10³</a:t>
            </a:r>
            <a:endParaRPr lang="en-US" sz="2000" dirty="0"/>
          </a:p>
        </p:txBody>
      </p:sp>
      <p:sp>
        <p:nvSpPr>
          <p:cNvPr id="9" name="Text 6"/>
          <p:cNvSpPr txBox="1"/>
          <p:nvPr/>
        </p:nvSpPr>
        <p:spPr>
          <a:xfrm>
            <a:off x="548634" y="3186509"/>
            <a:ext cx="11094416" cy="473377"/>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Significant figures — </a:t>
            </a:r>
            <a:r>
              <a:rPr lang="en-US" dirty="0">
                <a:solidFill>
                  <a:srgbClr val="33414F"/>
                </a:solidFill>
                <a:latin typeface="Garamond" pitchFamily="34" charset="0"/>
                <a:ea typeface="Garamond" pitchFamily="34" charset="-122"/>
                <a:cs typeface="Garamond" pitchFamily="34" charset="-120"/>
              </a:rPr>
              <a:t>The digits in a measurement that carry real precision</a:t>
            </a:r>
            <a:endParaRPr lang="en-US" sz="2000" dirty="0"/>
          </a:p>
        </p:txBody>
      </p:sp>
      <p:sp>
        <p:nvSpPr>
          <p:cNvPr id="10" name="Text 7"/>
          <p:cNvSpPr txBox="1"/>
          <p:nvPr/>
        </p:nvSpPr>
        <p:spPr>
          <a:xfrm>
            <a:off x="548635" y="5605272"/>
            <a:ext cx="11094416"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Kelvin — </a:t>
            </a:r>
            <a:r>
              <a:rPr lang="en-US" dirty="0">
                <a:solidFill>
                  <a:srgbClr val="33414F"/>
                </a:solidFill>
                <a:latin typeface="Garamond" pitchFamily="34" charset="0"/>
                <a:ea typeface="Garamond" pitchFamily="34" charset="-122"/>
                <a:cs typeface="Garamond" pitchFamily="34" charset="-120"/>
              </a:rPr>
              <a:t>The absolute temperature scale; K = °C + 273</a:t>
            </a:r>
            <a:endParaRPr lang="en-US" sz="2000" dirty="0"/>
          </a:p>
        </p:txBody>
      </p:sp>
      <p:sp>
        <p:nvSpPr>
          <p:cNvPr id="11" name="Text 8"/>
          <p:cNvSpPr txBox="1"/>
          <p:nvPr/>
        </p:nvSpPr>
        <p:spPr>
          <a:xfrm>
            <a:off x="548635" y="4431324"/>
            <a:ext cx="10142809"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Density — </a:t>
            </a:r>
            <a:r>
              <a:rPr lang="en-US" dirty="0">
                <a:solidFill>
                  <a:srgbClr val="33414F"/>
                </a:solidFill>
                <a:latin typeface="Garamond" pitchFamily="34" charset="0"/>
                <a:ea typeface="Garamond" pitchFamily="34" charset="-122"/>
                <a:cs typeface="Garamond" pitchFamily="34" charset="-120"/>
              </a:rPr>
              <a:t>Mass divided by volume (D = m/V)</a:t>
            </a:r>
            <a:endParaRPr lang="en-US" sz="2000" dirty="0"/>
          </a:p>
        </p:txBody>
      </p:sp>
      <p:sp>
        <p:nvSpPr>
          <p:cNvPr id="12" name="Text 9"/>
          <p:cNvSpPr txBox="1"/>
          <p:nvPr/>
        </p:nvSpPr>
        <p:spPr>
          <a:xfrm>
            <a:off x="548635" y="4994735"/>
            <a:ext cx="11094416" cy="868680"/>
          </a:xfrm>
          <a:prstGeom prst="rect">
            <a:avLst/>
          </a:prstGeom>
          <a:noFill/>
          <a:ln/>
        </p:spPr>
        <p:txBody>
          <a:bodyPr wrap="square" lIns="0" tIns="0" rIns="0" bIns="0" rtlCol="0" anchor="t"/>
          <a:lstStyle/>
          <a:p>
            <a:pPr marL="0" indent="0">
              <a:buNone/>
            </a:pPr>
            <a:r>
              <a:rPr lang="en-US" sz="2000" b="1" dirty="0">
                <a:solidFill>
                  <a:srgbClr val="1C7293"/>
                </a:solidFill>
                <a:latin typeface="Garamond" pitchFamily="34" charset="0"/>
                <a:ea typeface="Garamond" pitchFamily="34" charset="-122"/>
                <a:cs typeface="Garamond" pitchFamily="34" charset="-120"/>
              </a:rPr>
              <a:t>Specific gravity — </a:t>
            </a:r>
            <a:r>
              <a:rPr lang="en-US" dirty="0">
                <a:solidFill>
                  <a:srgbClr val="33414F"/>
                </a:solidFill>
                <a:latin typeface="Garamond" pitchFamily="34" charset="0"/>
                <a:ea typeface="Garamond" pitchFamily="34" charset="-122"/>
                <a:cs typeface="Garamond" pitchFamily="34" charset="-120"/>
              </a:rPr>
              <a:t>A substance's density compared to water's density</a:t>
            </a:r>
            <a:endParaRPr lang="en-US" sz="2000" dirty="0"/>
          </a:p>
        </p:txBody>
      </p:sp>
      <p:sp>
        <p:nvSpPr>
          <p:cNvPr id="13" name="Text 10"/>
          <p:cNvSpPr txBox="1"/>
          <p:nvPr/>
        </p:nvSpPr>
        <p:spPr>
          <a:xfrm>
            <a:off x="548640" y="6473952"/>
            <a:ext cx="6400800" cy="274320"/>
          </a:xfrm>
          <a:prstGeom prst="rect">
            <a:avLst/>
          </a:prstGeom>
          <a:noFill/>
          <a:ln/>
        </p:spPr>
        <p:txBody>
          <a:bodyPr wrap="square" lIns="0" tIns="0" rIns="0" bIns="0" rtlCol="0" anchor="ctr"/>
          <a:lstStyle/>
          <a:p>
            <a:pPr marL="0" indent="0">
              <a:buNone/>
            </a:pPr>
            <a:r>
              <a:rPr lang="en-US" sz="900" dirty="0">
                <a:solidFill>
                  <a:srgbClr val="63737D"/>
                </a:solidFill>
                <a:latin typeface="Garamond" pitchFamily="34" charset="0"/>
                <a:ea typeface="Garamond" pitchFamily="34" charset="-122"/>
                <a:cs typeface="Garamond" pitchFamily="34" charset="-120"/>
              </a:rPr>
              <a:t>CHEM 101 · Topic 2: Fundamental Measurements</a:t>
            </a:r>
            <a:endParaRPr lang="en-US" sz="900" dirty="0"/>
          </a:p>
        </p:txBody>
      </p:sp>
      <p:sp>
        <p:nvSpPr>
          <p:cNvPr id="14" name="Text 11"/>
          <p:cNvSpPr txBox="1"/>
          <p:nvPr/>
        </p:nvSpPr>
        <p:spPr>
          <a:xfrm>
            <a:off x="11094415" y="6473952"/>
            <a:ext cx="548640" cy="274320"/>
          </a:xfrm>
          <a:prstGeom prst="rect">
            <a:avLst/>
          </a:prstGeom>
          <a:noFill/>
          <a:ln/>
        </p:spPr>
        <p:txBody>
          <a:bodyPr wrap="square" lIns="0" tIns="0" rIns="0" bIns="0" rtlCol="0" anchor="ctr"/>
          <a:lstStyle/>
          <a:p>
            <a:pPr marL="0" indent="0" algn="r">
              <a:buNone/>
            </a:pPr>
            <a:r>
              <a:rPr lang="en-US" sz="900" dirty="0">
                <a:solidFill>
                  <a:srgbClr val="63737D"/>
                </a:solidFill>
                <a:latin typeface="Garamond" pitchFamily="34" charset="0"/>
                <a:ea typeface="Garamond" pitchFamily="34" charset="-122"/>
                <a:cs typeface="Garamond" pitchFamily="34" charset="-120"/>
              </a:rPr>
              <a:t>15</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9326880" y="-1645920"/>
            <a:ext cx="4206240" cy="4206240"/>
          </a:xfrm>
          <a:prstGeom prst="ellipse">
            <a:avLst/>
          </a:prstGeom>
          <a:solidFill>
            <a:srgbClr val="1E3A5F"/>
          </a:solidFill>
          <a:ln/>
        </p:spPr>
        <p:txBody>
          <a:bodyPr/>
          <a:lstStyle/>
          <a:p>
            <a:endParaRPr lang="en-US"/>
          </a:p>
        </p:txBody>
      </p:sp>
      <p:sp>
        <p:nvSpPr>
          <p:cNvPr id="3" name="Text 1"/>
          <p:cNvSpPr txBox="1"/>
          <p:nvPr/>
        </p:nvSpPr>
        <p:spPr>
          <a:xfrm>
            <a:off x="548640" y="594360"/>
            <a:ext cx="11094415"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Summary &amp; What's Next</a:t>
            </a:r>
            <a:endParaRPr lang="en-US" sz="3400" dirty="0"/>
          </a:p>
        </p:txBody>
      </p:sp>
      <p:sp>
        <p:nvSpPr>
          <p:cNvPr id="4" name="Text 2"/>
          <p:cNvSpPr txBox="1"/>
          <p:nvPr/>
        </p:nvSpPr>
        <p:spPr>
          <a:xfrm>
            <a:off x="548640" y="1554480"/>
            <a:ext cx="8565215" cy="2286000"/>
          </a:xfrm>
          <a:prstGeom prst="rect">
            <a:avLst/>
          </a:prstGeom>
          <a:noFill/>
          <a:ln/>
        </p:spPr>
        <p:txBody>
          <a:bodyPr wrap="square" lIns="0" tIns="0" rIns="0" bIns="0" rtlCol="0" anchor="ctr"/>
          <a:lstStyle/>
          <a:p>
            <a:pPr marL="342900" indent="-342900">
              <a:spcAft>
                <a:spcPts val="1400"/>
              </a:spcAft>
              <a:buSzPct val="100000"/>
              <a:buChar char="●"/>
            </a:pPr>
            <a:r>
              <a:rPr lang="en-US" dirty="0">
                <a:solidFill>
                  <a:srgbClr val="E4ECF3"/>
                </a:solidFill>
                <a:latin typeface="Garamond" pitchFamily="34" charset="0"/>
                <a:ea typeface="Garamond" pitchFamily="34" charset="-122"/>
                <a:cs typeface="Garamond" pitchFamily="34" charset="-120"/>
              </a:rPr>
              <a:t>The metric system and dimensional analysis let you convert between any units confidently and safely</a:t>
            </a:r>
            <a:endParaRPr lang="en-US" dirty="0"/>
          </a:p>
          <a:p>
            <a:pPr marL="342900" indent="-342900">
              <a:spcAft>
                <a:spcPts val="1400"/>
              </a:spcAft>
              <a:buSzPct val="100000"/>
              <a:buChar char="●"/>
            </a:pPr>
            <a:r>
              <a:rPr lang="en-US" dirty="0">
                <a:solidFill>
                  <a:srgbClr val="E4ECF3"/>
                </a:solidFill>
                <a:latin typeface="Garamond" pitchFamily="34" charset="0"/>
                <a:ea typeface="Garamond" pitchFamily="34" charset="-122"/>
                <a:cs typeface="Garamond" pitchFamily="34" charset="-120"/>
              </a:rPr>
              <a:t>Scientific notation and significant figures keep very large, very small, and imprecise numbers honest and usable</a:t>
            </a:r>
            <a:endParaRPr lang="en-US" dirty="0"/>
          </a:p>
          <a:p>
            <a:pPr marL="342900" indent="-342900">
              <a:spcAft>
                <a:spcPts val="1400"/>
              </a:spcAft>
              <a:buSzPct val="100000"/>
              <a:buChar char="●"/>
            </a:pPr>
            <a:r>
              <a:rPr lang="en-US" dirty="0">
                <a:solidFill>
                  <a:srgbClr val="E4ECF3"/>
                </a:solidFill>
                <a:latin typeface="Garamond" pitchFamily="34" charset="0"/>
                <a:ea typeface="Garamond" pitchFamily="34" charset="-122"/>
                <a:cs typeface="Garamond" pitchFamily="34" charset="-120"/>
              </a:rPr>
              <a:t>Temperature and density are measurements you'll calculate constantly — in this course and in clinical practice</a:t>
            </a:r>
            <a:endParaRPr lang="en-US" dirty="0"/>
          </a:p>
        </p:txBody>
      </p:sp>
      <p:sp>
        <p:nvSpPr>
          <p:cNvPr id="5" name="Shape 3"/>
          <p:cNvSpPr/>
          <p:nvPr/>
        </p:nvSpPr>
        <p:spPr>
          <a:xfrm>
            <a:off x="548640" y="4160520"/>
            <a:ext cx="11094415" cy="1234440"/>
          </a:xfrm>
          <a:prstGeom prst="roundRect">
            <a:avLst>
              <a:gd name="adj" fmla="val 5926"/>
            </a:avLst>
          </a:prstGeom>
          <a:solidFill>
            <a:srgbClr val="1E3A5F"/>
          </a:solidFill>
          <a:ln/>
        </p:spPr>
        <p:txBody>
          <a:bodyPr/>
          <a:lstStyle/>
          <a:p>
            <a:endParaRPr lang="en-US"/>
          </a:p>
        </p:txBody>
      </p:sp>
      <p:sp>
        <p:nvSpPr>
          <p:cNvPr id="6" name="Shape 4"/>
          <p:cNvSpPr/>
          <p:nvPr/>
        </p:nvSpPr>
        <p:spPr>
          <a:xfrm>
            <a:off x="822960" y="4480560"/>
            <a:ext cx="594360" cy="594360"/>
          </a:xfrm>
          <a:prstGeom prst="ellipse">
            <a:avLst/>
          </a:prstGeom>
          <a:solidFill>
            <a:srgbClr val="B5121A"/>
          </a:solidFill>
          <a:ln/>
          <a:effectLst>
            <a:outerShdw blurRad="76200" dist="38100" dir="5400000" algn="bl" rotWithShape="0">
              <a:srgbClr val="1B1B1B">
                <a:alpha val="18000"/>
              </a:srgbClr>
            </a:outerShdw>
          </a:effectLst>
        </p:spPr>
        <p:txBody>
          <a:bodyPr/>
          <a:lstStyle/>
          <a:p>
            <a:endParaRPr lang="en-US"/>
          </a:p>
        </p:txBody>
      </p:sp>
      <p:pic>
        <p:nvPicPr>
          <p:cNvPr id="7" name="Image 0" descr="/tmp/chem101_topic2/icon_arrow_white.png"/>
          <p:cNvPicPr>
            <a:picLocks noChangeAspect="1"/>
          </p:cNvPicPr>
          <p:nvPr/>
        </p:nvPicPr>
        <p:blipFill>
          <a:blip r:embed="rId3"/>
          <a:stretch>
            <a:fillRect/>
          </a:stretch>
        </p:blipFill>
        <p:spPr>
          <a:xfrm>
            <a:off x="971550" y="4629150"/>
            <a:ext cx="297180" cy="297180"/>
          </a:xfrm>
          <a:prstGeom prst="rect">
            <a:avLst/>
          </a:prstGeom>
        </p:spPr>
      </p:pic>
      <p:sp>
        <p:nvSpPr>
          <p:cNvPr id="8" name="Text 5"/>
          <p:cNvSpPr txBox="1"/>
          <p:nvPr/>
        </p:nvSpPr>
        <p:spPr>
          <a:xfrm>
            <a:off x="1600200" y="4279392"/>
            <a:ext cx="5486400" cy="320040"/>
          </a:xfrm>
          <a:prstGeom prst="rect">
            <a:avLst/>
          </a:prstGeom>
          <a:noFill/>
          <a:ln/>
        </p:spPr>
        <p:txBody>
          <a:bodyPr wrap="square" lIns="0" tIns="0" rIns="0" bIns="0" rtlCol="0" anchor="ctr"/>
          <a:lstStyle/>
          <a:p>
            <a:pPr marL="0" indent="0">
              <a:buNone/>
            </a:pPr>
            <a:r>
              <a:rPr lang="en-US" sz="1200" b="1" kern="0" spc="150" dirty="0">
                <a:solidFill>
                  <a:srgbClr val="F4A100"/>
                </a:solidFill>
                <a:latin typeface="Garamond" pitchFamily="34" charset="0"/>
                <a:ea typeface="Garamond" pitchFamily="34" charset="-122"/>
                <a:cs typeface="Garamond" pitchFamily="34" charset="-120"/>
              </a:rPr>
              <a:t>UP NEXT</a:t>
            </a:r>
            <a:endParaRPr lang="en-US" sz="1200" dirty="0"/>
          </a:p>
        </p:txBody>
      </p:sp>
      <p:sp>
        <p:nvSpPr>
          <p:cNvPr id="9" name="Text 6"/>
          <p:cNvSpPr txBox="1"/>
          <p:nvPr/>
        </p:nvSpPr>
        <p:spPr>
          <a:xfrm>
            <a:off x="1600200" y="4439412"/>
            <a:ext cx="9722815" cy="685800"/>
          </a:xfrm>
          <a:prstGeom prst="rect">
            <a:avLst/>
          </a:prstGeom>
          <a:noFill/>
          <a:ln/>
        </p:spPr>
        <p:txBody>
          <a:bodyPr wrap="square" lIns="0" tIns="0" rIns="0" bIns="0" rtlCol="0" anchor="ctr"/>
          <a:lstStyle/>
          <a:p>
            <a:pPr marL="0" indent="0">
              <a:buNone/>
            </a:pPr>
            <a:r>
              <a:rPr lang="en-US" sz="1600" dirty="0">
                <a:solidFill>
                  <a:srgbClr val="FFFFFF"/>
                </a:solidFill>
                <a:latin typeface="Garamond" pitchFamily="34" charset="0"/>
                <a:ea typeface="Garamond" pitchFamily="34" charset="-122"/>
                <a:cs typeface="Garamond" pitchFamily="34" charset="-120"/>
              </a:rPr>
              <a:t>Topic 3: Matter and Energy — physical states, elements, compounds and mixtures, and conservation of mass and energy.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1420</TotalTime>
  <Words>3590</Words>
  <Application>Microsoft Macintosh PowerPoint</Application>
  <PresentationFormat>Widescreen</PresentationFormat>
  <Paragraphs>236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Cambria</vt:lpstr>
      <vt:lpstr>Garamond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 101 — Topic 2: Fundamental Measurements</dc:title>
  <dc:subject>PptxGenJS Presentation</dc:subject>
  <dc:creator>Chris Patridge</dc:creator>
  <cp:lastModifiedBy>Patridge, Christopher</cp:lastModifiedBy>
  <cp:revision>5</cp:revision>
  <dcterms:created xsi:type="dcterms:W3CDTF">2026-09-05T01:34:56Z</dcterms:created>
  <dcterms:modified xsi:type="dcterms:W3CDTF">2026-09-19T18:03:21Z</dcterms:modified>
</cp:coreProperties>
</file>
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12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739"/>
    <p:restoredTop sz="94610"/>
  </p:normalViewPr>
  <p:slideViewPr>
    <p:cSldViewPr snapToGrid="0" snapToObjects="1">
      <p:cViewPr varScale="1">
        <p:scale>
          <a:sx n="46" d="100"/>
          <a:sy n="46" d="100"/>
        </p:scale>
        <p:origin x="192" y="20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6073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CHEM 101, Elements of General Chemistry I. I'm really glad you're here. This course is designed for students who are heading into nursing, who haven't taken chemistry in high school, or who just want a solid refresher before General Chemistry I. Over the semester we're going to build up your chemistry knowledge piece by piece — starting today with the most basic question of all: what is chemistry, and how do scientists actually go about studying it? By the end of this lecture, you'll understand what chemistry covers, why it matters so much for the health care field, where it came from historically, and how the scientific method gives us a reliable way to ask and answer questions about the natural world.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today. First, we'll define what chemistry actually is, and talk about why it's such an important subject for anyone going into a health care career. Second, we'll take a quick tour through the history of chemistry — from ancient alchemists to the scientists who turned it into the modern science we know today. Third, we'll slow down on the scientific method itself, because it's the framework you'll use in every single topic for the rest of this course, and in lab. And finally, we'll recap the key terms so you walk away with a vocabulary you can build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start with the basics. Chemistry is the study of matter — and matter is just anything that has mass and takes up space. That includes the water you drink, the air you breathe, the medications you'll administer as nurses, and every cell in the human body. When chemists study matter, we're really asking three kinds of questions. What is this substance made of, down to its atoms and molecules? What are its properties — how does it look, how does it react, how does it behave under heat or pressure or in water? And how does it change — both physically, like ice melting, and chemically, like iron rusting or food being digested? Chemistry sits underneath biology, underneath medicine, underneath nearly every science you'll encounter.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be wondering why a nursing student needs a chemistry course at all. Here's why: nearly everything you'll do at the bedside has chemistry underneath it. Calculating a medication dose and understanding how two drugs might interact is chemistry. Managing IV fluids and electrolyte balance — sodium, potassium, chloride — is chemistry. The body itself runs on chemistry: blood pH has to stay in a very narrow range, enzymes drive digestion and metabolism, and every lab value on a blood panel is a chemical measurement. My goal this semester isn't to turn you into chemists for chemistry's own sake — it's to give you the foundation so that when you see these concepts again in your nursing courses, they'll already make sense.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Chemistry isn't one single subject — it branches into several specialties. Organic chemistry studies carbon-based compounds, which make up living things and most medications. Inorganic chemistry covers everything else — metals, minerals, salts. Biochemistry looks at the chemical reactions happening inside living organisms, which is especially relevant for health care. Analytical chemistry is about identifying and measuring exactly what's in a substance — think of a toxicology screen. Physical chemistry explains the energy and physics behind chemical behavior. And environmental chemistry studies chemistry in air, water, and soil. This course, general chemistry, is the foundation all of those branches are built on — so everything we cover this semester will show up again no matter which direction you go.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take a step back and look at where chemistry actually came from. Chemistry didn't start in a lab with beakers and safety goggles — it started thousands of years ago with people trying to understand and manipulate the materials around them. We're going to walk through four moments that turned that curiosity into an actual science: the age of alchemy, Lavoisier's law of conservation of mass, Dalton's atomic theory, and Mendeleev's periodic table. You don't need to memorize dates — what matters is seeing how each discovery built on the one before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story starts with alchemy, which stretches from roughly three thousand BCE up through the sixteen hundreds. Alchemists in Egypt, China, and the Islamic world experimented constantly with metals and minerals — famously trying to turn ordinary metals into gold, and searching for an elixir of life that could cure disease or extend life span. Most of their ideas weren't scientific in the way we'd define it today — they mixed mysticism with observation, and they rarely tested ideas in a systematic way. But here's what matters for us: alchemists invented lab techniques that are still standard practice — distillation, extraction, crystallization. So even though alchemy wasn't chemistry yet, it built the practical toolkit that real chemistry would eventually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major turning point is Antoine Lavoisier, a French chemist working in the late seventeen hundreds. Lavoisier is often called the father of modern chemistry because he insisted on something alchemists never had: precise measurement. He weighed the substances going into a reaction and weighed everything left over afterward. That careful work led him to the Law of Conservation of Mass — mass is neither created nor destroyed in a chemical reaction, it just changes form. This directly disproved the old phlogiston theory, which had incorrectly explained combustion for decades. Lavoisier's insistence on measurement is really the moment chemistry stopped being guesswork and became a quantitative science.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decade later, English chemist John Dalton took Lavoisier's measurements and used them to propose atomic theory in 1803. Dalton argued that all matter is made of tiny, indivisible particles called atoms; that atoms of the same element are identical to each other, while atoms of different elements are different; that atoms combine in fixed, whole-number ratios to form compounds; and that chemical reactions simply rearrange atoms rather than creating or destroying them. Notice how that last point connects directly back to Lavoisier's law of conservation of mass — Dalton gave a physical explanation for why mass is conserved. We'll come back to atomic structure in much more depth in Topic 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milestone in our history tour is Dmitri Mendeleev, a Russian chemist who in 1869 organized the sixty-three elements known at the time by atomic mass and by recurring — or periodic — chemical properties. What made his work remarkable is that he deliberately left gaps in his table for elements he was confident existed but hadn't been discovered yet, and he even predicted their properties. Years later, those elements were discovered, and his predictions were remarkably accurate. That's a great early example of science making testable predictions. We'll spend an entire topic later this semester — Topic 5 — exploring the modern periodic table and the trends it reveals.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whole arc in one picture. Alchemy gave us curiosity and lab technique, but not a systematic method. Lavoisier gave us precise measurement and the law of conservation of mass. Dalton gave us the atom as the basic unit of matter. And Mendeleev gave us a way to organize every element by its properties. Each discovery depended on the one before it — and chemistry has kept building in exactly that way ever since. Now that we've seen where chemistry's ideas came from, let's turn to the method that produced them: the scientific method.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section is arguably the most important part of today's lecture, because the scientific method isn't just a chemistry topic — it's the process you'll use in every lab this semester, and honestly, in clinical reasoning as a nurse too. Let's break down what it is and how it works.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scientific method is a systematic, evidence-based process for asking questions about the natural world and testing possible answers. Three features make it powerful. First, it's objective — conclusions are based on evidence and measurement, not on opinion, tradition, or assumption. Second, it's repeatable — if an experiment is designed well, another scientist anywhere in the world should be able to run it again and get the same result. And third, it's self-correcting: when new evidence comes in that contradicts an old conclusion, scientists revise or replace that conclusion. That's not a weakness of science — that's exactly how it's supposed to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steps in order. It starts with observation — noticing something about the world that raises a question. That leads to a question itself: why does this happen, or how does it work? Next comes the hypothesis — a testable, educated explanation, essentially your best guess based on what you already know. Then you design and run an experiment — a controlled test built specifically to check whether your hypothesis holds up. After that, you analyze the data the experiment produced. And finally, you draw a conclusion: does the evidence support your hypothesis, does it mean you need to revise it, or does it reject it outright? Notice the arrow looping back at the end — science isn't a straight line. A new observation, or a result you didn't expect, can send you right back to step one and the whole cycle starts again.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distinction trips people up constantly, so let's be precise about it. A hypothesis is a testable, educated guess based on limited observations — it can be revised or thrown out entirely as new evidence comes in. A theory is very different from how we use the word in everyday conversation: in science, a theory is a well-substantiated explanation, backed by extensive, repeated evidence from many independent experiments, and it explains why something happens. A law, on the other hand, describes what consistently happens — often as a mathematical relationship — without necessarily explaining why. So when someone says something is ‘just a theory,’ as if that makes it weak, that's actually a misunderstanding of the word — in science, a theory is one of the strongest, most well-tested conclusions we have.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with a real health care example, because it maps directly onto what you'll do as nurses. In the 1840s, physician Ignaz Semmelweis observed that new mothers on one maternity ward were dying of infection at a much higher rate than mothers on a different ward in the very same hospital. That's the observation. The question was obvious: why would two wards in one hospital have such different outcomes? Semmelweis's hypothesis was that doctors — who were performing autopsies earlier in the day — were carrying invisible ‘cadaverous particles’ on their hands to patients during exams. To test it, he ran an experiment: he required doctors to wash their hands with a chlorinated lime solution before touching patients. The result was dramatic — death rates on that ward fell sharply. That evidence supported his hypothesis, and hand hygiene eventually became one of the most basic, non-negotiable practices in all of health care. Notice that every step we just outlined — observation, question, hypothesis, experiment, conclusion — is right there in this one historical example.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wrap up, let's recap the vocabulary from today — you'll want these terms solid before moving into Topic 2. Chemistry: the study of matter's composition, properties, and changes. Alchemy: the pre-scientific practice that came before modern chemistry. Atomic theory: Dalton's model of matter as made of indivisible atoms. Conservation of mass: mass is neither created nor destroyed in a chemical reaction. Hypothesis: a testable, educated explanation for an observation. Theory: a well-substantiated explanation backed by extensive evidence. Law: a consistent description of what happens, often written mathematically. And the scientific method itself: the systematic process of observing, questioning, and testing that ties all of this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all together. Chemistry is the study of matter, and it underlies nearly everything you'll encounter in a health care setting, from medications to lab values to how the body itself functions. Those chemical ideas didn't appear overnight — they built up over centuries, from the alchemists' early experiments, to Lavoisier's precise measurements, to Dalton's atoms, to Mendeleev's periodic table. And underneath all of it is the scientific method — observation, question, hypothesis, experiment, analysis, and conclusion — the same process you'll rely on in every lab this semester. Please review this lecture alongside the assigned reading, and I'll see you for Topic 2, where we start working with the metric system, scientific notation, and significant figures — the measurement tools you'll use in every chemistry calculation from here on. Thanks for watching, and I'll see you next time.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4" name="Shape 2"/>
          <p:cNvSpPr/>
          <p:nvPr/>
        </p:nvSpPr>
        <p:spPr>
          <a:xfrm>
            <a:off x="548640" y="822960"/>
            <a:ext cx="868680" cy="86868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5" name="Image 0" descr="/tmp/chem101_topic1/icon_flask_white.png"/>
          <p:cNvPicPr>
            <a:picLocks noChangeAspect="1"/>
          </p:cNvPicPr>
          <p:nvPr/>
        </p:nvPicPr>
        <p:blipFill>
          <a:blip r:embed="rId3"/>
          <a:stretch>
            <a:fillRect/>
          </a:stretch>
        </p:blipFill>
        <p:spPr>
          <a:xfrm>
            <a:off x="765810" y="1040130"/>
            <a:ext cx="434340" cy="434340"/>
          </a:xfrm>
          <a:prstGeom prst="rect">
            <a:avLst/>
          </a:prstGeom>
        </p:spPr>
      </p:pic>
      <p:sp>
        <p:nvSpPr>
          <p:cNvPr id="6" name="Text 3"/>
          <p:cNvSpPr txBox="1"/>
          <p:nvPr/>
        </p:nvSpPr>
        <p:spPr>
          <a:xfrm>
            <a:off x="548640" y="1965960"/>
            <a:ext cx="9601200" cy="365760"/>
          </a:xfrm>
          <a:prstGeom prst="rect">
            <a:avLst/>
          </a:prstGeom>
          <a:noFill/>
          <a:ln/>
        </p:spPr>
        <p:txBody>
          <a:bodyPr wrap="square" lIns="0" tIns="0" rIns="0" bIns="0" rtlCol="0" anchor="ctr"/>
          <a:lstStyle/>
          <a:p>
            <a:pPr marL="0" indent="0">
              <a:buNone/>
            </a:pPr>
            <a:r>
              <a:rPr lang="en-US" sz="1400" b="1" kern="0" spc="200" dirty="0">
                <a:solidFill>
                  <a:srgbClr val="F4A100"/>
                </a:solidFill>
                <a:latin typeface="Garamond" pitchFamily="34" charset="0"/>
                <a:ea typeface="Garamond" pitchFamily="34" charset="-122"/>
                <a:cs typeface="Garamond" pitchFamily="34" charset="-120"/>
              </a:rPr>
              <a:t>CHEM 101 · ELEMENTS OF GENERAL CHEMISTRY I</a:t>
            </a:r>
            <a:endParaRPr lang="en-US" sz="1400" dirty="0"/>
          </a:p>
        </p:txBody>
      </p:sp>
      <p:sp>
        <p:nvSpPr>
          <p:cNvPr id="7" name="Text 4"/>
          <p:cNvSpPr txBox="1"/>
          <p:nvPr/>
        </p:nvSpPr>
        <p:spPr>
          <a:xfrm>
            <a:off x="548640" y="2377440"/>
            <a:ext cx="10058400" cy="15544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Topic 1: Introduction</a:t>
            </a:r>
            <a:endParaRPr lang="en-US" sz="4800" dirty="0"/>
          </a:p>
        </p:txBody>
      </p:sp>
      <p:sp>
        <p:nvSpPr>
          <p:cNvPr id="8" name="Text 5"/>
          <p:cNvSpPr txBox="1"/>
          <p:nvPr/>
        </p:nvSpPr>
        <p:spPr>
          <a:xfrm>
            <a:off x="548640" y="3794760"/>
            <a:ext cx="8686800" cy="548640"/>
          </a:xfrm>
          <a:prstGeom prst="rect">
            <a:avLst/>
          </a:prstGeom>
          <a:noFill/>
          <a:ln/>
        </p:spPr>
        <p:txBody>
          <a:bodyPr wrap="square" lIns="0" tIns="0" rIns="0" bIns="0" rtlCol="0" anchor="ctr"/>
          <a:lstStyle/>
          <a:p>
            <a:pPr marL="0" indent="0">
              <a:buNone/>
            </a:pPr>
            <a:r>
              <a:rPr lang="en-US" sz="2000" dirty="0">
                <a:solidFill>
                  <a:srgbClr val="CADCEA"/>
                </a:solidFill>
                <a:latin typeface="Garamond" pitchFamily="34" charset="0"/>
                <a:ea typeface="Garamond" pitchFamily="34" charset="-122"/>
                <a:cs typeface="Garamond" pitchFamily="34" charset="-120"/>
              </a:rPr>
              <a:t>Welcome to the world of chemistry</a:t>
            </a:r>
            <a:endParaRPr lang="en-US" sz="2000" dirty="0"/>
          </a:p>
        </p:txBody>
      </p:sp>
      <p:sp>
        <p:nvSpPr>
          <p:cNvPr id="9" name="Text 6"/>
          <p:cNvSpPr txBox="1"/>
          <p:nvPr/>
        </p:nvSpPr>
        <p:spPr>
          <a:xfrm>
            <a:off x="548640" y="6263640"/>
            <a:ext cx="5486400" cy="320040"/>
          </a:xfrm>
          <a:prstGeom prst="rect">
            <a:avLst/>
          </a:prstGeom>
          <a:noFill/>
          <a:ln/>
        </p:spPr>
        <p:txBody>
          <a:bodyPr wrap="square" lIns="0" tIns="0" rIns="0" bIns="0" rtlCol="0" anchor="ctr"/>
          <a:lstStyle/>
          <a:p>
            <a:pPr marL="0" indent="0">
              <a:buNone/>
            </a:pPr>
            <a:r>
              <a:rPr lang="en-US" sz="1100" dirty="0">
                <a:solidFill>
                  <a:srgbClr val="7C93AC"/>
                </a:solidFill>
                <a:latin typeface="Garamond" pitchFamily="34" charset="0"/>
                <a:ea typeface="Garamond" pitchFamily="34" charset="-122"/>
                <a:cs typeface="Garamond" pitchFamily="34" charset="-120"/>
              </a:rPr>
              <a:t>Asynchronous Online Lecture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clipboard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144000" cy="685800"/>
          </a:xfrm>
          <a:prstGeom prst="rect">
            <a:avLst/>
          </a:prstGeom>
          <a:noFill/>
          <a:ln/>
        </p:spPr>
        <p:txBody>
          <a:bodyPr wrap="square" lIns="0" tIns="0" rIns="0" bIns="0" rtlCol="0" anchor="ctr"/>
          <a:lstStyle/>
          <a:p>
            <a:pPr marL="0" indent="0">
              <a:buNone/>
            </a:pPr>
            <a:r>
              <a:rPr lang="en-US" sz="3200" b="1" dirty="0">
                <a:solidFill>
                  <a:srgbClr val="14213D"/>
                </a:solidFill>
                <a:latin typeface="Cambria" pitchFamily="34" charset="0"/>
                <a:ea typeface="Cambria" pitchFamily="34" charset="-122"/>
                <a:cs typeface="Cambria" pitchFamily="34" charset="-120"/>
              </a:rPr>
              <a:t>What’s covered in this lecture </a:t>
            </a:r>
            <a:endParaRPr lang="en-US" sz="3200" dirty="0"/>
          </a:p>
        </p:txBody>
      </p:sp>
      <p:sp>
        <p:nvSpPr>
          <p:cNvPr id="5" name="Shape 2"/>
          <p:cNvSpPr/>
          <p:nvPr/>
        </p:nvSpPr>
        <p:spPr>
          <a:xfrm>
            <a:off x="548641" y="1737360"/>
            <a:ext cx="7520186" cy="850392"/>
          </a:xfrm>
          <a:prstGeom prst="roundRect">
            <a:avLst>
              <a:gd name="adj" fmla="val 9677"/>
            </a:avLst>
          </a:prstGeom>
          <a:solidFill>
            <a:srgbClr val="F1F6F8"/>
          </a:solidFill>
          <a:ln/>
        </p:spPr>
        <p:txBody>
          <a:bodyPr/>
          <a:lstStyle/>
          <a:p>
            <a:endParaRPr lang="en-US"/>
          </a:p>
        </p:txBody>
      </p:sp>
      <p:sp>
        <p:nvSpPr>
          <p:cNvPr id="6" name="Shape 3"/>
          <p:cNvSpPr/>
          <p:nvPr/>
        </p:nvSpPr>
        <p:spPr>
          <a:xfrm>
            <a:off x="804672" y="1879092"/>
            <a:ext cx="566928" cy="566928"/>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7" name="Image 1" descr="/tmp/chem101_topic1/icon_flask_white.png"/>
          <p:cNvPicPr>
            <a:picLocks noChangeAspect="1"/>
          </p:cNvPicPr>
          <p:nvPr/>
        </p:nvPicPr>
        <p:blipFill>
          <a:blip r:embed="rId4"/>
          <a:stretch>
            <a:fillRect/>
          </a:stretch>
        </p:blipFill>
        <p:spPr>
          <a:xfrm>
            <a:off x="940735" y="2015155"/>
            <a:ext cx="294803" cy="294803"/>
          </a:xfrm>
          <a:prstGeom prst="rect">
            <a:avLst/>
          </a:prstGeom>
        </p:spPr>
      </p:pic>
      <p:sp>
        <p:nvSpPr>
          <p:cNvPr id="8" name="Text 4"/>
          <p:cNvSpPr txBox="1"/>
          <p:nvPr/>
        </p:nvSpPr>
        <p:spPr>
          <a:xfrm>
            <a:off x="1600200" y="1737360"/>
            <a:ext cx="9814255" cy="85039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What chemistry is — and why it matters for you</a:t>
            </a:r>
            <a:endParaRPr lang="en-US" dirty="0"/>
          </a:p>
        </p:txBody>
      </p:sp>
      <p:sp>
        <p:nvSpPr>
          <p:cNvPr id="9" name="Shape 5"/>
          <p:cNvSpPr/>
          <p:nvPr/>
        </p:nvSpPr>
        <p:spPr>
          <a:xfrm>
            <a:off x="548641" y="2788920"/>
            <a:ext cx="7520186" cy="850392"/>
          </a:xfrm>
          <a:prstGeom prst="roundRect">
            <a:avLst>
              <a:gd name="adj" fmla="val 9677"/>
            </a:avLst>
          </a:prstGeom>
          <a:solidFill>
            <a:srgbClr val="F1F6F8"/>
          </a:solidFill>
          <a:ln/>
        </p:spPr>
        <p:txBody>
          <a:bodyPr/>
          <a:lstStyle/>
          <a:p>
            <a:endParaRPr lang="en-US"/>
          </a:p>
        </p:txBody>
      </p:sp>
      <p:sp>
        <p:nvSpPr>
          <p:cNvPr id="10" name="Shape 6"/>
          <p:cNvSpPr/>
          <p:nvPr/>
        </p:nvSpPr>
        <p:spPr>
          <a:xfrm>
            <a:off x="804672" y="2930652"/>
            <a:ext cx="566928" cy="566928"/>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11" name="Image 2" descr="/tmp/chem101_topic1/icon_history_white.png"/>
          <p:cNvPicPr>
            <a:picLocks noChangeAspect="1"/>
          </p:cNvPicPr>
          <p:nvPr/>
        </p:nvPicPr>
        <p:blipFill>
          <a:blip r:embed="rId5"/>
          <a:stretch>
            <a:fillRect/>
          </a:stretch>
        </p:blipFill>
        <p:spPr>
          <a:xfrm>
            <a:off x="940735" y="3066715"/>
            <a:ext cx="294803" cy="294803"/>
          </a:xfrm>
          <a:prstGeom prst="rect">
            <a:avLst/>
          </a:prstGeom>
        </p:spPr>
      </p:pic>
      <p:sp>
        <p:nvSpPr>
          <p:cNvPr id="12" name="Text 7"/>
          <p:cNvSpPr txBox="1"/>
          <p:nvPr/>
        </p:nvSpPr>
        <p:spPr>
          <a:xfrm>
            <a:off x="1600200" y="2788920"/>
            <a:ext cx="9814255" cy="85039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 quick history: how chemistry became a science</a:t>
            </a:r>
            <a:endParaRPr lang="en-US" dirty="0"/>
          </a:p>
        </p:txBody>
      </p:sp>
      <p:sp>
        <p:nvSpPr>
          <p:cNvPr id="13" name="Shape 8"/>
          <p:cNvSpPr/>
          <p:nvPr/>
        </p:nvSpPr>
        <p:spPr>
          <a:xfrm>
            <a:off x="548641" y="3840480"/>
            <a:ext cx="7520186" cy="850392"/>
          </a:xfrm>
          <a:prstGeom prst="roundRect">
            <a:avLst>
              <a:gd name="adj" fmla="val 9677"/>
            </a:avLst>
          </a:prstGeom>
          <a:solidFill>
            <a:srgbClr val="F1F6F8"/>
          </a:solidFill>
          <a:ln/>
        </p:spPr>
        <p:txBody>
          <a:bodyPr/>
          <a:lstStyle/>
          <a:p>
            <a:endParaRPr lang="en-US"/>
          </a:p>
        </p:txBody>
      </p:sp>
      <p:sp>
        <p:nvSpPr>
          <p:cNvPr id="14" name="Shape 9"/>
          <p:cNvSpPr/>
          <p:nvPr/>
        </p:nvSpPr>
        <p:spPr>
          <a:xfrm>
            <a:off x="804672" y="3982212"/>
            <a:ext cx="566928" cy="566928"/>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15" name="Image 3" descr="/tmp/chem101_topic1/icon_search_white.png"/>
          <p:cNvPicPr>
            <a:picLocks noChangeAspect="1"/>
          </p:cNvPicPr>
          <p:nvPr/>
        </p:nvPicPr>
        <p:blipFill>
          <a:blip r:embed="rId6"/>
          <a:stretch>
            <a:fillRect/>
          </a:stretch>
        </p:blipFill>
        <p:spPr>
          <a:xfrm>
            <a:off x="940735" y="4118275"/>
            <a:ext cx="294803" cy="294803"/>
          </a:xfrm>
          <a:prstGeom prst="rect">
            <a:avLst/>
          </a:prstGeom>
        </p:spPr>
      </p:pic>
      <p:sp>
        <p:nvSpPr>
          <p:cNvPr id="16" name="Text 10"/>
          <p:cNvSpPr txBox="1"/>
          <p:nvPr/>
        </p:nvSpPr>
        <p:spPr>
          <a:xfrm>
            <a:off x="1600200" y="3840480"/>
            <a:ext cx="9814255" cy="85039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The scientific method: an approach to experiment and research</a:t>
            </a:r>
            <a:endParaRPr lang="en-US" dirty="0"/>
          </a:p>
        </p:txBody>
      </p:sp>
      <p:sp>
        <p:nvSpPr>
          <p:cNvPr id="17" name="Shape 11"/>
          <p:cNvSpPr/>
          <p:nvPr/>
        </p:nvSpPr>
        <p:spPr>
          <a:xfrm>
            <a:off x="548641" y="4892040"/>
            <a:ext cx="7520186" cy="850392"/>
          </a:xfrm>
          <a:prstGeom prst="roundRect">
            <a:avLst>
              <a:gd name="adj" fmla="val 9677"/>
            </a:avLst>
          </a:prstGeom>
          <a:solidFill>
            <a:srgbClr val="F1F6F8"/>
          </a:solidFill>
          <a:ln/>
        </p:spPr>
        <p:txBody>
          <a:bodyPr/>
          <a:lstStyle/>
          <a:p>
            <a:endParaRPr lang="en-US"/>
          </a:p>
        </p:txBody>
      </p:sp>
      <p:sp>
        <p:nvSpPr>
          <p:cNvPr id="18" name="Shape 12"/>
          <p:cNvSpPr/>
          <p:nvPr/>
        </p:nvSpPr>
        <p:spPr>
          <a:xfrm>
            <a:off x="804672" y="5033772"/>
            <a:ext cx="566928" cy="566928"/>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19" name="Image 4" descr="/tmp/chem101_topic1/icon_book_white.png"/>
          <p:cNvPicPr>
            <a:picLocks noChangeAspect="1"/>
          </p:cNvPicPr>
          <p:nvPr/>
        </p:nvPicPr>
        <p:blipFill>
          <a:blip r:embed="rId7"/>
          <a:stretch>
            <a:fillRect/>
          </a:stretch>
        </p:blipFill>
        <p:spPr>
          <a:xfrm>
            <a:off x="940735" y="5169835"/>
            <a:ext cx="294803" cy="294803"/>
          </a:xfrm>
          <a:prstGeom prst="rect">
            <a:avLst/>
          </a:prstGeom>
        </p:spPr>
      </p:pic>
      <p:sp>
        <p:nvSpPr>
          <p:cNvPr id="20" name="Text 13"/>
          <p:cNvSpPr txBox="1"/>
          <p:nvPr/>
        </p:nvSpPr>
        <p:spPr>
          <a:xfrm>
            <a:off x="1600200" y="4892040"/>
            <a:ext cx="9814255" cy="85039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Some chemistry language &amp; vocabulary we'll use during the course </a:t>
            </a:r>
            <a:endParaRPr lang="en-US" dirty="0"/>
          </a:p>
        </p:txBody>
      </p:sp>
      <p:sp>
        <p:nvSpPr>
          <p:cNvPr id="21"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22" name="Text 15"/>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flask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601200" cy="68580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So, what’s chemistry?</a:t>
            </a:r>
            <a:endParaRPr lang="en-US" sz="3000" dirty="0"/>
          </a:p>
        </p:txBody>
      </p:sp>
      <p:sp>
        <p:nvSpPr>
          <p:cNvPr id="5" name="Shape 2"/>
          <p:cNvSpPr/>
          <p:nvPr/>
        </p:nvSpPr>
        <p:spPr>
          <a:xfrm>
            <a:off x="548640" y="1417320"/>
            <a:ext cx="11094415" cy="1005840"/>
          </a:xfrm>
          <a:prstGeom prst="roundRect">
            <a:avLst>
              <a:gd name="adj" fmla="val 7273"/>
            </a:avLst>
          </a:prstGeom>
          <a:gradFill flip="none" rotWithShape="1">
            <a:gsLst>
              <a:gs pos="0">
                <a:srgbClr val="B5121A">
                  <a:shade val="30000"/>
                  <a:satMod val="115000"/>
                </a:srgbClr>
              </a:gs>
              <a:gs pos="50000">
                <a:srgbClr val="B5121A">
                  <a:shade val="67500"/>
                  <a:satMod val="115000"/>
                </a:srgbClr>
              </a:gs>
              <a:gs pos="100000">
                <a:srgbClr val="B5121A">
                  <a:shade val="100000"/>
                  <a:satMod val="115000"/>
                </a:srgbClr>
              </a:gs>
            </a:gsLst>
            <a:path path="circle">
              <a:fillToRect l="100000" t="100000"/>
            </a:path>
            <a:tileRect r="-100000" b="-100000"/>
          </a:gradFill>
          <a:ln/>
          <a:effectLst>
            <a:outerShdw blurRad="76200" dist="38100" dir="5400000" algn="bl" rotWithShape="0">
              <a:srgbClr val="1B1B1B">
                <a:alpha val="18000"/>
              </a:srgbClr>
            </a:outerShdw>
          </a:effectLst>
        </p:spPr>
        <p:txBody>
          <a:bodyPr/>
          <a:lstStyle/>
          <a:p>
            <a:endParaRPr lang="en-US"/>
          </a:p>
        </p:txBody>
      </p:sp>
      <p:sp>
        <p:nvSpPr>
          <p:cNvPr id="6" name="Text 3"/>
          <p:cNvSpPr txBox="1"/>
          <p:nvPr/>
        </p:nvSpPr>
        <p:spPr>
          <a:xfrm>
            <a:off x="697230" y="1417320"/>
            <a:ext cx="10315763" cy="1005840"/>
          </a:xfrm>
          <a:prstGeom prst="rect">
            <a:avLst/>
          </a:prstGeom>
          <a:noFill/>
          <a:ln/>
        </p:spPr>
        <p:txBody>
          <a:bodyPr wrap="square" lIns="0" tIns="0" rIns="0" bIns="0" rtlCol="0" anchor="ctr"/>
          <a:lstStyle/>
          <a:p>
            <a:pPr marL="0" indent="0">
              <a:buNone/>
            </a:pPr>
            <a:r>
              <a:rPr lang="en-US" sz="1800" dirty="0">
                <a:solidFill>
                  <a:srgbClr val="FFFFFF"/>
                </a:solidFill>
                <a:latin typeface="Cambria" pitchFamily="34" charset="0"/>
                <a:ea typeface="Cambria" pitchFamily="34" charset="-122"/>
                <a:cs typeface="Cambria" pitchFamily="34" charset="-120"/>
              </a:rPr>
              <a:t>Chemistry is the study of matter (everything around us) — </a:t>
            </a:r>
          </a:p>
          <a:p>
            <a:pPr marL="0" indent="0">
              <a:buNone/>
            </a:pPr>
            <a:r>
              <a:rPr lang="en-US" sz="1800" dirty="0">
                <a:solidFill>
                  <a:srgbClr val="FFFFFF"/>
                </a:solidFill>
                <a:latin typeface="Cambria" pitchFamily="34" charset="0"/>
                <a:ea typeface="Cambria" pitchFamily="34" charset="-122"/>
                <a:cs typeface="Cambria" pitchFamily="34" charset="-120"/>
              </a:rPr>
              <a:t>	</a:t>
            </a:r>
          </a:p>
          <a:p>
            <a:pPr marL="0" indent="0">
              <a:buNone/>
            </a:pPr>
            <a:r>
              <a:rPr lang="en-US" dirty="0">
                <a:solidFill>
                  <a:srgbClr val="FFFFFF"/>
                </a:solidFill>
                <a:latin typeface="Cambria" pitchFamily="34" charset="0"/>
                <a:ea typeface="Cambria" pitchFamily="34" charset="-122"/>
                <a:cs typeface="Cambria" pitchFamily="34" charset="-120"/>
              </a:rPr>
              <a:t>		</a:t>
            </a:r>
            <a:r>
              <a:rPr lang="en-US" sz="1800" dirty="0">
                <a:solidFill>
                  <a:srgbClr val="FFFFFF"/>
                </a:solidFill>
                <a:latin typeface="Cambria" pitchFamily="34" charset="0"/>
                <a:ea typeface="Cambria" pitchFamily="34" charset="-122"/>
                <a:cs typeface="Cambria" pitchFamily="34" charset="-120"/>
              </a:rPr>
              <a:t>what it's made of, how it behaves, and </a:t>
            </a:r>
            <a:r>
              <a:rPr lang="en-US" u="sng" dirty="0">
                <a:solidFill>
                  <a:srgbClr val="FFFFFF"/>
                </a:solidFill>
                <a:latin typeface="Cambria" pitchFamily="34" charset="0"/>
                <a:ea typeface="Cambria" pitchFamily="34" charset="-122"/>
                <a:cs typeface="Cambria" pitchFamily="34" charset="-120"/>
              </a:rPr>
              <a:t>most interesting</a:t>
            </a:r>
            <a:r>
              <a:rPr lang="en-US" sz="1800" u="sng" dirty="0">
                <a:solidFill>
                  <a:srgbClr val="FFFFFF"/>
                </a:solidFill>
                <a:latin typeface="Cambria" pitchFamily="34" charset="0"/>
                <a:ea typeface="Cambria" pitchFamily="34" charset="-122"/>
                <a:cs typeface="Cambria" pitchFamily="34" charset="-120"/>
              </a:rPr>
              <a:t>, how it changes!</a:t>
            </a:r>
            <a:endParaRPr lang="en-US" sz="1800" u="sng" dirty="0"/>
          </a:p>
        </p:txBody>
      </p:sp>
      <p:sp>
        <p:nvSpPr>
          <p:cNvPr id="7" name="Shape 4"/>
          <p:cNvSpPr/>
          <p:nvPr/>
        </p:nvSpPr>
        <p:spPr>
          <a:xfrm>
            <a:off x="548640" y="2743200"/>
            <a:ext cx="11094415" cy="960120"/>
          </a:xfrm>
          <a:prstGeom prst="roundRect">
            <a:avLst>
              <a:gd name="adj" fmla="val 6667"/>
            </a:avLst>
          </a:prstGeom>
          <a:solidFill>
            <a:srgbClr val="F1F6F8"/>
          </a:solidFill>
          <a:ln/>
        </p:spPr>
        <p:txBody>
          <a:bodyPr/>
          <a:lstStyle/>
          <a:p>
            <a:endParaRPr lang="en-US"/>
          </a:p>
        </p:txBody>
      </p:sp>
      <p:sp>
        <p:nvSpPr>
          <p:cNvPr id="8" name="Text 5"/>
          <p:cNvSpPr txBox="1"/>
          <p:nvPr/>
        </p:nvSpPr>
        <p:spPr>
          <a:xfrm>
            <a:off x="697230" y="2743200"/>
            <a:ext cx="1704003" cy="960120"/>
          </a:xfrm>
          <a:prstGeom prst="rect">
            <a:avLst/>
          </a:prstGeom>
          <a:noFill/>
          <a:ln/>
        </p:spPr>
        <p:txBody>
          <a:bodyPr wrap="square" lIns="0" tIns="0" rIns="0" bIns="0" rtlCol="0" anchor="ctr"/>
          <a:lstStyle/>
          <a:p>
            <a:pPr marL="0" indent="0" algn="ctr">
              <a:buNone/>
            </a:pPr>
            <a:r>
              <a:rPr lang="en-US" sz="2000" b="1" dirty="0">
                <a:solidFill>
                  <a:srgbClr val="14213D"/>
                </a:solidFill>
                <a:latin typeface="Garamond" pitchFamily="34" charset="0"/>
                <a:ea typeface="Garamond" pitchFamily="34" charset="-122"/>
                <a:cs typeface="Garamond" pitchFamily="34" charset="-120"/>
              </a:rPr>
              <a:t>Composition</a:t>
            </a:r>
            <a:endParaRPr lang="en-US" sz="2000" dirty="0"/>
          </a:p>
        </p:txBody>
      </p:sp>
      <p:sp>
        <p:nvSpPr>
          <p:cNvPr id="9" name="Text 6"/>
          <p:cNvSpPr txBox="1"/>
          <p:nvPr/>
        </p:nvSpPr>
        <p:spPr>
          <a:xfrm>
            <a:off x="2643721" y="2743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What substances are made of, down to the atoms, compounds and molecules</a:t>
            </a:r>
            <a:endParaRPr lang="en-US" dirty="0"/>
          </a:p>
        </p:txBody>
      </p:sp>
      <p:sp>
        <p:nvSpPr>
          <p:cNvPr id="10" name="Shape 7"/>
          <p:cNvSpPr/>
          <p:nvPr/>
        </p:nvSpPr>
        <p:spPr>
          <a:xfrm>
            <a:off x="548640" y="3886200"/>
            <a:ext cx="11094415" cy="960120"/>
          </a:xfrm>
          <a:prstGeom prst="roundRect">
            <a:avLst>
              <a:gd name="adj" fmla="val 6667"/>
            </a:avLst>
          </a:prstGeom>
          <a:solidFill>
            <a:srgbClr val="F1F6F8"/>
          </a:solidFill>
          <a:ln/>
        </p:spPr>
        <p:txBody>
          <a:bodyPr/>
          <a:lstStyle/>
          <a:p>
            <a:endParaRPr lang="en-US"/>
          </a:p>
        </p:txBody>
      </p:sp>
      <p:sp>
        <p:nvSpPr>
          <p:cNvPr id="11" name="Text 8"/>
          <p:cNvSpPr txBox="1"/>
          <p:nvPr/>
        </p:nvSpPr>
        <p:spPr>
          <a:xfrm>
            <a:off x="1017270" y="3891727"/>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Properties</a:t>
            </a:r>
            <a:endParaRPr lang="en-US" sz="2000" dirty="0"/>
          </a:p>
        </p:txBody>
      </p:sp>
      <p:sp>
        <p:nvSpPr>
          <p:cNvPr id="12" name="Text 9"/>
          <p:cNvSpPr txBox="1"/>
          <p:nvPr/>
        </p:nvSpPr>
        <p:spPr>
          <a:xfrm>
            <a:off x="2643720" y="387364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How a substance looks, reacts, and behaves under different conditions</a:t>
            </a:r>
            <a:endParaRPr lang="en-US" dirty="0"/>
          </a:p>
        </p:txBody>
      </p:sp>
      <p:sp>
        <p:nvSpPr>
          <p:cNvPr id="13" name="Shape 10"/>
          <p:cNvSpPr/>
          <p:nvPr/>
        </p:nvSpPr>
        <p:spPr>
          <a:xfrm>
            <a:off x="548640" y="5029200"/>
            <a:ext cx="11094415" cy="960120"/>
          </a:xfrm>
          <a:prstGeom prst="roundRect">
            <a:avLst>
              <a:gd name="adj" fmla="val 6667"/>
            </a:avLst>
          </a:prstGeom>
          <a:solidFill>
            <a:srgbClr val="F1F6F8"/>
          </a:solidFill>
          <a:ln/>
        </p:spPr>
        <p:txBody>
          <a:bodyPr/>
          <a:lstStyle/>
          <a:p>
            <a:endParaRPr lang="en-US"/>
          </a:p>
        </p:txBody>
      </p:sp>
      <p:sp>
        <p:nvSpPr>
          <p:cNvPr id="14" name="Text 11"/>
          <p:cNvSpPr txBox="1"/>
          <p:nvPr/>
        </p:nvSpPr>
        <p:spPr>
          <a:xfrm>
            <a:off x="1017270" y="5034727"/>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Change</a:t>
            </a:r>
            <a:endParaRPr lang="en-US" sz="2000" dirty="0"/>
          </a:p>
        </p:txBody>
      </p:sp>
      <p:sp>
        <p:nvSpPr>
          <p:cNvPr id="15" name="Text 12"/>
          <p:cNvSpPr txBox="1"/>
          <p:nvPr/>
        </p:nvSpPr>
        <p:spPr>
          <a:xfrm>
            <a:off x="2643720" y="5029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How matter transforms — physically and chemically — into something new</a:t>
            </a:r>
            <a:endParaRPr lang="en-US" dirty="0"/>
          </a:p>
        </p:txBody>
      </p:sp>
      <p:sp>
        <p:nvSpPr>
          <p:cNvPr id="16"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heartbeat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784080"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Why Chemistry Matters — Especially in Healthcare</a:t>
            </a:r>
            <a:endParaRPr lang="en-US" sz="2800" dirty="0"/>
          </a:p>
        </p:txBody>
      </p:sp>
      <p:sp>
        <p:nvSpPr>
          <p:cNvPr id="5" name="Shape 2"/>
          <p:cNvSpPr/>
          <p:nvPr/>
        </p:nvSpPr>
        <p:spPr>
          <a:xfrm>
            <a:off x="548640" y="1554480"/>
            <a:ext cx="4234375"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a:p>
        </p:txBody>
      </p:sp>
      <p:sp>
        <p:nvSpPr>
          <p:cNvPr id="6" name="Shape 3"/>
          <p:cNvSpPr/>
          <p:nvPr/>
        </p:nvSpPr>
        <p:spPr>
          <a:xfrm>
            <a:off x="801015" y="1664208"/>
            <a:ext cx="777240" cy="758952"/>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7" name="Image 1" descr="/tmp/chem101_topic1/icon_vial_white.png"/>
          <p:cNvPicPr>
            <a:picLocks noChangeAspect="1"/>
          </p:cNvPicPr>
          <p:nvPr/>
        </p:nvPicPr>
        <p:blipFill>
          <a:blip r:embed="rId4"/>
          <a:stretch>
            <a:fillRect/>
          </a:stretch>
        </p:blipFill>
        <p:spPr>
          <a:xfrm>
            <a:off x="992052" y="1827958"/>
            <a:ext cx="404164" cy="404164"/>
          </a:xfrm>
          <a:prstGeom prst="rect">
            <a:avLst/>
          </a:prstGeom>
        </p:spPr>
      </p:pic>
      <p:sp>
        <p:nvSpPr>
          <p:cNvPr id="8" name="Text 4"/>
          <p:cNvSpPr txBox="1"/>
          <p:nvPr/>
        </p:nvSpPr>
        <p:spPr>
          <a:xfrm>
            <a:off x="1769292" y="1860804"/>
            <a:ext cx="2862976" cy="365760"/>
          </a:xfrm>
          <a:prstGeom prst="rect">
            <a:avLst/>
          </a:prstGeom>
          <a:noFill/>
          <a:ln/>
        </p:spPr>
        <p:txBody>
          <a:bodyPr wrap="square" lIns="0" tIns="0" rIns="0" bIns="0" rtlCol="0" anchor="ctr"/>
          <a:lstStyle/>
          <a:p>
            <a:pPr marL="0" indent="0">
              <a:buNone/>
            </a:pPr>
            <a:r>
              <a:rPr lang="en-US" b="1" dirty="0">
                <a:solidFill>
                  <a:srgbClr val="14213D"/>
                </a:solidFill>
                <a:latin typeface="Garamond" pitchFamily="34" charset="0"/>
                <a:ea typeface="Garamond" pitchFamily="34" charset="-122"/>
                <a:cs typeface="Garamond" pitchFamily="34" charset="-120"/>
              </a:rPr>
              <a:t>Medications &amp; Dosages</a:t>
            </a:r>
            <a:endParaRPr lang="en-US" dirty="0"/>
          </a:p>
        </p:txBody>
      </p:sp>
      <p:sp>
        <p:nvSpPr>
          <p:cNvPr id="9" name="Text 5"/>
          <p:cNvSpPr txBox="1"/>
          <p:nvPr/>
        </p:nvSpPr>
        <p:spPr>
          <a:xfrm>
            <a:off x="801015" y="2633472"/>
            <a:ext cx="3831253" cy="59436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Drug concentrations, interactions, and how the body absorbs and breaks down medicine</a:t>
            </a:r>
          </a:p>
          <a:p>
            <a:pPr marL="0" indent="0">
              <a:buNone/>
            </a:pPr>
            <a:endParaRPr lang="en-US" sz="1300" dirty="0">
              <a:solidFill>
                <a:srgbClr val="33414F"/>
              </a:solidFill>
              <a:latin typeface="Garamond" pitchFamily="34" charset="0"/>
            </a:endParaRPr>
          </a:p>
          <a:p>
            <a:pPr marL="0" indent="0">
              <a:buNone/>
            </a:pPr>
            <a:r>
              <a:rPr lang="en-US" sz="1300" b="1" dirty="0">
                <a:solidFill>
                  <a:srgbClr val="33414F"/>
                </a:solidFill>
                <a:latin typeface="Garamond" pitchFamily="34" charset="0"/>
              </a:rPr>
              <a:t>You’re responsible for the drugs you administer!</a:t>
            </a:r>
            <a:endParaRPr lang="en-US" sz="1300" b="1" dirty="0"/>
          </a:p>
        </p:txBody>
      </p:sp>
      <p:sp>
        <p:nvSpPr>
          <p:cNvPr id="10" name="Shape 6"/>
          <p:cNvSpPr/>
          <p:nvPr/>
        </p:nvSpPr>
        <p:spPr>
          <a:xfrm>
            <a:off x="6233008" y="1554480"/>
            <a:ext cx="4897984"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dirty="0"/>
          </a:p>
        </p:txBody>
      </p:sp>
      <p:sp>
        <p:nvSpPr>
          <p:cNvPr id="13" name="Text 8"/>
          <p:cNvSpPr txBox="1"/>
          <p:nvPr/>
        </p:nvSpPr>
        <p:spPr>
          <a:xfrm>
            <a:off x="7567308" y="1866362"/>
            <a:ext cx="4152164" cy="365760"/>
          </a:xfrm>
          <a:prstGeom prst="rect">
            <a:avLst/>
          </a:prstGeom>
          <a:noFill/>
          <a:ln/>
        </p:spPr>
        <p:txBody>
          <a:bodyPr wrap="square" lIns="0" tIns="0" rIns="0" bIns="0" rtlCol="0" anchor="ctr"/>
          <a:lstStyle/>
          <a:p>
            <a:pPr marL="0" indent="0">
              <a:buNone/>
            </a:pPr>
            <a:r>
              <a:rPr lang="en-US" b="1" dirty="0">
                <a:solidFill>
                  <a:srgbClr val="14213D"/>
                </a:solidFill>
                <a:latin typeface="Garamond" pitchFamily="34" charset="0"/>
                <a:ea typeface="Garamond" pitchFamily="34" charset="-122"/>
                <a:cs typeface="Garamond" pitchFamily="34" charset="-120"/>
              </a:rPr>
              <a:t>IV Fluids &amp; Electrolytes</a:t>
            </a:r>
            <a:endParaRPr lang="en-US" dirty="0"/>
          </a:p>
        </p:txBody>
      </p:sp>
      <p:sp>
        <p:nvSpPr>
          <p:cNvPr id="14" name="Text 9"/>
          <p:cNvSpPr txBox="1"/>
          <p:nvPr/>
        </p:nvSpPr>
        <p:spPr>
          <a:xfrm>
            <a:off x="6489040" y="2761488"/>
            <a:ext cx="3760279" cy="59436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Sodium, potassium, and fluid balance all rely on basic chemistry and also important for drip rates</a:t>
            </a:r>
            <a:endParaRPr lang="en-US" sz="1300" dirty="0"/>
          </a:p>
        </p:txBody>
      </p:sp>
      <p:sp>
        <p:nvSpPr>
          <p:cNvPr id="15" name="Shape 10"/>
          <p:cNvSpPr/>
          <p:nvPr/>
        </p:nvSpPr>
        <p:spPr>
          <a:xfrm>
            <a:off x="548640" y="3794760"/>
            <a:ext cx="4234375"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a:p>
        </p:txBody>
      </p:sp>
      <p:sp>
        <p:nvSpPr>
          <p:cNvPr id="18" name="Text 12"/>
          <p:cNvSpPr txBox="1"/>
          <p:nvPr/>
        </p:nvSpPr>
        <p:spPr>
          <a:xfrm>
            <a:off x="1769292" y="4041648"/>
            <a:ext cx="1908405" cy="365760"/>
          </a:xfrm>
          <a:prstGeom prst="rect">
            <a:avLst/>
          </a:prstGeom>
          <a:noFill/>
          <a:ln/>
        </p:spPr>
        <p:txBody>
          <a:bodyPr wrap="square" lIns="0" tIns="0" rIns="0" bIns="0" rtlCol="0" anchor="ctr"/>
          <a:lstStyle/>
          <a:p>
            <a:pPr marL="0" indent="0">
              <a:buNone/>
            </a:pPr>
            <a:r>
              <a:rPr lang="en-US" sz="1600" b="1" dirty="0">
                <a:solidFill>
                  <a:srgbClr val="14213D"/>
                </a:solidFill>
                <a:latin typeface="Garamond" pitchFamily="34" charset="0"/>
                <a:ea typeface="Garamond" pitchFamily="34" charset="-122"/>
                <a:cs typeface="Garamond" pitchFamily="34" charset="-120"/>
              </a:rPr>
              <a:t>Body Chemistry</a:t>
            </a:r>
            <a:endParaRPr lang="en-US" sz="1600" dirty="0"/>
          </a:p>
        </p:txBody>
      </p:sp>
      <p:sp>
        <p:nvSpPr>
          <p:cNvPr id="19" name="Text 13"/>
          <p:cNvSpPr txBox="1"/>
          <p:nvPr/>
        </p:nvSpPr>
        <p:spPr>
          <a:xfrm>
            <a:off x="992052" y="4775429"/>
            <a:ext cx="2873025" cy="59436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Blood pH, enzymes, and metabolism keep the body functioning</a:t>
            </a:r>
            <a:endParaRPr lang="en-US" sz="1300" dirty="0"/>
          </a:p>
        </p:txBody>
      </p:sp>
      <p:sp>
        <p:nvSpPr>
          <p:cNvPr id="20" name="Shape 14"/>
          <p:cNvSpPr/>
          <p:nvPr/>
        </p:nvSpPr>
        <p:spPr>
          <a:xfrm>
            <a:off x="6233008" y="3794760"/>
            <a:ext cx="4897984"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a:p>
        </p:txBody>
      </p:sp>
      <p:sp>
        <p:nvSpPr>
          <p:cNvPr id="23" name="Text 16"/>
          <p:cNvSpPr txBox="1"/>
          <p:nvPr/>
        </p:nvSpPr>
        <p:spPr>
          <a:xfrm>
            <a:off x="7567308" y="4041647"/>
            <a:ext cx="4897984" cy="365760"/>
          </a:xfrm>
          <a:prstGeom prst="rect">
            <a:avLst/>
          </a:prstGeom>
          <a:noFill/>
          <a:ln/>
        </p:spPr>
        <p:txBody>
          <a:bodyPr wrap="square" lIns="0" tIns="0" rIns="0" bIns="0" rtlCol="0" anchor="ctr"/>
          <a:lstStyle/>
          <a:p>
            <a:pPr marL="0" indent="0">
              <a:buNone/>
            </a:pPr>
            <a:r>
              <a:rPr lang="en-US" sz="1600" b="1" dirty="0">
                <a:solidFill>
                  <a:srgbClr val="14213D"/>
                </a:solidFill>
                <a:latin typeface="Garamond" pitchFamily="34" charset="0"/>
                <a:ea typeface="Garamond" pitchFamily="34" charset="-122"/>
                <a:cs typeface="Garamond" pitchFamily="34" charset="-120"/>
              </a:rPr>
              <a:t>Reading Lab Results</a:t>
            </a:r>
            <a:endParaRPr lang="en-US" sz="1600" dirty="0"/>
          </a:p>
        </p:txBody>
      </p:sp>
      <p:sp>
        <p:nvSpPr>
          <p:cNvPr id="24" name="Text 17"/>
          <p:cNvSpPr txBox="1"/>
          <p:nvPr/>
        </p:nvSpPr>
        <p:spPr>
          <a:xfrm>
            <a:off x="6651541" y="4654294"/>
            <a:ext cx="4897984" cy="59436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Interpreting blood work and diagnostic tests starts with chemistry</a:t>
            </a:r>
            <a:endParaRPr lang="en-US" sz="1300" dirty="0"/>
          </a:p>
        </p:txBody>
      </p:sp>
      <p:sp>
        <p:nvSpPr>
          <p:cNvPr id="25" name="Text 1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26" name="Text 19"/>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4</a:t>
            </a:r>
            <a:endParaRPr lang="en-US" sz="900" dirty="0"/>
          </a:p>
        </p:txBody>
      </p:sp>
      <p:sp>
        <p:nvSpPr>
          <p:cNvPr id="27" name="Shape 3">
            <a:extLst>
              <a:ext uri="{FF2B5EF4-FFF2-40B4-BE49-F238E27FC236}">
                <a16:creationId xmlns:a16="http://schemas.microsoft.com/office/drawing/2014/main" id="{3699DCB5-8B56-56E4-40EF-E0C805EC849C}"/>
              </a:ext>
            </a:extLst>
          </p:cNvPr>
          <p:cNvSpPr/>
          <p:nvPr/>
        </p:nvSpPr>
        <p:spPr>
          <a:xfrm>
            <a:off x="6560820" y="1664208"/>
            <a:ext cx="777240" cy="758952"/>
          </a:xfrm>
          <a:prstGeom prst="ellipse">
            <a:avLst/>
          </a:prstGeom>
          <a:solidFill>
            <a:srgbClr val="FFC000"/>
          </a:solidFill>
          <a:ln/>
          <a:effectLst>
            <a:outerShdw blurRad="76200" dist="38100" dir="5400000" algn="bl" rotWithShape="0">
              <a:srgbClr val="1B1B1B">
                <a:alpha val="18000"/>
              </a:srgbClr>
            </a:outerShdw>
          </a:effectLst>
        </p:spPr>
        <p:txBody>
          <a:bodyPr/>
          <a:lstStyle/>
          <a:p>
            <a:endParaRPr lang="en-US"/>
          </a:p>
        </p:txBody>
      </p:sp>
      <p:pic>
        <p:nvPicPr>
          <p:cNvPr id="12" name="Image 2" descr="/tmp/chem101_topic1/icon_drop_white.png"/>
          <p:cNvPicPr>
            <a:picLocks noChangeAspect="1"/>
          </p:cNvPicPr>
          <p:nvPr/>
        </p:nvPicPr>
        <p:blipFill>
          <a:blip r:embed="rId5"/>
          <a:stretch>
            <a:fillRect/>
          </a:stretch>
        </p:blipFill>
        <p:spPr>
          <a:xfrm>
            <a:off x="6651541" y="1794183"/>
            <a:ext cx="567944" cy="567944"/>
          </a:xfrm>
          <a:prstGeom prst="rect">
            <a:avLst/>
          </a:prstGeom>
        </p:spPr>
      </p:pic>
      <p:sp>
        <p:nvSpPr>
          <p:cNvPr id="28" name="Shape 3">
            <a:extLst>
              <a:ext uri="{FF2B5EF4-FFF2-40B4-BE49-F238E27FC236}">
                <a16:creationId xmlns:a16="http://schemas.microsoft.com/office/drawing/2014/main" id="{7F219987-FABB-53C1-8E9D-DA8A443C4126}"/>
              </a:ext>
            </a:extLst>
          </p:cNvPr>
          <p:cNvSpPr/>
          <p:nvPr/>
        </p:nvSpPr>
        <p:spPr>
          <a:xfrm>
            <a:off x="818118" y="3886200"/>
            <a:ext cx="760137" cy="758952"/>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17" name="Image 3" descr="/tmp/chem101_topic1/icon_heartbeat_white.png"/>
          <p:cNvPicPr>
            <a:picLocks noChangeAspect="1"/>
          </p:cNvPicPr>
          <p:nvPr/>
        </p:nvPicPr>
        <p:blipFill>
          <a:blip r:embed="rId3"/>
          <a:stretch>
            <a:fillRect/>
          </a:stretch>
        </p:blipFill>
        <p:spPr>
          <a:xfrm>
            <a:off x="993684" y="4059936"/>
            <a:ext cx="393482" cy="402335"/>
          </a:xfrm>
          <a:prstGeom prst="rect">
            <a:avLst/>
          </a:prstGeom>
        </p:spPr>
      </p:pic>
      <p:sp>
        <p:nvSpPr>
          <p:cNvPr id="29" name="Shape 3">
            <a:extLst>
              <a:ext uri="{FF2B5EF4-FFF2-40B4-BE49-F238E27FC236}">
                <a16:creationId xmlns:a16="http://schemas.microsoft.com/office/drawing/2014/main" id="{A1864F71-F4EA-EB51-F907-D2BE487AF2FF}"/>
              </a:ext>
            </a:extLst>
          </p:cNvPr>
          <p:cNvSpPr/>
          <p:nvPr/>
        </p:nvSpPr>
        <p:spPr>
          <a:xfrm>
            <a:off x="6580097" y="3845052"/>
            <a:ext cx="777240" cy="758952"/>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22" name="Image 4" descr="/tmp/chem101_topic1/icon_chart_white.png"/>
          <p:cNvPicPr>
            <a:picLocks noChangeAspect="1"/>
          </p:cNvPicPr>
          <p:nvPr/>
        </p:nvPicPr>
        <p:blipFill>
          <a:blip r:embed="rId6"/>
          <a:stretch>
            <a:fillRect/>
          </a:stretch>
        </p:blipFill>
        <p:spPr>
          <a:xfrm>
            <a:off x="6756521" y="4017130"/>
            <a:ext cx="414795" cy="4147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branches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784080"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The main disciplines of chemistry</a:t>
            </a:r>
            <a:endParaRPr lang="en-US" sz="2800" dirty="0"/>
          </a:p>
        </p:txBody>
      </p:sp>
      <p:sp>
        <p:nvSpPr>
          <p:cNvPr id="5" name="Shape 2"/>
          <p:cNvSpPr/>
          <p:nvPr/>
        </p:nvSpPr>
        <p:spPr>
          <a:xfrm>
            <a:off x="548640" y="1508760"/>
            <a:ext cx="2154367" cy="1691640"/>
          </a:xfrm>
          <a:prstGeom prst="roundRect">
            <a:avLst>
              <a:gd name="adj" fmla="val 4324"/>
            </a:avLst>
          </a:prstGeom>
          <a:solidFill>
            <a:srgbClr val="F1F6F8"/>
          </a:solidFill>
          <a:ln/>
        </p:spPr>
        <p:txBody>
          <a:bodyPr/>
          <a:lstStyle/>
          <a:p>
            <a:endParaRPr lang="en-US"/>
          </a:p>
        </p:txBody>
      </p:sp>
      <p:sp>
        <p:nvSpPr>
          <p:cNvPr id="6" name="Shape 3"/>
          <p:cNvSpPr/>
          <p:nvPr/>
        </p:nvSpPr>
        <p:spPr>
          <a:xfrm>
            <a:off x="731520" y="1691640"/>
            <a:ext cx="457200" cy="73152"/>
          </a:xfrm>
          <a:prstGeom prst="roundRect">
            <a:avLst>
              <a:gd name="adj" fmla="val 50000"/>
            </a:avLst>
          </a:prstGeom>
          <a:solidFill>
            <a:srgbClr val="B5121A"/>
          </a:solidFill>
          <a:ln/>
        </p:spPr>
        <p:txBody>
          <a:bodyPr/>
          <a:lstStyle/>
          <a:p>
            <a:endParaRPr lang="en-US"/>
          </a:p>
        </p:txBody>
      </p:sp>
      <p:sp>
        <p:nvSpPr>
          <p:cNvPr id="7" name="Text 4"/>
          <p:cNvSpPr txBox="1"/>
          <p:nvPr/>
        </p:nvSpPr>
        <p:spPr>
          <a:xfrm>
            <a:off x="731520" y="1856232"/>
            <a:ext cx="3179978"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Organic</a:t>
            </a:r>
            <a:endParaRPr lang="en-US" sz="1500" dirty="0"/>
          </a:p>
        </p:txBody>
      </p:sp>
      <p:sp>
        <p:nvSpPr>
          <p:cNvPr id="8" name="Text 5"/>
          <p:cNvSpPr txBox="1"/>
          <p:nvPr/>
        </p:nvSpPr>
        <p:spPr>
          <a:xfrm>
            <a:off x="731520" y="2194560"/>
            <a:ext cx="1780568" cy="86868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Carbon-based compounds — the chemistry of living things</a:t>
            </a:r>
            <a:endParaRPr lang="en-US" sz="1300" dirty="0"/>
          </a:p>
        </p:txBody>
      </p:sp>
      <p:sp>
        <p:nvSpPr>
          <p:cNvPr id="9" name="Shape 6"/>
          <p:cNvSpPr/>
          <p:nvPr/>
        </p:nvSpPr>
        <p:spPr>
          <a:xfrm>
            <a:off x="4322978" y="1490472"/>
            <a:ext cx="2154367" cy="1691640"/>
          </a:xfrm>
          <a:prstGeom prst="roundRect">
            <a:avLst>
              <a:gd name="adj" fmla="val 4324"/>
            </a:avLst>
          </a:prstGeom>
          <a:solidFill>
            <a:srgbClr val="F1F6F8"/>
          </a:solidFill>
          <a:ln/>
        </p:spPr>
        <p:txBody>
          <a:bodyPr/>
          <a:lstStyle/>
          <a:p>
            <a:endParaRPr lang="en-US"/>
          </a:p>
        </p:txBody>
      </p:sp>
      <p:sp>
        <p:nvSpPr>
          <p:cNvPr id="10" name="Shape 7"/>
          <p:cNvSpPr/>
          <p:nvPr/>
        </p:nvSpPr>
        <p:spPr>
          <a:xfrm>
            <a:off x="4505858" y="1673352"/>
            <a:ext cx="457200" cy="73152"/>
          </a:xfrm>
          <a:prstGeom prst="roundRect">
            <a:avLst>
              <a:gd name="adj" fmla="val 50000"/>
            </a:avLst>
          </a:prstGeom>
          <a:solidFill>
            <a:srgbClr val="B5121A"/>
          </a:solidFill>
          <a:ln/>
        </p:spPr>
        <p:txBody>
          <a:bodyPr/>
          <a:lstStyle/>
          <a:p>
            <a:endParaRPr lang="en-US"/>
          </a:p>
        </p:txBody>
      </p:sp>
      <p:sp>
        <p:nvSpPr>
          <p:cNvPr id="11" name="Text 8"/>
          <p:cNvSpPr txBox="1"/>
          <p:nvPr/>
        </p:nvSpPr>
        <p:spPr>
          <a:xfrm>
            <a:off x="4505858" y="1837944"/>
            <a:ext cx="3179978"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Inorganic</a:t>
            </a:r>
            <a:endParaRPr lang="en-US" sz="1500" dirty="0"/>
          </a:p>
        </p:txBody>
      </p:sp>
      <p:sp>
        <p:nvSpPr>
          <p:cNvPr id="12" name="Text 9"/>
          <p:cNvSpPr txBox="1"/>
          <p:nvPr/>
        </p:nvSpPr>
        <p:spPr>
          <a:xfrm>
            <a:off x="4505858" y="2176272"/>
            <a:ext cx="1774362" cy="86868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Everything else — metals, minerals, and salts</a:t>
            </a:r>
            <a:endParaRPr lang="en-US" sz="1300" dirty="0"/>
          </a:p>
        </p:txBody>
      </p:sp>
      <p:sp>
        <p:nvSpPr>
          <p:cNvPr id="13" name="Shape 10"/>
          <p:cNvSpPr/>
          <p:nvPr/>
        </p:nvSpPr>
        <p:spPr>
          <a:xfrm>
            <a:off x="8097317" y="1508760"/>
            <a:ext cx="2154367" cy="1691640"/>
          </a:xfrm>
          <a:prstGeom prst="roundRect">
            <a:avLst>
              <a:gd name="adj" fmla="val 4324"/>
            </a:avLst>
          </a:prstGeom>
          <a:solidFill>
            <a:srgbClr val="F1F6F8"/>
          </a:solidFill>
          <a:ln/>
        </p:spPr>
        <p:txBody>
          <a:bodyPr/>
          <a:lstStyle/>
          <a:p>
            <a:endParaRPr lang="en-US"/>
          </a:p>
        </p:txBody>
      </p:sp>
      <p:sp>
        <p:nvSpPr>
          <p:cNvPr id="14" name="Shape 11"/>
          <p:cNvSpPr/>
          <p:nvPr/>
        </p:nvSpPr>
        <p:spPr>
          <a:xfrm>
            <a:off x="8280197" y="1691640"/>
            <a:ext cx="457200" cy="73152"/>
          </a:xfrm>
          <a:prstGeom prst="roundRect">
            <a:avLst>
              <a:gd name="adj" fmla="val 50000"/>
            </a:avLst>
          </a:prstGeom>
          <a:solidFill>
            <a:srgbClr val="B5121A"/>
          </a:solidFill>
          <a:ln/>
        </p:spPr>
        <p:txBody>
          <a:bodyPr/>
          <a:lstStyle/>
          <a:p>
            <a:endParaRPr lang="en-US"/>
          </a:p>
        </p:txBody>
      </p:sp>
      <p:sp>
        <p:nvSpPr>
          <p:cNvPr id="15" name="Text 12"/>
          <p:cNvSpPr txBox="1"/>
          <p:nvPr/>
        </p:nvSpPr>
        <p:spPr>
          <a:xfrm>
            <a:off x="8280197" y="1856232"/>
            <a:ext cx="3179978"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Biochemistry</a:t>
            </a:r>
            <a:endParaRPr lang="en-US" sz="1500" dirty="0"/>
          </a:p>
        </p:txBody>
      </p:sp>
      <p:sp>
        <p:nvSpPr>
          <p:cNvPr id="16" name="Text 13"/>
          <p:cNvSpPr txBox="1"/>
          <p:nvPr/>
        </p:nvSpPr>
        <p:spPr>
          <a:xfrm>
            <a:off x="8280197" y="2194560"/>
            <a:ext cx="1898783" cy="86868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The chemistry that happens inside living organisms</a:t>
            </a:r>
            <a:endParaRPr lang="en-US" sz="1300" dirty="0"/>
          </a:p>
        </p:txBody>
      </p:sp>
      <p:sp>
        <p:nvSpPr>
          <p:cNvPr id="17" name="Shape 14"/>
          <p:cNvSpPr/>
          <p:nvPr/>
        </p:nvSpPr>
        <p:spPr>
          <a:xfrm>
            <a:off x="548640" y="3429000"/>
            <a:ext cx="2154367" cy="1691640"/>
          </a:xfrm>
          <a:prstGeom prst="roundRect">
            <a:avLst>
              <a:gd name="adj" fmla="val 4324"/>
            </a:avLst>
          </a:prstGeom>
          <a:solidFill>
            <a:srgbClr val="F1F6F8"/>
          </a:solidFill>
          <a:ln/>
        </p:spPr>
        <p:txBody>
          <a:bodyPr/>
          <a:lstStyle/>
          <a:p>
            <a:endParaRPr lang="en-US"/>
          </a:p>
        </p:txBody>
      </p:sp>
      <p:sp>
        <p:nvSpPr>
          <p:cNvPr id="18" name="Shape 15"/>
          <p:cNvSpPr/>
          <p:nvPr/>
        </p:nvSpPr>
        <p:spPr>
          <a:xfrm>
            <a:off x="731520" y="3611880"/>
            <a:ext cx="457200" cy="73152"/>
          </a:xfrm>
          <a:prstGeom prst="roundRect">
            <a:avLst>
              <a:gd name="adj" fmla="val 50000"/>
            </a:avLst>
          </a:prstGeom>
          <a:solidFill>
            <a:srgbClr val="B5121A"/>
          </a:solidFill>
          <a:ln/>
        </p:spPr>
        <p:txBody>
          <a:bodyPr/>
          <a:lstStyle/>
          <a:p>
            <a:endParaRPr lang="en-US"/>
          </a:p>
        </p:txBody>
      </p:sp>
      <p:sp>
        <p:nvSpPr>
          <p:cNvPr id="19" name="Text 16"/>
          <p:cNvSpPr txBox="1"/>
          <p:nvPr/>
        </p:nvSpPr>
        <p:spPr>
          <a:xfrm>
            <a:off x="731520" y="3776472"/>
            <a:ext cx="3179978"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Analytical</a:t>
            </a:r>
            <a:endParaRPr lang="en-US" sz="1500" dirty="0"/>
          </a:p>
        </p:txBody>
      </p:sp>
      <p:sp>
        <p:nvSpPr>
          <p:cNvPr id="20" name="Text 17"/>
          <p:cNvSpPr txBox="1"/>
          <p:nvPr/>
        </p:nvSpPr>
        <p:spPr>
          <a:xfrm>
            <a:off x="731520" y="4114800"/>
            <a:ext cx="1700181" cy="86868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Identifying and measuring what's in a substance</a:t>
            </a:r>
            <a:endParaRPr lang="en-US" sz="1300" dirty="0"/>
          </a:p>
        </p:txBody>
      </p:sp>
      <p:sp>
        <p:nvSpPr>
          <p:cNvPr id="21" name="Shape 18"/>
          <p:cNvSpPr/>
          <p:nvPr/>
        </p:nvSpPr>
        <p:spPr>
          <a:xfrm>
            <a:off x="4322978" y="3429000"/>
            <a:ext cx="2154367" cy="1691640"/>
          </a:xfrm>
          <a:prstGeom prst="roundRect">
            <a:avLst>
              <a:gd name="adj" fmla="val 4324"/>
            </a:avLst>
          </a:prstGeom>
          <a:solidFill>
            <a:srgbClr val="F1F6F8"/>
          </a:solidFill>
          <a:ln/>
        </p:spPr>
        <p:txBody>
          <a:bodyPr/>
          <a:lstStyle/>
          <a:p>
            <a:endParaRPr lang="en-US"/>
          </a:p>
        </p:txBody>
      </p:sp>
      <p:sp>
        <p:nvSpPr>
          <p:cNvPr id="22" name="Shape 19"/>
          <p:cNvSpPr/>
          <p:nvPr/>
        </p:nvSpPr>
        <p:spPr>
          <a:xfrm>
            <a:off x="4505858" y="3611880"/>
            <a:ext cx="457200" cy="73152"/>
          </a:xfrm>
          <a:prstGeom prst="roundRect">
            <a:avLst>
              <a:gd name="adj" fmla="val 50000"/>
            </a:avLst>
          </a:prstGeom>
          <a:solidFill>
            <a:srgbClr val="B5121A"/>
          </a:solidFill>
          <a:ln/>
        </p:spPr>
        <p:txBody>
          <a:bodyPr/>
          <a:lstStyle/>
          <a:p>
            <a:endParaRPr lang="en-US"/>
          </a:p>
        </p:txBody>
      </p:sp>
      <p:sp>
        <p:nvSpPr>
          <p:cNvPr id="23" name="Text 20"/>
          <p:cNvSpPr txBox="1"/>
          <p:nvPr/>
        </p:nvSpPr>
        <p:spPr>
          <a:xfrm>
            <a:off x="4505858" y="3776472"/>
            <a:ext cx="3179978"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Physical</a:t>
            </a:r>
            <a:endParaRPr lang="en-US" sz="1500" dirty="0"/>
          </a:p>
        </p:txBody>
      </p:sp>
      <p:sp>
        <p:nvSpPr>
          <p:cNvPr id="24" name="Text 21"/>
          <p:cNvSpPr txBox="1"/>
          <p:nvPr/>
        </p:nvSpPr>
        <p:spPr>
          <a:xfrm>
            <a:off x="4505858" y="4114800"/>
            <a:ext cx="1590142" cy="86868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The energy and physics behind chemical behavior</a:t>
            </a:r>
            <a:endParaRPr lang="en-US" sz="1300" dirty="0"/>
          </a:p>
        </p:txBody>
      </p:sp>
      <p:sp>
        <p:nvSpPr>
          <p:cNvPr id="25" name="Shape 22"/>
          <p:cNvSpPr/>
          <p:nvPr/>
        </p:nvSpPr>
        <p:spPr>
          <a:xfrm>
            <a:off x="8097317" y="3429000"/>
            <a:ext cx="2154367" cy="1691640"/>
          </a:xfrm>
          <a:prstGeom prst="roundRect">
            <a:avLst>
              <a:gd name="adj" fmla="val 4324"/>
            </a:avLst>
          </a:prstGeom>
          <a:solidFill>
            <a:srgbClr val="F1F6F8"/>
          </a:solidFill>
          <a:ln/>
        </p:spPr>
        <p:txBody>
          <a:bodyPr/>
          <a:lstStyle/>
          <a:p>
            <a:endParaRPr lang="en-US"/>
          </a:p>
        </p:txBody>
      </p:sp>
      <p:sp>
        <p:nvSpPr>
          <p:cNvPr id="26" name="Shape 23"/>
          <p:cNvSpPr/>
          <p:nvPr/>
        </p:nvSpPr>
        <p:spPr>
          <a:xfrm>
            <a:off x="8280197" y="3611880"/>
            <a:ext cx="457200" cy="73152"/>
          </a:xfrm>
          <a:prstGeom prst="roundRect">
            <a:avLst>
              <a:gd name="adj" fmla="val 50000"/>
            </a:avLst>
          </a:prstGeom>
          <a:solidFill>
            <a:srgbClr val="B5121A"/>
          </a:solidFill>
          <a:ln/>
        </p:spPr>
        <p:txBody>
          <a:bodyPr/>
          <a:lstStyle/>
          <a:p>
            <a:endParaRPr lang="en-US"/>
          </a:p>
        </p:txBody>
      </p:sp>
      <p:sp>
        <p:nvSpPr>
          <p:cNvPr id="27" name="Text 24"/>
          <p:cNvSpPr txBox="1"/>
          <p:nvPr/>
        </p:nvSpPr>
        <p:spPr>
          <a:xfrm>
            <a:off x="8280197" y="3776472"/>
            <a:ext cx="3179978"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Environmental</a:t>
            </a:r>
            <a:endParaRPr lang="en-US" sz="1500" dirty="0"/>
          </a:p>
        </p:txBody>
      </p:sp>
      <p:sp>
        <p:nvSpPr>
          <p:cNvPr id="28" name="Text 25"/>
          <p:cNvSpPr txBox="1"/>
          <p:nvPr/>
        </p:nvSpPr>
        <p:spPr>
          <a:xfrm>
            <a:off x="8280197" y="4114800"/>
            <a:ext cx="1727961" cy="868680"/>
          </a:xfrm>
          <a:prstGeom prst="rect">
            <a:avLst/>
          </a:prstGeom>
          <a:noFill/>
          <a:ln/>
        </p:spPr>
        <p:txBody>
          <a:bodyPr wrap="square" lIns="0" tIns="0" rIns="0" bIns="0" rtlCol="0" anchor="ctr"/>
          <a:lstStyle/>
          <a:p>
            <a:pPr marL="0" indent="0">
              <a:buNone/>
            </a:pPr>
            <a:r>
              <a:rPr lang="en-US" sz="1300" dirty="0">
                <a:solidFill>
                  <a:srgbClr val="33414F"/>
                </a:solidFill>
                <a:latin typeface="Garamond" pitchFamily="34" charset="0"/>
                <a:ea typeface="Garamond" pitchFamily="34" charset="-122"/>
                <a:cs typeface="Garamond" pitchFamily="34" charset="-120"/>
              </a:rPr>
              <a:t>Chemistry in air, water, and soil systems</a:t>
            </a:r>
            <a:endParaRPr lang="en-US" sz="1300" dirty="0"/>
          </a:p>
        </p:txBody>
      </p:sp>
      <p:sp>
        <p:nvSpPr>
          <p:cNvPr id="29" name="Text 26"/>
          <p:cNvSpPr txBox="1"/>
          <p:nvPr/>
        </p:nvSpPr>
        <p:spPr>
          <a:xfrm>
            <a:off x="548640" y="5257800"/>
            <a:ext cx="11094415" cy="457200"/>
          </a:xfrm>
          <a:prstGeom prst="rect">
            <a:avLst/>
          </a:prstGeom>
          <a:noFill/>
          <a:ln/>
        </p:spPr>
        <p:txBody>
          <a:bodyPr wrap="square" lIns="0" tIns="0" rIns="0" bIns="0" rtlCol="0" anchor="ctr"/>
          <a:lstStyle/>
          <a:p>
            <a:pPr marL="0" indent="0">
              <a:buNone/>
            </a:pPr>
            <a:r>
              <a:rPr lang="en-US" sz="1300" dirty="0">
                <a:solidFill>
                  <a:srgbClr val="63737D"/>
                </a:solidFill>
                <a:latin typeface="Garamond" pitchFamily="34" charset="0"/>
                <a:ea typeface="Garamond" pitchFamily="34" charset="-122"/>
                <a:cs typeface="Garamond" pitchFamily="34" charset="-120"/>
              </a:rPr>
              <a:t>We will barrow concepts and foundational parts of all these areas during the course</a:t>
            </a:r>
            <a:endParaRPr lang="en-US" sz="1300" dirty="0"/>
          </a:p>
        </p:txBody>
      </p:sp>
      <p:sp>
        <p:nvSpPr>
          <p:cNvPr id="30" name="Text 2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31" name="Text 28"/>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754880" cy="4754880"/>
          </a:xfrm>
          <a:prstGeom prst="ellipse">
            <a:avLst/>
          </a:prstGeom>
          <a:solidFill>
            <a:srgbClr val="1E3A5F"/>
          </a:solidFill>
          <a:ln/>
        </p:spPr>
        <p:txBody>
          <a:bodyPr/>
          <a:lstStyle/>
          <a:p>
            <a:endParaRPr lang="en-US"/>
          </a:p>
        </p:txBody>
      </p:sp>
      <p:sp>
        <p:nvSpPr>
          <p:cNvPr id="3" name="Shape 1"/>
          <p:cNvSpPr/>
          <p:nvPr/>
        </p:nvSpPr>
        <p:spPr>
          <a:xfrm>
            <a:off x="5592928" y="1234440"/>
            <a:ext cx="1005840" cy="10058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4" name="Image 0" descr="/tmp/chem101_topic1/icon_history_white.png"/>
          <p:cNvPicPr>
            <a:picLocks noChangeAspect="1"/>
          </p:cNvPicPr>
          <p:nvPr/>
        </p:nvPicPr>
        <p:blipFill>
          <a:blip r:embed="rId3"/>
          <a:stretch>
            <a:fillRect/>
          </a:stretch>
        </p:blipFill>
        <p:spPr>
          <a:xfrm>
            <a:off x="5844388" y="1485900"/>
            <a:ext cx="502920" cy="502920"/>
          </a:xfrm>
          <a:prstGeom prst="rect">
            <a:avLst/>
          </a:prstGeom>
        </p:spPr>
      </p:pic>
      <p:sp>
        <p:nvSpPr>
          <p:cNvPr id="5" name="Text 2"/>
          <p:cNvSpPr txBox="1"/>
          <p:nvPr/>
        </p:nvSpPr>
        <p:spPr>
          <a:xfrm>
            <a:off x="914400" y="2514600"/>
            <a:ext cx="10362895"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A Quick History of Chemistry</a:t>
            </a:r>
            <a:endParaRPr lang="en-US" sz="3800" dirty="0"/>
          </a:p>
        </p:txBody>
      </p:sp>
      <p:sp>
        <p:nvSpPr>
          <p:cNvPr id="6" name="Text 3"/>
          <p:cNvSpPr txBox="1"/>
          <p:nvPr/>
        </p:nvSpPr>
        <p:spPr>
          <a:xfrm>
            <a:off x="914400" y="3474720"/>
            <a:ext cx="10362895" cy="548640"/>
          </a:xfrm>
          <a:prstGeom prst="rect">
            <a:avLst/>
          </a:prstGeom>
          <a:noFill/>
          <a:ln/>
        </p:spPr>
        <p:txBody>
          <a:bodyPr wrap="square" lIns="0" tIns="0" rIns="0" bIns="0" rtlCol="0" anchor="ctr"/>
          <a:lstStyle/>
          <a:p>
            <a:pPr marL="0" indent="0" algn="ctr">
              <a:buNone/>
            </a:pPr>
            <a:r>
              <a:rPr lang="en-US" sz="1800" i="1" dirty="0">
                <a:solidFill>
                  <a:srgbClr val="CADCEA"/>
                </a:solidFill>
                <a:latin typeface="Garamond" pitchFamily="34" charset="0"/>
                <a:ea typeface="Garamond" pitchFamily="34" charset="-122"/>
                <a:cs typeface="Garamond" pitchFamily="34" charset="-120"/>
              </a:rPr>
              <a:t>Many have contributed to the modern chemical sciences </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drop_white.png"/>
          <p:cNvPicPr>
            <a:picLocks noChangeAspect="1"/>
          </p:cNvPicPr>
          <p:nvPr/>
        </p:nvPicPr>
        <p:blipFill>
          <a:blip r:embed="rId3"/>
          <a:stretch>
            <a:fillRect/>
          </a:stretch>
        </p:blipFill>
        <p:spPr>
          <a:xfrm>
            <a:off x="735178" y="689458"/>
            <a:ext cx="404165" cy="404165"/>
          </a:xfrm>
          <a:prstGeom prst="rect">
            <a:avLst/>
          </a:prstGeom>
        </p:spPr>
      </p:pic>
      <p:sp>
        <p:nvSpPr>
          <p:cNvPr id="4" name="Text 1"/>
          <p:cNvSpPr txBox="1"/>
          <p:nvPr/>
        </p:nvSpPr>
        <p:spPr>
          <a:xfrm>
            <a:off x="1508760" y="411480"/>
            <a:ext cx="8778240" cy="54864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Ancient Roots: Alchemy</a:t>
            </a:r>
            <a:endParaRPr lang="en-US" sz="2400" dirty="0"/>
          </a:p>
        </p:txBody>
      </p:sp>
      <p:sp>
        <p:nvSpPr>
          <p:cNvPr id="5" name="Text 2"/>
          <p:cNvSpPr txBox="1"/>
          <p:nvPr/>
        </p:nvSpPr>
        <p:spPr>
          <a:xfrm>
            <a:off x="1508760" y="932688"/>
            <a:ext cx="8778240" cy="320040"/>
          </a:xfrm>
          <a:prstGeom prst="rect">
            <a:avLst/>
          </a:prstGeom>
          <a:noFill/>
          <a:ln/>
        </p:spPr>
        <p:txBody>
          <a:bodyPr wrap="square" lIns="0" tIns="0" rIns="0" bIns="0" rtlCol="0" anchor="ctr"/>
          <a:lstStyle/>
          <a:p>
            <a:pPr marL="0" indent="0">
              <a:buNone/>
            </a:pPr>
            <a:r>
              <a:rPr lang="en-US" sz="1300" b="1" dirty="0">
                <a:solidFill>
                  <a:srgbClr val="F4A100"/>
                </a:solidFill>
                <a:latin typeface="Garamond" pitchFamily="34" charset="0"/>
                <a:ea typeface="Garamond" pitchFamily="34" charset="-122"/>
                <a:cs typeface="Garamond" pitchFamily="34" charset="-120"/>
              </a:rPr>
              <a:t>≈ 3000 BCE – 1600s CE</a:t>
            </a:r>
            <a:endParaRPr lang="en-US" sz="1300" dirty="0"/>
          </a:p>
        </p:txBody>
      </p:sp>
      <p:sp>
        <p:nvSpPr>
          <p:cNvPr id="6" name="Shape 3"/>
          <p:cNvSpPr/>
          <p:nvPr/>
        </p:nvSpPr>
        <p:spPr>
          <a:xfrm>
            <a:off x="548640" y="1463040"/>
            <a:ext cx="11094415" cy="914400"/>
          </a:xfrm>
          <a:prstGeom prst="roundRect">
            <a:avLst>
              <a:gd name="adj" fmla="val 7000"/>
            </a:avLst>
          </a:prstGeom>
          <a:solidFill>
            <a:srgbClr val="F1F6F8"/>
          </a:solidFill>
          <a:ln/>
        </p:spPr>
        <p:txBody>
          <a:bodyPr/>
          <a:lstStyle/>
          <a:p>
            <a:endParaRPr lang="en-US"/>
          </a:p>
        </p:txBody>
      </p:sp>
      <p:sp>
        <p:nvSpPr>
          <p:cNvPr id="7" name="Text 4"/>
          <p:cNvSpPr txBox="1"/>
          <p:nvPr/>
        </p:nvSpPr>
        <p:spPr>
          <a:xfrm>
            <a:off x="822960" y="1463040"/>
            <a:ext cx="10545775" cy="914400"/>
          </a:xfrm>
          <a:prstGeom prst="rect">
            <a:avLst/>
          </a:prstGeom>
          <a:noFill/>
          <a:ln/>
        </p:spPr>
        <p:txBody>
          <a:bodyPr wrap="square" lIns="0" tIns="0" rIns="0" bIns="0" rtlCol="0" anchor="ctr"/>
          <a:lstStyle/>
          <a:p>
            <a:pPr marL="0" indent="0">
              <a:buNone/>
            </a:pPr>
            <a:r>
              <a:rPr lang="en-US" sz="1600" dirty="0">
                <a:solidFill>
                  <a:srgbClr val="33414F"/>
                </a:solidFill>
                <a:latin typeface="Garamond" pitchFamily="34" charset="0"/>
                <a:ea typeface="Garamond" pitchFamily="34" charset="-122"/>
                <a:cs typeface="Garamond" pitchFamily="34" charset="-120"/>
              </a:rPr>
              <a:t>Long before chemistry was a science, alchemists in Egypt, China, and the Islamic world experimented with metals, minerals, and substances — searching for ways to turn base metals into gold and to find an “elixir of life.”</a:t>
            </a:r>
            <a:endParaRPr lang="en-US" sz="1600" dirty="0"/>
          </a:p>
        </p:txBody>
      </p:sp>
      <p:sp>
        <p:nvSpPr>
          <p:cNvPr id="8" name="Text 5"/>
          <p:cNvSpPr txBox="1"/>
          <p:nvPr/>
        </p:nvSpPr>
        <p:spPr>
          <a:xfrm>
            <a:off x="548640" y="2697480"/>
            <a:ext cx="9359035" cy="3200400"/>
          </a:xfrm>
          <a:prstGeom prst="rect">
            <a:avLst/>
          </a:prstGeom>
          <a:noFill/>
          <a:ln/>
        </p:spPr>
        <p:txBody>
          <a:bodyPr wrap="square" lIns="0" tIns="0" rIns="0" bIns="0" rtlCol="0" anchor="t"/>
          <a:lstStyle/>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Alchemists rarely used a systematic method — many of their ideas were mystical rather than testable</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But they developed lab techniques we still use today: </a:t>
            </a:r>
            <a:br>
              <a:rPr lang="en-US" sz="2000" dirty="0">
                <a:solidFill>
                  <a:srgbClr val="33414F"/>
                </a:solidFill>
                <a:latin typeface="Garamond" pitchFamily="34" charset="0"/>
                <a:ea typeface="Garamond" pitchFamily="34" charset="-122"/>
                <a:cs typeface="Garamond" pitchFamily="34" charset="-120"/>
              </a:rPr>
            </a:br>
            <a:r>
              <a:rPr lang="en-US" sz="2000" dirty="0">
                <a:solidFill>
                  <a:srgbClr val="33414F"/>
                </a:solidFill>
                <a:latin typeface="Garamond" pitchFamily="34" charset="0"/>
                <a:ea typeface="Garamond" pitchFamily="34" charset="-122"/>
                <a:cs typeface="Garamond" pitchFamily="34" charset="-120"/>
              </a:rPr>
              <a:t>- distillation (spirits), extraction (coffee), and crystallization (drug </a:t>
            </a:r>
            <a:r>
              <a:rPr lang="en-US" sz="2000" dirty="0" err="1">
                <a:solidFill>
                  <a:srgbClr val="33414F"/>
                </a:solidFill>
                <a:latin typeface="Garamond" pitchFamily="34" charset="0"/>
                <a:ea typeface="Garamond" pitchFamily="34" charset="-122"/>
                <a:cs typeface="Garamond" pitchFamily="34" charset="-120"/>
              </a:rPr>
              <a:t>synthsis</a:t>
            </a:r>
            <a:r>
              <a:rPr lang="en-US" sz="2000" dirty="0">
                <a:solidFill>
                  <a:srgbClr val="33414F"/>
                </a:solidFill>
                <a:latin typeface="Garamond" pitchFamily="34" charset="0"/>
                <a:ea typeface="Garamond" pitchFamily="34" charset="-122"/>
                <a:cs typeface="Garamond" pitchFamily="34" charset="-120"/>
              </a:rPr>
              <a:t>)</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Alchemy laid the practical groundwork that real chemistry would later build on</a:t>
            </a:r>
            <a:endParaRPr lang="en-US" sz="2000" dirty="0"/>
          </a:p>
        </p:txBody>
      </p:sp>
      <p:sp>
        <p:nvSpPr>
          <p:cNvPr id="9"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0" name="Text 7"/>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balance_white.png"/>
          <p:cNvPicPr>
            <a:picLocks noChangeAspect="1"/>
          </p:cNvPicPr>
          <p:nvPr/>
        </p:nvPicPr>
        <p:blipFill>
          <a:blip r:embed="rId3"/>
          <a:stretch>
            <a:fillRect/>
          </a:stretch>
        </p:blipFill>
        <p:spPr>
          <a:xfrm>
            <a:off x="735178" y="689458"/>
            <a:ext cx="404165" cy="404165"/>
          </a:xfrm>
          <a:prstGeom prst="rect">
            <a:avLst/>
          </a:prstGeom>
        </p:spPr>
      </p:pic>
      <p:sp>
        <p:nvSpPr>
          <p:cNvPr id="4" name="Text 1"/>
          <p:cNvSpPr txBox="1"/>
          <p:nvPr/>
        </p:nvSpPr>
        <p:spPr>
          <a:xfrm>
            <a:off x="1508760" y="411480"/>
            <a:ext cx="8778240" cy="54864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Antoine Lavoisier &amp; the Law of Conservation of Mass</a:t>
            </a:r>
            <a:endParaRPr lang="en-US" sz="2400" dirty="0"/>
          </a:p>
        </p:txBody>
      </p:sp>
      <p:sp>
        <p:nvSpPr>
          <p:cNvPr id="5" name="Text 2"/>
          <p:cNvSpPr txBox="1"/>
          <p:nvPr/>
        </p:nvSpPr>
        <p:spPr>
          <a:xfrm>
            <a:off x="1508760" y="932688"/>
            <a:ext cx="8778240" cy="320040"/>
          </a:xfrm>
          <a:prstGeom prst="rect">
            <a:avLst/>
          </a:prstGeom>
          <a:noFill/>
          <a:ln/>
        </p:spPr>
        <p:txBody>
          <a:bodyPr wrap="square" lIns="0" tIns="0" rIns="0" bIns="0" rtlCol="0" anchor="ctr"/>
          <a:lstStyle/>
          <a:p>
            <a:pPr marL="0" indent="0">
              <a:buNone/>
            </a:pPr>
            <a:r>
              <a:rPr lang="en-US" sz="1300" b="1" dirty="0">
                <a:solidFill>
                  <a:srgbClr val="F4A100"/>
                </a:solidFill>
                <a:latin typeface="Garamond" pitchFamily="34" charset="0"/>
                <a:ea typeface="Garamond" pitchFamily="34" charset="-122"/>
                <a:cs typeface="Garamond" pitchFamily="34" charset="-120"/>
              </a:rPr>
              <a:t>1743 – 1794</a:t>
            </a:r>
            <a:endParaRPr lang="en-US" sz="1300" dirty="0"/>
          </a:p>
        </p:txBody>
      </p:sp>
      <p:sp>
        <p:nvSpPr>
          <p:cNvPr id="6" name="Shape 3"/>
          <p:cNvSpPr/>
          <p:nvPr/>
        </p:nvSpPr>
        <p:spPr>
          <a:xfrm>
            <a:off x="548640" y="1463040"/>
            <a:ext cx="11094415" cy="914400"/>
          </a:xfrm>
          <a:prstGeom prst="roundRect">
            <a:avLst>
              <a:gd name="adj" fmla="val 7000"/>
            </a:avLst>
          </a:prstGeom>
          <a:solidFill>
            <a:srgbClr val="F1F6F8"/>
          </a:solidFill>
          <a:ln/>
        </p:spPr>
        <p:txBody>
          <a:bodyPr/>
          <a:lstStyle/>
          <a:p>
            <a:endParaRPr lang="en-US"/>
          </a:p>
        </p:txBody>
      </p:sp>
      <p:sp>
        <p:nvSpPr>
          <p:cNvPr id="7" name="Text 4"/>
          <p:cNvSpPr txBox="1"/>
          <p:nvPr/>
        </p:nvSpPr>
        <p:spPr>
          <a:xfrm>
            <a:off x="822960" y="1463040"/>
            <a:ext cx="10545775" cy="91440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Often called the “father of modern chemistry,” Lavoisier insisted on precise measurement — weighing everything before and after a reaction.</a:t>
            </a:r>
            <a:endParaRPr lang="en-US" dirty="0"/>
          </a:p>
        </p:txBody>
      </p:sp>
      <p:sp>
        <p:nvSpPr>
          <p:cNvPr id="8" name="Text 5"/>
          <p:cNvSpPr txBox="1"/>
          <p:nvPr/>
        </p:nvSpPr>
        <p:spPr>
          <a:xfrm>
            <a:off x="735178" y="2724912"/>
            <a:ext cx="11094415" cy="3200400"/>
          </a:xfrm>
          <a:prstGeom prst="rect">
            <a:avLst/>
          </a:prstGeom>
          <a:noFill/>
          <a:ln/>
        </p:spPr>
        <p:txBody>
          <a:bodyPr wrap="square" lIns="0" tIns="0" rIns="0" bIns="0" rtlCol="0" anchor="t"/>
          <a:lstStyle/>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Law of Conservation of Mass: mass can neither be created nor destroyed in a chemical reaction</a:t>
            </a:r>
            <a:br>
              <a:rPr lang="en-US" sz="2000" dirty="0">
                <a:solidFill>
                  <a:srgbClr val="33414F"/>
                </a:solidFill>
                <a:latin typeface="Garamond" pitchFamily="34" charset="0"/>
                <a:ea typeface="Garamond" pitchFamily="34" charset="-122"/>
                <a:cs typeface="Garamond" pitchFamily="34" charset="-120"/>
              </a:rPr>
            </a:br>
            <a:r>
              <a:rPr lang="en-US" sz="2000" dirty="0">
                <a:solidFill>
                  <a:srgbClr val="33414F"/>
                </a:solidFill>
                <a:latin typeface="Garamond" pitchFamily="34" charset="0"/>
                <a:ea typeface="Garamond" pitchFamily="34" charset="-122"/>
                <a:cs typeface="Garamond" pitchFamily="34" charset="-120"/>
              </a:rPr>
              <a:t>	- keep this in mind when we talk about chemical reactions</a:t>
            </a:r>
            <a:br>
              <a:rPr lang="en-US" sz="2000" dirty="0">
                <a:solidFill>
                  <a:srgbClr val="33414F"/>
                </a:solidFill>
                <a:latin typeface="Garamond" pitchFamily="34" charset="0"/>
                <a:ea typeface="Garamond" pitchFamily="34" charset="-122"/>
                <a:cs typeface="Garamond" pitchFamily="34" charset="-120"/>
              </a:rPr>
            </a:b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His careful measurements disproved the old </a:t>
            </a:r>
            <a:r>
              <a:rPr lang="en-US" sz="2000" u="sng" dirty="0">
                <a:solidFill>
                  <a:srgbClr val="33414F"/>
                </a:solidFill>
                <a:latin typeface="Garamond" pitchFamily="34" charset="0"/>
                <a:ea typeface="Garamond" pitchFamily="34" charset="-122"/>
                <a:cs typeface="Garamond" pitchFamily="34" charset="-120"/>
              </a:rPr>
              <a:t>phlogiston theory</a:t>
            </a:r>
            <a:r>
              <a:rPr lang="en-US" sz="2000" dirty="0">
                <a:solidFill>
                  <a:srgbClr val="33414F"/>
                </a:solidFill>
                <a:latin typeface="Garamond" pitchFamily="34" charset="0"/>
                <a:ea typeface="Garamond" pitchFamily="34" charset="-122"/>
                <a:cs typeface="Garamond" pitchFamily="34" charset="-120"/>
              </a:rPr>
              <a:t> of combustion</a:t>
            </a:r>
            <a:br>
              <a:rPr lang="en-US" sz="2000" dirty="0">
                <a:solidFill>
                  <a:srgbClr val="33414F"/>
                </a:solidFill>
                <a:latin typeface="Garamond" pitchFamily="34" charset="0"/>
                <a:ea typeface="Garamond" pitchFamily="34" charset="-122"/>
                <a:cs typeface="Garamond" pitchFamily="34" charset="-120"/>
              </a:rPr>
            </a:br>
            <a:r>
              <a:rPr lang="en-US" sz="2000" dirty="0">
                <a:solidFill>
                  <a:srgbClr val="33414F"/>
                </a:solidFill>
                <a:latin typeface="Garamond" pitchFamily="34" charset="0"/>
                <a:ea typeface="Garamond" pitchFamily="34" charset="-122"/>
                <a:cs typeface="Garamond" pitchFamily="34" charset="-120"/>
              </a:rPr>
              <a:t>	- a theory proposing a “fire element” existed in flammable substances.</a:t>
            </a:r>
            <a:br>
              <a:rPr lang="en-US" sz="2000" dirty="0">
                <a:solidFill>
                  <a:srgbClr val="33414F"/>
                </a:solidFill>
                <a:latin typeface="Garamond" pitchFamily="34" charset="0"/>
                <a:ea typeface="Garamond" pitchFamily="34" charset="-122"/>
                <a:cs typeface="Garamond" pitchFamily="34" charset="-120"/>
              </a:rPr>
            </a:b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Turned chemistry from guesswork into a measurable, quantitative science</a:t>
            </a:r>
            <a:endParaRPr lang="en-US" sz="2000" dirty="0"/>
          </a:p>
        </p:txBody>
      </p:sp>
      <p:sp>
        <p:nvSpPr>
          <p:cNvPr id="9"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0" name="Text 7"/>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atom_white.png"/>
          <p:cNvPicPr>
            <a:picLocks noChangeAspect="1"/>
          </p:cNvPicPr>
          <p:nvPr/>
        </p:nvPicPr>
        <p:blipFill>
          <a:blip r:embed="rId3"/>
          <a:stretch>
            <a:fillRect/>
          </a:stretch>
        </p:blipFill>
        <p:spPr>
          <a:xfrm>
            <a:off x="735178" y="689458"/>
            <a:ext cx="404165" cy="404165"/>
          </a:xfrm>
          <a:prstGeom prst="rect">
            <a:avLst/>
          </a:prstGeom>
        </p:spPr>
      </p:pic>
      <p:sp>
        <p:nvSpPr>
          <p:cNvPr id="4" name="Text 1"/>
          <p:cNvSpPr txBox="1"/>
          <p:nvPr/>
        </p:nvSpPr>
        <p:spPr>
          <a:xfrm>
            <a:off x="1508760" y="411480"/>
            <a:ext cx="8778240" cy="54864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John Dalton &amp; Atomic Theory</a:t>
            </a:r>
            <a:endParaRPr lang="en-US" sz="2400" dirty="0"/>
          </a:p>
        </p:txBody>
      </p:sp>
      <p:sp>
        <p:nvSpPr>
          <p:cNvPr id="5" name="Text 2"/>
          <p:cNvSpPr txBox="1"/>
          <p:nvPr/>
        </p:nvSpPr>
        <p:spPr>
          <a:xfrm>
            <a:off x="1508760" y="932688"/>
            <a:ext cx="8778240" cy="320040"/>
          </a:xfrm>
          <a:prstGeom prst="rect">
            <a:avLst/>
          </a:prstGeom>
          <a:noFill/>
          <a:ln/>
        </p:spPr>
        <p:txBody>
          <a:bodyPr wrap="square" lIns="0" tIns="0" rIns="0" bIns="0" rtlCol="0" anchor="ctr"/>
          <a:lstStyle/>
          <a:p>
            <a:pPr marL="0" indent="0">
              <a:buNone/>
            </a:pPr>
            <a:r>
              <a:rPr lang="en-US" sz="1300" b="1" dirty="0">
                <a:solidFill>
                  <a:srgbClr val="F4A100"/>
                </a:solidFill>
                <a:latin typeface="Garamond" pitchFamily="34" charset="0"/>
                <a:ea typeface="Garamond" pitchFamily="34" charset="-122"/>
                <a:cs typeface="Garamond" pitchFamily="34" charset="-120"/>
              </a:rPr>
              <a:t>1803</a:t>
            </a:r>
            <a:endParaRPr lang="en-US" sz="1300" dirty="0"/>
          </a:p>
        </p:txBody>
      </p:sp>
      <p:sp>
        <p:nvSpPr>
          <p:cNvPr id="6" name="Shape 3"/>
          <p:cNvSpPr/>
          <p:nvPr/>
        </p:nvSpPr>
        <p:spPr>
          <a:xfrm>
            <a:off x="548640" y="1463040"/>
            <a:ext cx="11094415" cy="914400"/>
          </a:xfrm>
          <a:prstGeom prst="roundRect">
            <a:avLst>
              <a:gd name="adj" fmla="val 7000"/>
            </a:avLst>
          </a:prstGeom>
          <a:solidFill>
            <a:srgbClr val="F1F6F8"/>
          </a:solidFill>
          <a:ln/>
        </p:spPr>
        <p:txBody>
          <a:bodyPr/>
          <a:lstStyle/>
          <a:p>
            <a:endParaRPr lang="en-US"/>
          </a:p>
        </p:txBody>
      </p:sp>
      <p:sp>
        <p:nvSpPr>
          <p:cNvPr id="7" name="Text 4"/>
          <p:cNvSpPr txBox="1"/>
          <p:nvPr/>
        </p:nvSpPr>
        <p:spPr>
          <a:xfrm>
            <a:off x="822960" y="1463040"/>
            <a:ext cx="10545775" cy="91440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Building on Lavoisier's careful measurements, English chemist John Dalton proposed that all matter is made of tiny, indivisible particles called atoms.</a:t>
            </a:r>
            <a:endParaRPr lang="en-US" dirty="0"/>
          </a:p>
        </p:txBody>
      </p:sp>
      <p:sp>
        <p:nvSpPr>
          <p:cNvPr id="8" name="Text 5"/>
          <p:cNvSpPr txBox="1"/>
          <p:nvPr/>
        </p:nvSpPr>
        <p:spPr>
          <a:xfrm>
            <a:off x="548640" y="2697480"/>
            <a:ext cx="11094415" cy="3200400"/>
          </a:xfrm>
          <a:prstGeom prst="rect">
            <a:avLst/>
          </a:prstGeom>
          <a:noFill/>
          <a:ln/>
        </p:spPr>
        <p:txBody>
          <a:bodyPr wrap="square" lIns="0" tIns="0" rIns="0" bIns="0" rtlCol="0" anchor="t"/>
          <a:lstStyle/>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All matter is made of atoms – from “a-tome” means “not divisible” or “not cuttable.”</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Atoms of the same element are identical; atoms of different elements differ</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Atoms combine in fixed, whole-number ratios to form compounds/molecules</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Chemical reactions rearrange atoms — they don't create or destroy them</a:t>
            </a:r>
            <a:endParaRPr lang="en-US" sz="2000" dirty="0"/>
          </a:p>
        </p:txBody>
      </p:sp>
      <p:sp>
        <p:nvSpPr>
          <p:cNvPr id="9"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0" name="Text 7"/>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table_white.png"/>
          <p:cNvPicPr>
            <a:picLocks noChangeAspect="1"/>
          </p:cNvPicPr>
          <p:nvPr/>
        </p:nvPicPr>
        <p:blipFill>
          <a:blip r:embed="rId3"/>
          <a:stretch>
            <a:fillRect/>
          </a:stretch>
        </p:blipFill>
        <p:spPr>
          <a:xfrm>
            <a:off x="735178" y="689458"/>
            <a:ext cx="404165" cy="404165"/>
          </a:xfrm>
          <a:prstGeom prst="rect">
            <a:avLst/>
          </a:prstGeom>
        </p:spPr>
      </p:pic>
      <p:sp>
        <p:nvSpPr>
          <p:cNvPr id="4" name="Text 1"/>
          <p:cNvSpPr txBox="1"/>
          <p:nvPr/>
        </p:nvSpPr>
        <p:spPr>
          <a:xfrm>
            <a:off x="1508760" y="411480"/>
            <a:ext cx="8778240" cy="54864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Dmitri Mendeleev &amp; the Periodic Table</a:t>
            </a:r>
            <a:endParaRPr lang="en-US" sz="2400" dirty="0"/>
          </a:p>
        </p:txBody>
      </p:sp>
      <p:sp>
        <p:nvSpPr>
          <p:cNvPr id="5" name="Text 2"/>
          <p:cNvSpPr txBox="1"/>
          <p:nvPr/>
        </p:nvSpPr>
        <p:spPr>
          <a:xfrm>
            <a:off x="1508760" y="932688"/>
            <a:ext cx="8778240" cy="320040"/>
          </a:xfrm>
          <a:prstGeom prst="rect">
            <a:avLst/>
          </a:prstGeom>
          <a:noFill/>
          <a:ln/>
        </p:spPr>
        <p:txBody>
          <a:bodyPr wrap="square" lIns="0" tIns="0" rIns="0" bIns="0" rtlCol="0" anchor="ctr"/>
          <a:lstStyle/>
          <a:p>
            <a:pPr marL="0" indent="0">
              <a:buNone/>
            </a:pPr>
            <a:r>
              <a:rPr lang="en-US" sz="1300" b="1" dirty="0">
                <a:solidFill>
                  <a:srgbClr val="F4A100"/>
                </a:solidFill>
                <a:latin typeface="Garamond" pitchFamily="34" charset="0"/>
                <a:ea typeface="Garamond" pitchFamily="34" charset="-122"/>
                <a:cs typeface="Garamond" pitchFamily="34" charset="-120"/>
              </a:rPr>
              <a:t>1869</a:t>
            </a:r>
            <a:endParaRPr lang="en-US" sz="1300" dirty="0"/>
          </a:p>
        </p:txBody>
      </p:sp>
      <p:sp>
        <p:nvSpPr>
          <p:cNvPr id="6" name="Shape 3"/>
          <p:cNvSpPr/>
          <p:nvPr/>
        </p:nvSpPr>
        <p:spPr>
          <a:xfrm>
            <a:off x="548640" y="1463040"/>
            <a:ext cx="11094415" cy="914400"/>
          </a:xfrm>
          <a:prstGeom prst="roundRect">
            <a:avLst>
              <a:gd name="adj" fmla="val 7000"/>
            </a:avLst>
          </a:prstGeom>
          <a:solidFill>
            <a:srgbClr val="F1F6F8"/>
          </a:solidFill>
          <a:ln/>
        </p:spPr>
        <p:txBody>
          <a:bodyPr/>
          <a:lstStyle/>
          <a:p>
            <a:endParaRPr lang="en-US"/>
          </a:p>
        </p:txBody>
      </p:sp>
      <p:sp>
        <p:nvSpPr>
          <p:cNvPr id="7" name="Text 4"/>
          <p:cNvSpPr txBox="1"/>
          <p:nvPr/>
        </p:nvSpPr>
        <p:spPr>
          <a:xfrm>
            <a:off x="822960" y="1463040"/>
            <a:ext cx="10545775" cy="914400"/>
          </a:xfrm>
          <a:prstGeom prst="rect">
            <a:avLst/>
          </a:prstGeom>
          <a:noFill/>
          <a:ln/>
        </p:spPr>
        <p:txBody>
          <a:bodyPr wrap="square" lIns="0" tIns="0" rIns="0" bIns="0" rtlCol="0" anchor="ctr"/>
          <a:lstStyle/>
          <a:p>
            <a:pPr marL="0" indent="0">
              <a:buNone/>
            </a:pPr>
            <a:r>
              <a:rPr lang="en-US" sz="1600" dirty="0">
                <a:solidFill>
                  <a:srgbClr val="33414F"/>
                </a:solidFill>
                <a:latin typeface="Garamond" pitchFamily="34" charset="0"/>
                <a:ea typeface="Garamond" pitchFamily="34" charset="-122"/>
                <a:cs typeface="Garamond" pitchFamily="34" charset="-120"/>
              </a:rPr>
              <a:t>Russian chemist Dmitri Mendeleev organized the 63 known elements by atomic mass and recurring chemical properties.</a:t>
            </a:r>
            <a:endParaRPr lang="en-US" sz="1600" dirty="0"/>
          </a:p>
        </p:txBody>
      </p:sp>
      <p:sp>
        <p:nvSpPr>
          <p:cNvPr id="8" name="Text 5"/>
          <p:cNvSpPr txBox="1"/>
          <p:nvPr/>
        </p:nvSpPr>
        <p:spPr>
          <a:xfrm>
            <a:off x="548640" y="2697480"/>
            <a:ext cx="11094415" cy="3200400"/>
          </a:xfrm>
          <a:prstGeom prst="rect">
            <a:avLst/>
          </a:prstGeom>
          <a:noFill/>
          <a:ln/>
        </p:spPr>
        <p:txBody>
          <a:bodyPr wrap="square" lIns="0" tIns="0" rIns="0" bIns="0" rtlCol="0" anchor="t"/>
          <a:lstStyle/>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Arranged elements into rows (periods) and columns (groups) based on repeating (“periodic”) patterns</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Deliberately left gaps for elements he believed existed but that hadn't been discovered yet</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Predicted the properties of those missing elements — later confirmed almost exactly</a:t>
            </a:r>
            <a:endParaRPr lang="en-US" sz="2000" dirty="0"/>
          </a:p>
          <a:p>
            <a:pPr marL="342900" indent="-342900">
              <a:spcAft>
                <a:spcPts val="2200"/>
              </a:spcAft>
              <a:buSzPct val="100000"/>
              <a:buChar char="●"/>
            </a:pPr>
            <a:r>
              <a:rPr lang="en-US" sz="2000" dirty="0">
                <a:solidFill>
                  <a:srgbClr val="33414F"/>
                </a:solidFill>
                <a:latin typeface="Garamond" pitchFamily="34" charset="0"/>
                <a:ea typeface="Garamond" pitchFamily="34" charset="-122"/>
                <a:cs typeface="Garamond" pitchFamily="34" charset="-120"/>
              </a:rPr>
              <a:t>We'll explore the modern periodic table in depth in Topic 5</a:t>
            </a:r>
            <a:endParaRPr lang="en-US" sz="2000" dirty="0"/>
          </a:p>
        </p:txBody>
      </p:sp>
      <p:sp>
        <p:nvSpPr>
          <p:cNvPr id="9"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0" name="Text 7"/>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64008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Milestones That Shaped Chemistry</a:t>
            </a:r>
            <a:endParaRPr lang="en-US" sz="3000" dirty="0"/>
          </a:p>
        </p:txBody>
      </p:sp>
      <p:sp>
        <p:nvSpPr>
          <p:cNvPr id="3" name="Shape 1"/>
          <p:cNvSpPr/>
          <p:nvPr/>
        </p:nvSpPr>
        <p:spPr>
          <a:xfrm>
            <a:off x="2080260" y="3406140"/>
            <a:ext cx="8031175" cy="0"/>
          </a:xfrm>
          <a:prstGeom prst="line">
            <a:avLst/>
          </a:prstGeom>
          <a:noFill/>
          <a:ln w="38100">
            <a:solidFill>
              <a:srgbClr val="DCE6EA"/>
            </a:solidFill>
            <a:prstDash val="solid"/>
          </a:ln>
        </p:spPr>
        <p:txBody>
          <a:bodyPr/>
          <a:lstStyle/>
          <a:p>
            <a:endParaRPr lang="en-US"/>
          </a:p>
        </p:txBody>
      </p:sp>
      <p:sp>
        <p:nvSpPr>
          <p:cNvPr id="4" name="Shape 2"/>
          <p:cNvSpPr/>
          <p:nvPr/>
        </p:nvSpPr>
        <p:spPr>
          <a:xfrm>
            <a:off x="1028700" y="2880360"/>
            <a:ext cx="1051560" cy="1051560"/>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5" name="Image 0" descr="/tmp/chem101_topic1/icon_drop_white.png"/>
          <p:cNvPicPr>
            <a:picLocks noChangeAspect="1"/>
          </p:cNvPicPr>
          <p:nvPr/>
        </p:nvPicPr>
        <p:blipFill>
          <a:blip r:embed="rId3"/>
          <a:stretch>
            <a:fillRect/>
          </a:stretch>
        </p:blipFill>
        <p:spPr>
          <a:xfrm>
            <a:off x="1291590" y="3143250"/>
            <a:ext cx="525780" cy="525780"/>
          </a:xfrm>
          <a:prstGeom prst="rect">
            <a:avLst/>
          </a:prstGeom>
        </p:spPr>
      </p:pic>
      <p:sp>
        <p:nvSpPr>
          <p:cNvPr id="6" name="Text 3"/>
          <p:cNvSpPr txBox="1"/>
          <p:nvPr/>
        </p:nvSpPr>
        <p:spPr>
          <a:xfrm>
            <a:off x="548640" y="4096512"/>
            <a:ext cx="2011680" cy="365760"/>
          </a:xfrm>
          <a:prstGeom prst="rect">
            <a:avLst/>
          </a:prstGeom>
          <a:noFill/>
          <a:ln/>
        </p:spPr>
        <p:txBody>
          <a:bodyPr wrap="square" lIns="0" tIns="0" rIns="0" bIns="0" rtlCol="0" anchor="ctr"/>
          <a:lstStyle/>
          <a:p>
            <a:pPr marL="0" indent="0" algn="ctr">
              <a:buNone/>
            </a:pPr>
            <a:r>
              <a:rPr lang="en-US" sz="1500" b="1" dirty="0">
                <a:solidFill>
                  <a:srgbClr val="14213D"/>
                </a:solidFill>
                <a:latin typeface="Garamond" pitchFamily="34" charset="0"/>
                <a:ea typeface="Garamond" pitchFamily="34" charset="-122"/>
                <a:cs typeface="Garamond" pitchFamily="34" charset="-120"/>
              </a:rPr>
              <a:t>Alchemy</a:t>
            </a:r>
            <a:endParaRPr lang="en-US" sz="1500" dirty="0"/>
          </a:p>
        </p:txBody>
      </p:sp>
      <p:sp>
        <p:nvSpPr>
          <p:cNvPr id="7" name="Text 4"/>
          <p:cNvSpPr txBox="1"/>
          <p:nvPr/>
        </p:nvSpPr>
        <p:spPr>
          <a:xfrm>
            <a:off x="548640" y="4434840"/>
            <a:ext cx="2011680" cy="548640"/>
          </a:xfrm>
          <a:prstGeom prst="rect">
            <a:avLst/>
          </a:prstGeom>
          <a:noFill/>
          <a:ln/>
        </p:spPr>
        <p:txBody>
          <a:bodyPr wrap="square" lIns="0" tIns="0" rIns="0" bIns="0" rtlCol="0" anchor="ctr"/>
          <a:lstStyle/>
          <a:p>
            <a:pPr marL="0" indent="0" algn="ctr">
              <a:buNone/>
            </a:pPr>
            <a:r>
              <a:rPr lang="en-US" sz="1100" dirty="0">
                <a:solidFill>
                  <a:srgbClr val="63737D"/>
                </a:solidFill>
                <a:latin typeface="Garamond" pitchFamily="34" charset="0"/>
                <a:ea typeface="Garamond" pitchFamily="34" charset="-122"/>
                <a:cs typeface="Garamond" pitchFamily="34" charset="-120"/>
              </a:rPr>
              <a:t>≈3000 BCE–1600s</a:t>
            </a:r>
            <a:endParaRPr lang="en-US" sz="1100" dirty="0"/>
          </a:p>
        </p:txBody>
      </p:sp>
      <p:sp>
        <p:nvSpPr>
          <p:cNvPr id="8" name="Shape 5"/>
          <p:cNvSpPr/>
          <p:nvPr/>
        </p:nvSpPr>
        <p:spPr>
          <a:xfrm>
            <a:off x="4056278" y="2880360"/>
            <a:ext cx="1051560" cy="10515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9" name="Image 1" descr="/tmp/chem101_topic1/icon_balance_white.png"/>
          <p:cNvPicPr>
            <a:picLocks noChangeAspect="1"/>
          </p:cNvPicPr>
          <p:nvPr/>
        </p:nvPicPr>
        <p:blipFill>
          <a:blip r:embed="rId4"/>
          <a:stretch>
            <a:fillRect/>
          </a:stretch>
        </p:blipFill>
        <p:spPr>
          <a:xfrm>
            <a:off x="4319168" y="3143250"/>
            <a:ext cx="525780" cy="525780"/>
          </a:xfrm>
          <a:prstGeom prst="rect">
            <a:avLst/>
          </a:prstGeom>
        </p:spPr>
      </p:pic>
      <p:sp>
        <p:nvSpPr>
          <p:cNvPr id="10" name="Text 6"/>
          <p:cNvSpPr txBox="1"/>
          <p:nvPr/>
        </p:nvSpPr>
        <p:spPr>
          <a:xfrm>
            <a:off x="3576218" y="4096512"/>
            <a:ext cx="2011680" cy="365760"/>
          </a:xfrm>
          <a:prstGeom prst="rect">
            <a:avLst/>
          </a:prstGeom>
          <a:noFill/>
          <a:ln/>
        </p:spPr>
        <p:txBody>
          <a:bodyPr wrap="square" lIns="0" tIns="0" rIns="0" bIns="0" rtlCol="0" anchor="ctr"/>
          <a:lstStyle/>
          <a:p>
            <a:pPr marL="0" indent="0" algn="ctr">
              <a:buNone/>
            </a:pPr>
            <a:r>
              <a:rPr lang="en-US" sz="1500" b="1" dirty="0">
                <a:solidFill>
                  <a:srgbClr val="14213D"/>
                </a:solidFill>
                <a:latin typeface="Garamond" pitchFamily="34" charset="0"/>
                <a:ea typeface="Garamond" pitchFamily="34" charset="-122"/>
                <a:cs typeface="Garamond" pitchFamily="34" charset="-120"/>
              </a:rPr>
              <a:t>Lavoisier</a:t>
            </a:r>
            <a:endParaRPr lang="en-US" sz="1500" dirty="0"/>
          </a:p>
        </p:txBody>
      </p:sp>
      <p:sp>
        <p:nvSpPr>
          <p:cNvPr id="11" name="Text 7"/>
          <p:cNvSpPr txBox="1"/>
          <p:nvPr/>
        </p:nvSpPr>
        <p:spPr>
          <a:xfrm>
            <a:off x="3576218" y="4434840"/>
            <a:ext cx="2011680" cy="548640"/>
          </a:xfrm>
          <a:prstGeom prst="rect">
            <a:avLst/>
          </a:prstGeom>
          <a:noFill/>
          <a:ln/>
        </p:spPr>
        <p:txBody>
          <a:bodyPr wrap="square" lIns="0" tIns="0" rIns="0" bIns="0" rtlCol="0" anchor="ctr"/>
          <a:lstStyle/>
          <a:p>
            <a:pPr marL="0" indent="0" algn="ctr">
              <a:buNone/>
            </a:pPr>
            <a:r>
              <a:rPr lang="en-US" sz="1100" dirty="0">
                <a:solidFill>
                  <a:srgbClr val="63737D"/>
                </a:solidFill>
                <a:latin typeface="Garamond" pitchFamily="34" charset="0"/>
                <a:ea typeface="Garamond" pitchFamily="34" charset="-122"/>
                <a:cs typeface="Garamond" pitchFamily="34" charset="-120"/>
              </a:rPr>
              <a:t>Conservation of Mass, 1789</a:t>
            </a:r>
            <a:endParaRPr lang="en-US" sz="1100" dirty="0"/>
          </a:p>
        </p:txBody>
      </p:sp>
      <p:sp>
        <p:nvSpPr>
          <p:cNvPr id="12" name="Shape 8"/>
          <p:cNvSpPr/>
          <p:nvPr/>
        </p:nvSpPr>
        <p:spPr>
          <a:xfrm>
            <a:off x="7083857" y="2880360"/>
            <a:ext cx="1051560" cy="1051560"/>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13" name="Image 2" descr="/tmp/chem101_topic1/icon_atom_white.png"/>
          <p:cNvPicPr>
            <a:picLocks noChangeAspect="1"/>
          </p:cNvPicPr>
          <p:nvPr/>
        </p:nvPicPr>
        <p:blipFill>
          <a:blip r:embed="rId5"/>
          <a:stretch>
            <a:fillRect/>
          </a:stretch>
        </p:blipFill>
        <p:spPr>
          <a:xfrm>
            <a:off x="7346747" y="3143250"/>
            <a:ext cx="525780" cy="525780"/>
          </a:xfrm>
          <a:prstGeom prst="rect">
            <a:avLst/>
          </a:prstGeom>
        </p:spPr>
      </p:pic>
      <p:sp>
        <p:nvSpPr>
          <p:cNvPr id="14" name="Text 9"/>
          <p:cNvSpPr txBox="1"/>
          <p:nvPr/>
        </p:nvSpPr>
        <p:spPr>
          <a:xfrm>
            <a:off x="6603797" y="4096512"/>
            <a:ext cx="2011680" cy="365760"/>
          </a:xfrm>
          <a:prstGeom prst="rect">
            <a:avLst/>
          </a:prstGeom>
          <a:noFill/>
          <a:ln/>
        </p:spPr>
        <p:txBody>
          <a:bodyPr wrap="square" lIns="0" tIns="0" rIns="0" bIns="0" rtlCol="0" anchor="ctr"/>
          <a:lstStyle/>
          <a:p>
            <a:pPr marL="0" indent="0" algn="ctr">
              <a:buNone/>
            </a:pPr>
            <a:r>
              <a:rPr lang="en-US" sz="1500" b="1" dirty="0">
                <a:solidFill>
                  <a:srgbClr val="14213D"/>
                </a:solidFill>
                <a:latin typeface="Garamond" pitchFamily="34" charset="0"/>
                <a:ea typeface="Garamond" pitchFamily="34" charset="-122"/>
                <a:cs typeface="Garamond" pitchFamily="34" charset="-120"/>
              </a:rPr>
              <a:t>Dalton</a:t>
            </a:r>
            <a:endParaRPr lang="en-US" sz="1500" dirty="0"/>
          </a:p>
        </p:txBody>
      </p:sp>
      <p:sp>
        <p:nvSpPr>
          <p:cNvPr id="15" name="Text 10"/>
          <p:cNvSpPr txBox="1"/>
          <p:nvPr/>
        </p:nvSpPr>
        <p:spPr>
          <a:xfrm>
            <a:off x="6603797" y="4434840"/>
            <a:ext cx="2011680" cy="548640"/>
          </a:xfrm>
          <a:prstGeom prst="rect">
            <a:avLst/>
          </a:prstGeom>
          <a:noFill/>
          <a:ln/>
        </p:spPr>
        <p:txBody>
          <a:bodyPr wrap="square" lIns="0" tIns="0" rIns="0" bIns="0" rtlCol="0" anchor="ctr"/>
          <a:lstStyle/>
          <a:p>
            <a:pPr marL="0" indent="0" algn="ctr">
              <a:buNone/>
            </a:pPr>
            <a:r>
              <a:rPr lang="en-US" sz="1100" dirty="0">
                <a:solidFill>
                  <a:srgbClr val="63737D"/>
                </a:solidFill>
                <a:latin typeface="Garamond" pitchFamily="34" charset="0"/>
                <a:ea typeface="Garamond" pitchFamily="34" charset="-122"/>
                <a:cs typeface="Garamond" pitchFamily="34" charset="-120"/>
              </a:rPr>
              <a:t>Atomic Theory, 1803</a:t>
            </a:r>
            <a:endParaRPr lang="en-US" sz="1100" dirty="0"/>
          </a:p>
        </p:txBody>
      </p:sp>
      <p:sp>
        <p:nvSpPr>
          <p:cNvPr id="16" name="Shape 11"/>
          <p:cNvSpPr/>
          <p:nvPr/>
        </p:nvSpPr>
        <p:spPr>
          <a:xfrm>
            <a:off x="10111435" y="2880360"/>
            <a:ext cx="1051560" cy="10515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17" name="Image 3" descr="/tmp/chem101_topic1/icon_table_white.png"/>
          <p:cNvPicPr>
            <a:picLocks noChangeAspect="1"/>
          </p:cNvPicPr>
          <p:nvPr/>
        </p:nvPicPr>
        <p:blipFill>
          <a:blip r:embed="rId6"/>
          <a:stretch>
            <a:fillRect/>
          </a:stretch>
        </p:blipFill>
        <p:spPr>
          <a:xfrm>
            <a:off x="10374325" y="3143250"/>
            <a:ext cx="525780" cy="525780"/>
          </a:xfrm>
          <a:prstGeom prst="rect">
            <a:avLst/>
          </a:prstGeom>
        </p:spPr>
      </p:pic>
      <p:sp>
        <p:nvSpPr>
          <p:cNvPr id="18" name="Text 12"/>
          <p:cNvSpPr txBox="1"/>
          <p:nvPr/>
        </p:nvSpPr>
        <p:spPr>
          <a:xfrm>
            <a:off x="9631375" y="4096512"/>
            <a:ext cx="2011680" cy="365760"/>
          </a:xfrm>
          <a:prstGeom prst="rect">
            <a:avLst/>
          </a:prstGeom>
          <a:noFill/>
          <a:ln/>
        </p:spPr>
        <p:txBody>
          <a:bodyPr wrap="square" lIns="0" tIns="0" rIns="0" bIns="0" rtlCol="0" anchor="ctr"/>
          <a:lstStyle/>
          <a:p>
            <a:pPr marL="0" indent="0" algn="ctr">
              <a:buNone/>
            </a:pPr>
            <a:r>
              <a:rPr lang="en-US" sz="1500" b="1" dirty="0">
                <a:solidFill>
                  <a:srgbClr val="14213D"/>
                </a:solidFill>
                <a:latin typeface="Garamond" pitchFamily="34" charset="0"/>
                <a:ea typeface="Garamond" pitchFamily="34" charset="-122"/>
                <a:cs typeface="Garamond" pitchFamily="34" charset="-120"/>
              </a:rPr>
              <a:t>Mendeleev</a:t>
            </a:r>
            <a:endParaRPr lang="en-US" sz="1500" dirty="0"/>
          </a:p>
        </p:txBody>
      </p:sp>
      <p:sp>
        <p:nvSpPr>
          <p:cNvPr id="19" name="Text 13"/>
          <p:cNvSpPr txBox="1"/>
          <p:nvPr/>
        </p:nvSpPr>
        <p:spPr>
          <a:xfrm>
            <a:off x="9631375" y="4434840"/>
            <a:ext cx="2011680" cy="548640"/>
          </a:xfrm>
          <a:prstGeom prst="rect">
            <a:avLst/>
          </a:prstGeom>
          <a:noFill/>
          <a:ln/>
        </p:spPr>
        <p:txBody>
          <a:bodyPr wrap="square" lIns="0" tIns="0" rIns="0" bIns="0" rtlCol="0" anchor="ctr"/>
          <a:lstStyle/>
          <a:p>
            <a:pPr marL="0" indent="0" algn="ctr">
              <a:buNone/>
            </a:pPr>
            <a:r>
              <a:rPr lang="en-US" sz="1100" dirty="0">
                <a:solidFill>
                  <a:srgbClr val="63737D"/>
                </a:solidFill>
                <a:latin typeface="Garamond" pitchFamily="34" charset="0"/>
                <a:ea typeface="Garamond" pitchFamily="34" charset="-122"/>
                <a:cs typeface="Garamond" pitchFamily="34" charset="-120"/>
              </a:rPr>
              <a:t>Periodic Table, 1869</a:t>
            </a:r>
            <a:endParaRPr lang="en-US" sz="1100" dirty="0"/>
          </a:p>
        </p:txBody>
      </p:sp>
      <p:sp>
        <p:nvSpPr>
          <p:cNvPr id="20" name="Text 14"/>
          <p:cNvSpPr txBox="1"/>
          <p:nvPr/>
        </p:nvSpPr>
        <p:spPr>
          <a:xfrm>
            <a:off x="548640" y="5394960"/>
            <a:ext cx="11094415" cy="457200"/>
          </a:xfrm>
          <a:prstGeom prst="rect">
            <a:avLst/>
          </a:prstGeom>
          <a:noFill/>
          <a:ln/>
        </p:spPr>
        <p:txBody>
          <a:bodyPr wrap="square" lIns="0" tIns="0" rIns="0" bIns="0" rtlCol="0" anchor="ctr"/>
          <a:lstStyle/>
          <a:p>
            <a:pPr marL="0" indent="0" algn="ctr">
              <a:buNone/>
            </a:pPr>
            <a:r>
              <a:rPr lang="en-US" dirty="0">
                <a:solidFill>
                  <a:srgbClr val="1C7293"/>
                </a:solidFill>
                <a:latin typeface="Garamond" pitchFamily="34" charset="0"/>
                <a:ea typeface="Garamond" pitchFamily="34" charset="-122"/>
                <a:cs typeface="Garamond" pitchFamily="34" charset="-120"/>
              </a:rPr>
              <a:t>And the story keeps going — modern chemistry builds on all four of these ideas with additional refinements.</a:t>
            </a:r>
            <a:endParaRPr lang="en-US" dirty="0"/>
          </a:p>
        </p:txBody>
      </p:sp>
      <p:sp>
        <p:nvSpPr>
          <p:cNvPr id="21"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22" name="Text 16"/>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754880" cy="4754880"/>
          </a:xfrm>
          <a:prstGeom prst="ellipse">
            <a:avLst/>
          </a:prstGeom>
          <a:solidFill>
            <a:srgbClr val="1E3A5F"/>
          </a:solidFill>
          <a:ln/>
        </p:spPr>
        <p:txBody>
          <a:bodyPr/>
          <a:lstStyle/>
          <a:p>
            <a:endParaRPr lang="en-US"/>
          </a:p>
        </p:txBody>
      </p:sp>
      <p:sp>
        <p:nvSpPr>
          <p:cNvPr id="3" name="Shape 1"/>
          <p:cNvSpPr/>
          <p:nvPr/>
        </p:nvSpPr>
        <p:spPr>
          <a:xfrm>
            <a:off x="5592928" y="1234440"/>
            <a:ext cx="1005840" cy="10058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4" name="Image 0" descr="/tmp/chem101_topic1/icon_search_white.png"/>
          <p:cNvPicPr>
            <a:picLocks noChangeAspect="1"/>
          </p:cNvPicPr>
          <p:nvPr/>
        </p:nvPicPr>
        <p:blipFill>
          <a:blip r:embed="rId3"/>
          <a:stretch>
            <a:fillRect/>
          </a:stretch>
        </p:blipFill>
        <p:spPr>
          <a:xfrm>
            <a:off x="5844388" y="1485900"/>
            <a:ext cx="502920" cy="502920"/>
          </a:xfrm>
          <a:prstGeom prst="rect">
            <a:avLst/>
          </a:prstGeom>
        </p:spPr>
      </p:pic>
      <p:sp>
        <p:nvSpPr>
          <p:cNvPr id="5" name="Text 2"/>
          <p:cNvSpPr txBox="1"/>
          <p:nvPr/>
        </p:nvSpPr>
        <p:spPr>
          <a:xfrm>
            <a:off x="914400" y="2514600"/>
            <a:ext cx="10362895"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The Scientific Method</a:t>
            </a:r>
            <a:endParaRPr lang="en-US" sz="3800" dirty="0"/>
          </a:p>
        </p:txBody>
      </p:sp>
      <p:sp>
        <p:nvSpPr>
          <p:cNvPr id="6" name="Text 3"/>
          <p:cNvSpPr txBox="1"/>
          <p:nvPr/>
        </p:nvSpPr>
        <p:spPr>
          <a:xfrm>
            <a:off x="914400" y="3474720"/>
            <a:ext cx="10362895" cy="548640"/>
          </a:xfrm>
          <a:prstGeom prst="rect">
            <a:avLst/>
          </a:prstGeom>
          <a:noFill/>
          <a:ln/>
        </p:spPr>
        <p:txBody>
          <a:bodyPr wrap="square" lIns="0" tIns="0" rIns="0" bIns="0" rtlCol="0" anchor="ctr"/>
          <a:lstStyle/>
          <a:p>
            <a:pPr marL="0" indent="0" algn="ctr">
              <a:buNone/>
            </a:pPr>
            <a:r>
              <a:rPr lang="en-US" sz="1800" i="1" dirty="0">
                <a:solidFill>
                  <a:srgbClr val="CADCEA"/>
                </a:solidFill>
                <a:latin typeface="Garamond" pitchFamily="34" charset="0"/>
                <a:ea typeface="Garamond" pitchFamily="34" charset="-122"/>
                <a:cs typeface="Garamond" pitchFamily="34" charset="-120"/>
              </a:rPr>
              <a:t>How chemists — and all scientists — investigate the world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search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601200" cy="68580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What’s the Scientific Method?</a:t>
            </a:r>
            <a:endParaRPr lang="en-US" sz="3000" dirty="0"/>
          </a:p>
        </p:txBody>
      </p:sp>
      <p:sp>
        <p:nvSpPr>
          <p:cNvPr id="5" name="Shape 2"/>
          <p:cNvSpPr/>
          <p:nvPr/>
        </p:nvSpPr>
        <p:spPr>
          <a:xfrm>
            <a:off x="548640" y="1417320"/>
            <a:ext cx="11094415" cy="1005840"/>
          </a:xfrm>
          <a:prstGeom prst="roundRect">
            <a:avLst>
              <a:gd name="adj" fmla="val 7273"/>
            </a:avLst>
          </a:prstGeom>
          <a:solidFill>
            <a:srgbClr val="B5121A"/>
          </a:solidFill>
          <a:ln/>
          <a:effectLst>
            <a:outerShdw blurRad="76200" dist="38100" dir="5400000" algn="bl" rotWithShape="0">
              <a:srgbClr val="1B1B1B">
                <a:alpha val="18000"/>
              </a:srgbClr>
            </a:outerShdw>
          </a:effectLst>
        </p:spPr>
        <p:txBody>
          <a:bodyPr/>
          <a:lstStyle/>
          <a:p>
            <a:endParaRPr lang="en-US"/>
          </a:p>
        </p:txBody>
      </p:sp>
      <p:sp>
        <p:nvSpPr>
          <p:cNvPr id="6" name="Text 3"/>
          <p:cNvSpPr txBox="1"/>
          <p:nvPr/>
        </p:nvSpPr>
        <p:spPr>
          <a:xfrm>
            <a:off x="868680" y="1417320"/>
            <a:ext cx="10454335" cy="1005840"/>
          </a:xfrm>
          <a:prstGeom prst="rect">
            <a:avLst/>
          </a:prstGeom>
          <a:noFill/>
          <a:ln/>
        </p:spPr>
        <p:txBody>
          <a:bodyPr wrap="square" lIns="0" tIns="0" rIns="0" bIns="0" rtlCol="0" anchor="ctr"/>
          <a:lstStyle/>
          <a:p>
            <a:pPr marL="0" indent="0">
              <a:buNone/>
            </a:pPr>
            <a:r>
              <a:rPr lang="en-US" sz="1800" i="1" dirty="0">
                <a:solidFill>
                  <a:srgbClr val="FFFFFF"/>
                </a:solidFill>
                <a:latin typeface="Cambria" pitchFamily="34" charset="0"/>
                <a:ea typeface="Cambria" pitchFamily="34" charset="-122"/>
                <a:cs typeface="Cambria" pitchFamily="34" charset="-120"/>
              </a:rPr>
              <a:t>A systematic, evidence-based process for asking questions about the natural world — and testing possible answers.  These below define the properties of the process.</a:t>
            </a:r>
            <a:endParaRPr lang="en-US" sz="1800" dirty="0"/>
          </a:p>
        </p:txBody>
      </p:sp>
      <p:sp>
        <p:nvSpPr>
          <p:cNvPr id="7" name="Shape 4"/>
          <p:cNvSpPr/>
          <p:nvPr/>
        </p:nvSpPr>
        <p:spPr>
          <a:xfrm>
            <a:off x="548640" y="2743200"/>
            <a:ext cx="11094415" cy="960120"/>
          </a:xfrm>
          <a:prstGeom prst="roundRect">
            <a:avLst>
              <a:gd name="adj" fmla="val 6667"/>
            </a:avLst>
          </a:prstGeom>
          <a:solidFill>
            <a:srgbClr val="F1F6F8"/>
          </a:solidFill>
          <a:ln/>
        </p:spPr>
        <p:txBody>
          <a:bodyPr/>
          <a:lstStyle/>
          <a:p>
            <a:endParaRPr lang="en-US"/>
          </a:p>
        </p:txBody>
      </p:sp>
      <p:sp>
        <p:nvSpPr>
          <p:cNvPr id="8" name="Text 5"/>
          <p:cNvSpPr txBox="1"/>
          <p:nvPr/>
        </p:nvSpPr>
        <p:spPr>
          <a:xfrm>
            <a:off x="868680" y="2743200"/>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Objective</a:t>
            </a:r>
            <a:endParaRPr lang="en-US" sz="2000" dirty="0"/>
          </a:p>
        </p:txBody>
      </p:sp>
      <p:sp>
        <p:nvSpPr>
          <p:cNvPr id="9" name="Text 6"/>
          <p:cNvSpPr txBox="1"/>
          <p:nvPr/>
        </p:nvSpPr>
        <p:spPr>
          <a:xfrm>
            <a:off x="3611878" y="2750736"/>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Based on evidence and measurement, not opinion or assumption</a:t>
            </a:r>
            <a:endParaRPr lang="en-US" dirty="0"/>
          </a:p>
        </p:txBody>
      </p:sp>
      <p:sp>
        <p:nvSpPr>
          <p:cNvPr id="10" name="Shape 7"/>
          <p:cNvSpPr/>
          <p:nvPr/>
        </p:nvSpPr>
        <p:spPr>
          <a:xfrm>
            <a:off x="548640" y="3886200"/>
            <a:ext cx="11094415" cy="960120"/>
          </a:xfrm>
          <a:prstGeom prst="roundRect">
            <a:avLst>
              <a:gd name="adj" fmla="val 6667"/>
            </a:avLst>
          </a:prstGeom>
          <a:solidFill>
            <a:srgbClr val="F1F6F8"/>
          </a:solidFill>
          <a:ln/>
        </p:spPr>
        <p:txBody>
          <a:bodyPr/>
          <a:lstStyle/>
          <a:p>
            <a:endParaRPr lang="en-US"/>
          </a:p>
        </p:txBody>
      </p:sp>
      <p:sp>
        <p:nvSpPr>
          <p:cNvPr id="11" name="Text 8"/>
          <p:cNvSpPr txBox="1"/>
          <p:nvPr/>
        </p:nvSpPr>
        <p:spPr>
          <a:xfrm>
            <a:off x="868680" y="3886200"/>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Repeatable</a:t>
            </a:r>
            <a:endParaRPr lang="en-US" sz="2000" dirty="0"/>
          </a:p>
        </p:txBody>
      </p:sp>
      <p:sp>
        <p:nvSpPr>
          <p:cNvPr id="12" name="Text 9"/>
          <p:cNvSpPr txBox="1"/>
          <p:nvPr/>
        </p:nvSpPr>
        <p:spPr>
          <a:xfrm>
            <a:off x="3611879" y="3893736"/>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Other scientists should be able to run the same test and get the same result</a:t>
            </a:r>
            <a:endParaRPr lang="en-US" dirty="0"/>
          </a:p>
        </p:txBody>
      </p:sp>
      <p:sp>
        <p:nvSpPr>
          <p:cNvPr id="13" name="Shape 10"/>
          <p:cNvSpPr/>
          <p:nvPr/>
        </p:nvSpPr>
        <p:spPr>
          <a:xfrm>
            <a:off x="548640" y="5029200"/>
            <a:ext cx="11094415" cy="960120"/>
          </a:xfrm>
          <a:prstGeom prst="roundRect">
            <a:avLst>
              <a:gd name="adj" fmla="val 6667"/>
            </a:avLst>
          </a:prstGeom>
          <a:solidFill>
            <a:srgbClr val="F1F6F8"/>
          </a:solidFill>
          <a:ln/>
        </p:spPr>
        <p:txBody>
          <a:bodyPr/>
          <a:lstStyle/>
          <a:p>
            <a:endParaRPr lang="en-US"/>
          </a:p>
        </p:txBody>
      </p:sp>
      <p:sp>
        <p:nvSpPr>
          <p:cNvPr id="14" name="Text 11"/>
          <p:cNvSpPr txBox="1"/>
          <p:nvPr/>
        </p:nvSpPr>
        <p:spPr>
          <a:xfrm>
            <a:off x="868680" y="5029200"/>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Self-correcting</a:t>
            </a:r>
            <a:endParaRPr lang="en-US" sz="2000" dirty="0"/>
          </a:p>
        </p:txBody>
      </p:sp>
      <p:sp>
        <p:nvSpPr>
          <p:cNvPr id="15" name="Text 12"/>
          <p:cNvSpPr txBox="1"/>
          <p:nvPr/>
        </p:nvSpPr>
        <p:spPr>
          <a:xfrm>
            <a:off x="3611880" y="5029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Conclusions are revised — or thrown out — when new evidence appears</a:t>
            </a:r>
            <a:endParaRPr lang="en-US" dirty="0"/>
          </a:p>
        </p:txBody>
      </p:sp>
      <p:sp>
        <p:nvSpPr>
          <p:cNvPr id="16"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59436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Steps of the Scientific Method</a:t>
            </a:r>
            <a:endParaRPr lang="en-US" sz="2800" dirty="0"/>
          </a:p>
        </p:txBody>
      </p:sp>
      <p:sp>
        <p:nvSpPr>
          <p:cNvPr id="3" name="Shape 1"/>
          <p:cNvSpPr/>
          <p:nvPr/>
        </p:nvSpPr>
        <p:spPr>
          <a:xfrm>
            <a:off x="548640" y="1371600"/>
            <a:ext cx="1711909" cy="3200400"/>
          </a:xfrm>
          <a:prstGeom prst="roundRect">
            <a:avLst>
              <a:gd name="adj" fmla="val 3739"/>
            </a:avLst>
          </a:prstGeom>
          <a:solidFill>
            <a:srgbClr val="F1F6F8"/>
          </a:solidFill>
          <a:ln/>
        </p:spPr>
        <p:txBody>
          <a:bodyPr/>
          <a:lstStyle/>
          <a:p>
            <a:endParaRPr lang="en-US"/>
          </a:p>
        </p:txBody>
      </p:sp>
      <p:sp>
        <p:nvSpPr>
          <p:cNvPr id="4" name="Text 2"/>
          <p:cNvSpPr txBox="1"/>
          <p:nvPr/>
        </p:nvSpPr>
        <p:spPr>
          <a:xfrm>
            <a:off x="548640" y="1481328"/>
            <a:ext cx="1711909" cy="320040"/>
          </a:xfrm>
          <a:prstGeom prst="rect">
            <a:avLst/>
          </a:prstGeom>
          <a:noFill/>
          <a:ln/>
        </p:spPr>
        <p:txBody>
          <a:bodyPr wrap="square" lIns="0" tIns="0" rIns="0" bIns="0" rtlCol="0" anchor="ctr"/>
          <a:lstStyle/>
          <a:p>
            <a:pPr marL="0" indent="0" algn="ctr">
              <a:buNone/>
            </a:pPr>
            <a:r>
              <a:rPr lang="en-US" sz="1300" b="1" dirty="0">
                <a:solidFill>
                  <a:srgbClr val="63737D"/>
                </a:solidFill>
                <a:latin typeface="Garamond" pitchFamily="34" charset="0"/>
                <a:ea typeface="Garamond" pitchFamily="34" charset="-122"/>
                <a:cs typeface="Garamond" pitchFamily="34" charset="-120"/>
              </a:rPr>
              <a:t>1</a:t>
            </a:r>
            <a:endParaRPr lang="en-US" sz="1300" dirty="0"/>
          </a:p>
        </p:txBody>
      </p:sp>
      <p:sp>
        <p:nvSpPr>
          <p:cNvPr id="5" name="Shape 3"/>
          <p:cNvSpPr/>
          <p:nvPr/>
        </p:nvSpPr>
        <p:spPr>
          <a:xfrm>
            <a:off x="1107415"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6" name="Image 0" descr="/tmp/chem101_topic1/icon_search_white.png"/>
          <p:cNvPicPr>
            <a:picLocks noChangeAspect="1"/>
          </p:cNvPicPr>
          <p:nvPr/>
        </p:nvPicPr>
        <p:blipFill>
          <a:blip r:embed="rId3"/>
          <a:stretch>
            <a:fillRect/>
          </a:stretch>
        </p:blipFill>
        <p:spPr>
          <a:xfrm>
            <a:off x="1250061" y="1925726"/>
            <a:ext cx="309067" cy="309067"/>
          </a:xfrm>
          <a:prstGeom prst="rect">
            <a:avLst/>
          </a:prstGeom>
        </p:spPr>
      </p:pic>
      <p:sp>
        <p:nvSpPr>
          <p:cNvPr id="7" name="Text 4"/>
          <p:cNvSpPr txBox="1"/>
          <p:nvPr/>
        </p:nvSpPr>
        <p:spPr>
          <a:xfrm>
            <a:off x="640080"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Observation</a:t>
            </a:r>
            <a:endParaRPr lang="en-US" sz="1400" dirty="0"/>
          </a:p>
        </p:txBody>
      </p:sp>
      <p:sp>
        <p:nvSpPr>
          <p:cNvPr id="8" name="Text 5"/>
          <p:cNvSpPr txBox="1"/>
          <p:nvPr/>
        </p:nvSpPr>
        <p:spPr>
          <a:xfrm>
            <a:off x="676656" y="3154680"/>
            <a:ext cx="1455877" cy="1280160"/>
          </a:xfrm>
          <a:prstGeom prst="rect">
            <a:avLst/>
          </a:prstGeom>
          <a:noFill/>
          <a:ln/>
        </p:spPr>
        <p:txBody>
          <a:bodyPr wrap="square" lIns="0" tIns="0" rIns="0" bIns="0" rtlCol="0" anchor="ctr"/>
          <a:lstStyle/>
          <a:p>
            <a:pPr marL="0" indent="0" algn="ctr">
              <a:buNone/>
            </a:pPr>
            <a:r>
              <a:rPr lang="en-US" sz="1050" dirty="0">
                <a:solidFill>
                  <a:srgbClr val="33414F"/>
                </a:solidFill>
                <a:latin typeface="Garamond" pitchFamily="34" charset="0"/>
                <a:ea typeface="Garamond" pitchFamily="34" charset="-122"/>
                <a:cs typeface="Garamond" pitchFamily="34" charset="-120"/>
              </a:rPr>
              <a:t>Notice something in the natural world</a:t>
            </a:r>
            <a:endParaRPr lang="en-US" sz="1050" dirty="0"/>
          </a:p>
        </p:txBody>
      </p:sp>
      <p:pic>
        <p:nvPicPr>
          <p:cNvPr id="9" name="Image 1" descr="/tmp/chem101_topic1/icon_arrow_navy.png"/>
          <p:cNvPicPr>
            <a:picLocks noChangeAspect="1"/>
          </p:cNvPicPr>
          <p:nvPr/>
        </p:nvPicPr>
        <p:blipFill>
          <a:blip r:embed="rId4"/>
          <a:stretch>
            <a:fillRect/>
          </a:stretch>
        </p:blipFill>
        <p:spPr>
          <a:xfrm>
            <a:off x="2260549" y="2889504"/>
            <a:ext cx="164592" cy="164592"/>
          </a:xfrm>
          <a:prstGeom prst="rect">
            <a:avLst/>
          </a:prstGeom>
        </p:spPr>
      </p:pic>
      <p:sp>
        <p:nvSpPr>
          <p:cNvPr id="10" name="Shape 6"/>
          <p:cNvSpPr/>
          <p:nvPr/>
        </p:nvSpPr>
        <p:spPr>
          <a:xfrm>
            <a:off x="2425141" y="1371600"/>
            <a:ext cx="1711909" cy="3200400"/>
          </a:xfrm>
          <a:prstGeom prst="roundRect">
            <a:avLst>
              <a:gd name="adj" fmla="val 3739"/>
            </a:avLst>
          </a:prstGeom>
          <a:solidFill>
            <a:srgbClr val="E4EFF2"/>
          </a:solidFill>
          <a:ln/>
        </p:spPr>
        <p:txBody>
          <a:bodyPr/>
          <a:lstStyle/>
          <a:p>
            <a:endParaRPr lang="en-US"/>
          </a:p>
        </p:txBody>
      </p:sp>
      <p:sp>
        <p:nvSpPr>
          <p:cNvPr id="11" name="Text 7"/>
          <p:cNvSpPr txBox="1"/>
          <p:nvPr/>
        </p:nvSpPr>
        <p:spPr>
          <a:xfrm>
            <a:off x="2425141" y="1481328"/>
            <a:ext cx="1711909" cy="320040"/>
          </a:xfrm>
          <a:prstGeom prst="rect">
            <a:avLst/>
          </a:prstGeom>
          <a:noFill/>
          <a:ln/>
        </p:spPr>
        <p:txBody>
          <a:bodyPr wrap="square" lIns="0" tIns="0" rIns="0" bIns="0" rtlCol="0" anchor="ctr"/>
          <a:lstStyle/>
          <a:p>
            <a:pPr marL="0" indent="0" algn="ctr">
              <a:buNone/>
            </a:pPr>
            <a:r>
              <a:rPr lang="en-US" sz="1300" b="1" dirty="0">
                <a:solidFill>
                  <a:srgbClr val="63737D"/>
                </a:solidFill>
                <a:latin typeface="Garamond" pitchFamily="34" charset="0"/>
                <a:ea typeface="Garamond" pitchFamily="34" charset="-122"/>
                <a:cs typeface="Garamond" pitchFamily="34" charset="-120"/>
              </a:rPr>
              <a:t>2</a:t>
            </a:r>
            <a:endParaRPr lang="en-US" sz="1300" dirty="0"/>
          </a:p>
        </p:txBody>
      </p:sp>
      <p:sp>
        <p:nvSpPr>
          <p:cNvPr id="12" name="Shape 8"/>
          <p:cNvSpPr/>
          <p:nvPr/>
        </p:nvSpPr>
        <p:spPr>
          <a:xfrm>
            <a:off x="2983916"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13" name="Image 2" descr="/tmp/chem101_topic1/icon_question_white.png"/>
          <p:cNvPicPr>
            <a:picLocks noChangeAspect="1"/>
          </p:cNvPicPr>
          <p:nvPr/>
        </p:nvPicPr>
        <p:blipFill>
          <a:blip r:embed="rId5"/>
          <a:stretch>
            <a:fillRect/>
          </a:stretch>
        </p:blipFill>
        <p:spPr>
          <a:xfrm>
            <a:off x="3126562" y="1925726"/>
            <a:ext cx="309067" cy="309067"/>
          </a:xfrm>
          <a:prstGeom prst="rect">
            <a:avLst/>
          </a:prstGeom>
        </p:spPr>
      </p:pic>
      <p:sp>
        <p:nvSpPr>
          <p:cNvPr id="14" name="Text 9"/>
          <p:cNvSpPr txBox="1"/>
          <p:nvPr/>
        </p:nvSpPr>
        <p:spPr>
          <a:xfrm>
            <a:off x="2516581"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Question</a:t>
            </a:r>
            <a:endParaRPr lang="en-US" sz="1400" dirty="0"/>
          </a:p>
        </p:txBody>
      </p:sp>
      <p:sp>
        <p:nvSpPr>
          <p:cNvPr id="15" name="Text 10"/>
          <p:cNvSpPr txBox="1"/>
          <p:nvPr/>
        </p:nvSpPr>
        <p:spPr>
          <a:xfrm>
            <a:off x="2553157" y="3154680"/>
            <a:ext cx="1455877" cy="1280160"/>
          </a:xfrm>
          <a:prstGeom prst="rect">
            <a:avLst/>
          </a:prstGeom>
          <a:noFill/>
          <a:ln/>
        </p:spPr>
        <p:txBody>
          <a:bodyPr wrap="square" lIns="0" tIns="0" rIns="0" bIns="0" rtlCol="0" anchor="ctr"/>
          <a:lstStyle/>
          <a:p>
            <a:pPr marL="0" indent="0" algn="ctr">
              <a:buNone/>
            </a:pPr>
            <a:r>
              <a:rPr lang="en-US" sz="1050" dirty="0">
                <a:solidFill>
                  <a:srgbClr val="33414F"/>
                </a:solidFill>
                <a:latin typeface="Garamond" pitchFamily="34" charset="0"/>
                <a:ea typeface="Garamond" pitchFamily="34" charset="-122"/>
                <a:cs typeface="Garamond" pitchFamily="34" charset="-120"/>
              </a:rPr>
              <a:t>Ask why or how it happens</a:t>
            </a:r>
            <a:endParaRPr lang="en-US" sz="1050" dirty="0"/>
          </a:p>
        </p:txBody>
      </p:sp>
      <p:pic>
        <p:nvPicPr>
          <p:cNvPr id="16" name="Image 3" descr="/tmp/chem101_topic1/icon_arrow_navy.png"/>
          <p:cNvPicPr>
            <a:picLocks noChangeAspect="1"/>
          </p:cNvPicPr>
          <p:nvPr/>
        </p:nvPicPr>
        <p:blipFill>
          <a:blip r:embed="rId4"/>
          <a:stretch>
            <a:fillRect/>
          </a:stretch>
        </p:blipFill>
        <p:spPr>
          <a:xfrm>
            <a:off x="4137050" y="2889504"/>
            <a:ext cx="164592" cy="164592"/>
          </a:xfrm>
          <a:prstGeom prst="rect">
            <a:avLst/>
          </a:prstGeom>
        </p:spPr>
      </p:pic>
      <p:sp>
        <p:nvSpPr>
          <p:cNvPr id="17" name="Shape 11"/>
          <p:cNvSpPr/>
          <p:nvPr/>
        </p:nvSpPr>
        <p:spPr>
          <a:xfrm>
            <a:off x="4301642" y="1371600"/>
            <a:ext cx="1711909" cy="3200400"/>
          </a:xfrm>
          <a:prstGeom prst="roundRect">
            <a:avLst>
              <a:gd name="adj" fmla="val 3739"/>
            </a:avLst>
          </a:prstGeom>
          <a:solidFill>
            <a:srgbClr val="F1F6F8"/>
          </a:solidFill>
          <a:ln/>
        </p:spPr>
        <p:txBody>
          <a:bodyPr/>
          <a:lstStyle/>
          <a:p>
            <a:endParaRPr lang="en-US"/>
          </a:p>
        </p:txBody>
      </p:sp>
      <p:sp>
        <p:nvSpPr>
          <p:cNvPr id="18" name="Text 12"/>
          <p:cNvSpPr txBox="1"/>
          <p:nvPr/>
        </p:nvSpPr>
        <p:spPr>
          <a:xfrm>
            <a:off x="4301642" y="1481328"/>
            <a:ext cx="1711909" cy="320040"/>
          </a:xfrm>
          <a:prstGeom prst="rect">
            <a:avLst/>
          </a:prstGeom>
          <a:noFill/>
          <a:ln/>
        </p:spPr>
        <p:txBody>
          <a:bodyPr wrap="square" lIns="0" tIns="0" rIns="0" bIns="0" rtlCol="0" anchor="ctr"/>
          <a:lstStyle/>
          <a:p>
            <a:pPr marL="0" indent="0" algn="ctr">
              <a:buNone/>
            </a:pPr>
            <a:r>
              <a:rPr lang="en-US" sz="1300" b="1" dirty="0">
                <a:solidFill>
                  <a:srgbClr val="63737D"/>
                </a:solidFill>
                <a:latin typeface="Garamond" pitchFamily="34" charset="0"/>
                <a:ea typeface="Garamond" pitchFamily="34" charset="-122"/>
                <a:cs typeface="Garamond" pitchFamily="34" charset="-120"/>
              </a:rPr>
              <a:t>3</a:t>
            </a:r>
            <a:endParaRPr lang="en-US" sz="1300" dirty="0"/>
          </a:p>
        </p:txBody>
      </p:sp>
      <p:sp>
        <p:nvSpPr>
          <p:cNvPr id="19" name="Shape 13"/>
          <p:cNvSpPr/>
          <p:nvPr/>
        </p:nvSpPr>
        <p:spPr>
          <a:xfrm>
            <a:off x="4860417"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20" name="Image 4" descr="/tmp/chem101_topic1/icon_lightbulb_white.png"/>
          <p:cNvPicPr>
            <a:picLocks noChangeAspect="1"/>
          </p:cNvPicPr>
          <p:nvPr/>
        </p:nvPicPr>
        <p:blipFill>
          <a:blip r:embed="rId6"/>
          <a:stretch>
            <a:fillRect/>
          </a:stretch>
        </p:blipFill>
        <p:spPr>
          <a:xfrm>
            <a:off x="5003063" y="1925726"/>
            <a:ext cx="309067" cy="309067"/>
          </a:xfrm>
          <a:prstGeom prst="rect">
            <a:avLst/>
          </a:prstGeom>
        </p:spPr>
      </p:pic>
      <p:sp>
        <p:nvSpPr>
          <p:cNvPr id="21" name="Text 14"/>
          <p:cNvSpPr txBox="1"/>
          <p:nvPr/>
        </p:nvSpPr>
        <p:spPr>
          <a:xfrm>
            <a:off x="4393082"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Hypothesis</a:t>
            </a:r>
            <a:endParaRPr lang="en-US" sz="1400" dirty="0"/>
          </a:p>
        </p:txBody>
      </p:sp>
      <p:sp>
        <p:nvSpPr>
          <p:cNvPr id="22" name="Text 15"/>
          <p:cNvSpPr txBox="1"/>
          <p:nvPr/>
        </p:nvSpPr>
        <p:spPr>
          <a:xfrm>
            <a:off x="4429658" y="3154680"/>
            <a:ext cx="1455877" cy="1280160"/>
          </a:xfrm>
          <a:prstGeom prst="rect">
            <a:avLst/>
          </a:prstGeom>
          <a:noFill/>
          <a:ln/>
        </p:spPr>
        <p:txBody>
          <a:bodyPr wrap="square" lIns="0" tIns="0" rIns="0" bIns="0" rtlCol="0" anchor="ctr"/>
          <a:lstStyle/>
          <a:p>
            <a:pPr marL="0" indent="0" algn="ctr">
              <a:buNone/>
            </a:pPr>
            <a:r>
              <a:rPr lang="en-US" sz="1050" dirty="0">
                <a:solidFill>
                  <a:srgbClr val="33414F"/>
                </a:solidFill>
                <a:latin typeface="Garamond" pitchFamily="34" charset="0"/>
                <a:ea typeface="Garamond" pitchFamily="34" charset="-122"/>
                <a:cs typeface="Garamond" pitchFamily="34" charset="-120"/>
              </a:rPr>
              <a:t>Propose a testable explanation</a:t>
            </a:r>
            <a:endParaRPr lang="en-US" sz="1050" dirty="0"/>
          </a:p>
        </p:txBody>
      </p:sp>
      <p:pic>
        <p:nvPicPr>
          <p:cNvPr id="23" name="Image 5" descr="/tmp/chem101_topic1/icon_arrow_navy.png"/>
          <p:cNvPicPr>
            <a:picLocks noChangeAspect="1"/>
          </p:cNvPicPr>
          <p:nvPr/>
        </p:nvPicPr>
        <p:blipFill>
          <a:blip r:embed="rId4"/>
          <a:stretch>
            <a:fillRect/>
          </a:stretch>
        </p:blipFill>
        <p:spPr>
          <a:xfrm>
            <a:off x="6013552" y="2889504"/>
            <a:ext cx="164592" cy="164592"/>
          </a:xfrm>
          <a:prstGeom prst="rect">
            <a:avLst/>
          </a:prstGeom>
        </p:spPr>
      </p:pic>
      <p:sp>
        <p:nvSpPr>
          <p:cNvPr id="24" name="Shape 16"/>
          <p:cNvSpPr/>
          <p:nvPr/>
        </p:nvSpPr>
        <p:spPr>
          <a:xfrm>
            <a:off x="6178144" y="1371600"/>
            <a:ext cx="1711909" cy="3200400"/>
          </a:xfrm>
          <a:prstGeom prst="roundRect">
            <a:avLst>
              <a:gd name="adj" fmla="val 3739"/>
            </a:avLst>
          </a:prstGeom>
          <a:solidFill>
            <a:srgbClr val="E4EFF2"/>
          </a:solidFill>
          <a:ln/>
        </p:spPr>
        <p:txBody>
          <a:bodyPr/>
          <a:lstStyle/>
          <a:p>
            <a:endParaRPr lang="en-US"/>
          </a:p>
        </p:txBody>
      </p:sp>
      <p:sp>
        <p:nvSpPr>
          <p:cNvPr id="25" name="Text 17"/>
          <p:cNvSpPr txBox="1"/>
          <p:nvPr/>
        </p:nvSpPr>
        <p:spPr>
          <a:xfrm>
            <a:off x="6178144" y="1481328"/>
            <a:ext cx="1711909" cy="320040"/>
          </a:xfrm>
          <a:prstGeom prst="rect">
            <a:avLst/>
          </a:prstGeom>
          <a:noFill/>
          <a:ln/>
        </p:spPr>
        <p:txBody>
          <a:bodyPr wrap="square" lIns="0" tIns="0" rIns="0" bIns="0" rtlCol="0" anchor="ctr"/>
          <a:lstStyle/>
          <a:p>
            <a:pPr marL="0" indent="0" algn="ctr">
              <a:buNone/>
            </a:pPr>
            <a:r>
              <a:rPr lang="en-US" sz="1300" b="1" dirty="0">
                <a:solidFill>
                  <a:srgbClr val="63737D"/>
                </a:solidFill>
                <a:latin typeface="Garamond" pitchFamily="34" charset="0"/>
                <a:ea typeface="Garamond" pitchFamily="34" charset="-122"/>
                <a:cs typeface="Garamond" pitchFamily="34" charset="-120"/>
              </a:rPr>
              <a:t>4</a:t>
            </a:r>
            <a:endParaRPr lang="en-US" sz="1300" dirty="0"/>
          </a:p>
        </p:txBody>
      </p:sp>
      <p:sp>
        <p:nvSpPr>
          <p:cNvPr id="26" name="Shape 18"/>
          <p:cNvSpPr/>
          <p:nvPr/>
        </p:nvSpPr>
        <p:spPr>
          <a:xfrm>
            <a:off x="6736918"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27" name="Image 6" descr="/tmp/chem101_topic1/icon_vial_white.png"/>
          <p:cNvPicPr>
            <a:picLocks noChangeAspect="1"/>
          </p:cNvPicPr>
          <p:nvPr/>
        </p:nvPicPr>
        <p:blipFill>
          <a:blip r:embed="rId7"/>
          <a:stretch>
            <a:fillRect/>
          </a:stretch>
        </p:blipFill>
        <p:spPr>
          <a:xfrm>
            <a:off x="6879565" y="1925726"/>
            <a:ext cx="309067" cy="309067"/>
          </a:xfrm>
          <a:prstGeom prst="rect">
            <a:avLst/>
          </a:prstGeom>
        </p:spPr>
      </p:pic>
      <p:sp>
        <p:nvSpPr>
          <p:cNvPr id="28" name="Text 19"/>
          <p:cNvSpPr txBox="1"/>
          <p:nvPr/>
        </p:nvSpPr>
        <p:spPr>
          <a:xfrm>
            <a:off x="6269584"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Experiment</a:t>
            </a:r>
            <a:endParaRPr lang="en-US" sz="1400" dirty="0"/>
          </a:p>
        </p:txBody>
      </p:sp>
      <p:sp>
        <p:nvSpPr>
          <p:cNvPr id="29" name="Text 20"/>
          <p:cNvSpPr txBox="1"/>
          <p:nvPr/>
        </p:nvSpPr>
        <p:spPr>
          <a:xfrm>
            <a:off x="6306160" y="3154680"/>
            <a:ext cx="1455877" cy="1280160"/>
          </a:xfrm>
          <a:prstGeom prst="rect">
            <a:avLst/>
          </a:prstGeom>
          <a:noFill/>
          <a:ln/>
        </p:spPr>
        <p:txBody>
          <a:bodyPr wrap="square" lIns="0" tIns="0" rIns="0" bIns="0" rtlCol="0" anchor="ctr"/>
          <a:lstStyle/>
          <a:p>
            <a:pPr marL="0" indent="0" algn="ctr">
              <a:buNone/>
            </a:pPr>
            <a:r>
              <a:rPr lang="en-US" sz="1050" dirty="0">
                <a:solidFill>
                  <a:srgbClr val="33414F"/>
                </a:solidFill>
                <a:latin typeface="Garamond" pitchFamily="34" charset="0"/>
                <a:ea typeface="Garamond" pitchFamily="34" charset="-122"/>
                <a:cs typeface="Garamond" pitchFamily="34" charset="-120"/>
              </a:rPr>
              <a:t>Design a controlled test</a:t>
            </a:r>
            <a:endParaRPr lang="en-US" sz="1050" dirty="0"/>
          </a:p>
        </p:txBody>
      </p:sp>
      <p:pic>
        <p:nvPicPr>
          <p:cNvPr id="30" name="Image 7" descr="/tmp/chem101_topic1/icon_arrow_navy.png"/>
          <p:cNvPicPr>
            <a:picLocks noChangeAspect="1"/>
          </p:cNvPicPr>
          <p:nvPr/>
        </p:nvPicPr>
        <p:blipFill>
          <a:blip r:embed="rId4"/>
          <a:stretch>
            <a:fillRect/>
          </a:stretch>
        </p:blipFill>
        <p:spPr>
          <a:xfrm>
            <a:off x="7890053" y="2889504"/>
            <a:ext cx="164592" cy="164592"/>
          </a:xfrm>
          <a:prstGeom prst="rect">
            <a:avLst/>
          </a:prstGeom>
        </p:spPr>
      </p:pic>
      <p:sp>
        <p:nvSpPr>
          <p:cNvPr id="31" name="Shape 21"/>
          <p:cNvSpPr/>
          <p:nvPr/>
        </p:nvSpPr>
        <p:spPr>
          <a:xfrm>
            <a:off x="8054645" y="1371600"/>
            <a:ext cx="1711909" cy="3200400"/>
          </a:xfrm>
          <a:prstGeom prst="roundRect">
            <a:avLst>
              <a:gd name="adj" fmla="val 3739"/>
            </a:avLst>
          </a:prstGeom>
          <a:solidFill>
            <a:srgbClr val="F1F6F8"/>
          </a:solidFill>
          <a:ln/>
        </p:spPr>
        <p:txBody>
          <a:bodyPr/>
          <a:lstStyle/>
          <a:p>
            <a:endParaRPr lang="en-US"/>
          </a:p>
        </p:txBody>
      </p:sp>
      <p:sp>
        <p:nvSpPr>
          <p:cNvPr id="32" name="Text 22"/>
          <p:cNvSpPr txBox="1"/>
          <p:nvPr/>
        </p:nvSpPr>
        <p:spPr>
          <a:xfrm>
            <a:off x="8054645" y="1481328"/>
            <a:ext cx="1711909" cy="320040"/>
          </a:xfrm>
          <a:prstGeom prst="rect">
            <a:avLst/>
          </a:prstGeom>
          <a:noFill/>
          <a:ln/>
        </p:spPr>
        <p:txBody>
          <a:bodyPr wrap="square" lIns="0" tIns="0" rIns="0" bIns="0" rtlCol="0" anchor="ctr"/>
          <a:lstStyle/>
          <a:p>
            <a:pPr marL="0" indent="0" algn="ctr">
              <a:buNone/>
            </a:pPr>
            <a:r>
              <a:rPr lang="en-US" sz="1300" b="1" dirty="0">
                <a:solidFill>
                  <a:srgbClr val="63737D"/>
                </a:solidFill>
                <a:latin typeface="Garamond" pitchFamily="34" charset="0"/>
                <a:ea typeface="Garamond" pitchFamily="34" charset="-122"/>
                <a:cs typeface="Garamond" pitchFamily="34" charset="-120"/>
              </a:rPr>
              <a:t>5</a:t>
            </a:r>
            <a:endParaRPr lang="en-US" sz="1300" dirty="0"/>
          </a:p>
        </p:txBody>
      </p:sp>
      <p:sp>
        <p:nvSpPr>
          <p:cNvPr id="33" name="Shape 23"/>
          <p:cNvSpPr/>
          <p:nvPr/>
        </p:nvSpPr>
        <p:spPr>
          <a:xfrm>
            <a:off x="8613419"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4" name="Image 8" descr="/tmp/chem101_topic1/icon_chart_white.png"/>
          <p:cNvPicPr>
            <a:picLocks noChangeAspect="1"/>
          </p:cNvPicPr>
          <p:nvPr/>
        </p:nvPicPr>
        <p:blipFill>
          <a:blip r:embed="rId8"/>
          <a:stretch>
            <a:fillRect/>
          </a:stretch>
        </p:blipFill>
        <p:spPr>
          <a:xfrm>
            <a:off x="8756066" y="1925726"/>
            <a:ext cx="309067" cy="309067"/>
          </a:xfrm>
          <a:prstGeom prst="rect">
            <a:avLst/>
          </a:prstGeom>
        </p:spPr>
      </p:pic>
      <p:sp>
        <p:nvSpPr>
          <p:cNvPr id="35" name="Text 24"/>
          <p:cNvSpPr txBox="1"/>
          <p:nvPr/>
        </p:nvSpPr>
        <p:spPr>
          <a:xfrm>
            <a:off x="8146085"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Analyze</a:t>
            </a:r>
            <a:endParaRPr lang="en-US" sz="1400" dirty="0"/>
          </a:p>
        </p:txBody>
      </p:sp>
      <p:sp>
        <p:nvSpPr>
          <p:cNvPr id="36" name="Text 25"/>
          <p:cNvSpPr txBox="1"/>
          <p:nvPr/>
        </p:nvSpPr>
        <p:spPr>
          <a:xfrm>
            <a:off x="8182661" y="3154680"/>
            <a:ext cx="1455877" cy="1280160"/>
          </a:xfrm>
          <a:prstGeom prst="rect">
            <a:avLst/>
          </a:prstGeom>
          <a:noFill/>
          <a:ln/>
        </p:spPr>
        <p:txBody>
          <a:bodyPr wrap="square" lIns="0" tIns="0" rIns="0" bIns="0" rtlCol="0" anchor="ctr"/>
          <a:lstStyle/>
          <a:p>
            <a:pPr marL="0" indent="0" algn="ctr">
              <a:buNone/>
            </a:pPr>
            <a:r>
              <a:rPr lang="en-US" sz="1050" dirty="0">
                <a:solidFill>
                  <a:srgbClr val="33414F"/>
                </a:solidFill>
                <a:latin typeface="Garamond" pitchFamily="34" charset="0"/>
                <a:ea typeface="Garamond" pitchFamily="34" charset="-122"/>
                <a:cs typeface="Garamond" pitchFamily="34" charset="-120"/>
              </a:rPr>
              <a:t>Examine the resulting data</a:t>
            </a:r>
            <a:endParaRPr lang="en-US" sz="1050" dirty="0"/>
          </a:p>
        </p:txBody>
      </p:sp>
      <p:pic>
        <p:nvPicPr>
          <p:cNvPr id="37" name="Image 9" descr="/tmp/chem101_topic1/icon_arrow_navy.png"/>
          <p:cNvPicPr>
            <a:picLocks noChangeAspect="1"/>
          </p:cNvPicPr>
          <p:nvPr/>
        </p:nvPicPr>
        <p:blipFill>
          <a:blip r:embed="rId4"/>
          <a:stretch>
            <a:fillRect/>
          </a:stretch>
        </p:blipFill>
        <p:spPr>
          <a:xfrm>
            <a:off x="9766554" y="2889504"/>
            <a:ext cx="164592" cy="164592"/>
          </a:xfrm>
          <a:prstGeom prst="rect">
            <a:avLst/>
          </a:prstGeom>
        </p:spPr>
      </p:pic>
      <p:sp>
        <p:nvSpPr>
          <p:cNvPr id="38" name="Shape 26"/>
          <p:cNvSpPr/>
          <p:nvPr/>
        </p:nvSpPr>
        <p:spPr>
          <a:xfrm>
            <a:off x="9931146" y="1371600"/>
            <a:ext cx="1711909" cy="3200400"/>
          </a:xfrm>
          <a:prstGeom prst="roundRect">
            <a:avLst>
              <a:gd name="adj" fmla="val 3739"/>
            </a:avLst>
          </a:prstGeom>
          <a:solidFill>
            <a:srgbClr val="E4EFF2"/>
          </a:solidFill>
          <a:ln/>
        </p:spPr>
        <p:txBody>
          <a:bodyPr/>
          <a:lstStyle/>
          <a:p>
            <a:endParaRPr lang="en-US"/>
          </a:p>
        </p:txBody>
      </p:sp>
      <p:sp>
        <p:nvSpPr>
          <p:cNvPr id="39" name="Text 27"/>
          <p:cNvSpPr txBox="1"/>
          <p:nvPr/>
        </p:nvSpPr>
        <p:spPr>
          <a:xfrm>
            <a:off x="9931146" y="1481328"/>
            <a:ext cx="1711909" cy="320040"/>
          </a:xfrm>
          <a:prstGeom prst="rect">
            <a:avLst/>
          </a:prstGeom>
          <a:noFill/>
          <a:ln/>
        </p:spPr>
        <p:txBody>
          <a:bodyPr wrap="square" lIns="0" tIns="0" rIns="0" bIns="0" rtlCol="0" anchor="ctr"/>
          <a:lstStyle/>
          <a:p>
            <a:pPr marL="0" indent="0" algn="ctr">
              <a:buNone/>
            </a:pPr>
            <a:r>
              <a:rPr lang="en-US" sz="1300" b="1" dirty="0">
                <a:solidFill>
                  <a:srgbClr val="63737D"/>
                </a:solidFill>
                <a:latin typeface="Garamond" pitchFamily="34" charset="0"/>
                <a:ea typeface="Garamond" pitchFamily="34" charset="-122"/>
                <a:cs typeface="Garamond" pitchFamily="34" charset="-120"/>
              </a:rPr>
              <a:t>6</a:t>
            </a:r>
            <a:endParaRPr lang="en-US" sz="1300" dirty="0"/>
          </a:p>
        </p:txBody>
      </p:sp>
      <p:sp>
        <p:nvSpPr>
          <p:cNvPr id="40" name="Shape 28"/>
          <p:cNvSpPr/>
          <p:nvPr/>
        </p:nvSpPr>
        <p:spPr>
          <a:xfrm>
            <a:off x="10489921"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41" name="Image 10" descr="/tmp/chem101_topic1/icon_check_white.png"/>
          <p:cNvPicPr>
            <a:picLocks noChangeAspect="1"/>
          </p:cNvPicPr>
          <p:nvPr/>
        </p:nvPicPr>
        <p:blipFill>
          <a:blip r:embed="rId9"/>
          <a:stretch>
            <a:fillRect/>
          </a:stretch>
        </p:blipFill>
        <p:spPr>
          <a:xfrm>
            <a:off x="10632567" y="1925726"/>
            <a:ext cx="309067" cy="309067"/>
          </a:xfrm>
          <a:prstGeom prst="rect">
            <a:avLst/>
          </a:prstGeom>
        </p:spPr>
      </p:pic>
      <p:sp>
        <p:nvSpPr>
          <p:cNvPr id="42" name="Text 29"/>
          <p:cNvSpPr txBox="1"/>
          <p:nvPr/>
        </p:nvSpPr>
        <p:spPr>
          <a:xfrm>
            <a:off x="10022586"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Conclusion</a:t>
            </a:r>
            <a:endParaRPr lang="en-US" sz="1400" dirty="0"/>
          </a:p>
        </p:txBody>
      </p:sp>
      <p:sp>
        <p:nvSpPr>
          <p:cNvPr id="43" name="Text 30"/>
          <p:cNvSpPr txBox="1"/>
          <p:nvPr/>
        </p:nvSpPr>
        <p:spPr>
          <a:xfrm>
            <a:off x="10059162" y="3154680"/>
            <a:ext cx="1455877" cy="1280160"/>
          </a:xfrm>
          <a:prstGeom prst="rect">
            <a:avLst/>
          </a:prstGeom>
          <a:noFill/>
          <a:ln/>
        </p:spPr>
        <p:txBody>
          <a:bodyPr wrap="square" lIns="0" tIns="0" rIns="0" bIns="0" rtlCol="0" anchor="ctr"/>
          <a:lstStyle/>
          <a:p>
            <a:pPr marL="0" indent="0" algn="ctr">
              <a:buNone/>
            </a:pPr>
            <a:r>
              <a:rPr lang="en-US" sz="1050" dirty="0">
                <a:solidFill>
                  <a:srgbClr val="33414F"/>
                </a:solidFill>
                <a:latin typeface="Garamond" pitchFamily="34" charset="0"/>
                <a:ea typeface="Garamond" pitchFamily="34" charset="-122"/>
                <a:cs typeface="Garamond" pitchFamily="34" charset="-120"/>
              </a:rPr>
              <a:t>Support, revise, or reject the hypothesis</a:t>
            </a:r>
            <a:endParaRPr lang="en-US" sz="1050" dirty="0"/>
          </a:p>
        </p:txBody>
      </p:sp>
      <p:sp>
        <p:nvSpPr>
          <p:cNvPr id="44" name="Text 31"/>
          <p:cNvSpPr txBox="1"/>
          <p:nvPr/>
        </p:nvSpPr>
        <p:spPr>
          <a:xfrm>
            <a:off x="548640" y="4696358"/>
            <a:ext cx="11094415" cy="457200"/>
          </a:xfrm>
          <a:prstGeom prst="rect">
            <a:avLst/>
          </a:prstGeom>
          <a:noFill/>
          <a:ln/>
        </p:spPr>
        <p:txBody>
          <a:bodyPr wrap="square" lIns="0" tIns="0" rIns="0" bIns="0" rtlCol="0" anchor="ctr"/>
          <a:lstStyle/>
          <a:p>
            <a:pPr marL="0" indent="0" algn="ctr">
              <a:buNone/>
            </a:pPr>
            <a:r>
              <a:rPr lang="en-US" dirty="0">
                <a:solidFill>
                  <a:schemeClr val="tx1">
                    <a:lumMod val="65000"/>
                    <a:lumOff val="35000"/>
                  </a:schemeClr>
                </a:solidFill>
                <a:latin typeface="Garamond" pitchFamily="34" charset="0"/>
                <a:ea typeface="Garamond" pitchFamily="34" charset="-122"/>
                <a:cs typeface="Garamond" pitchFamily="34" charset="-120"/>
              </a:rPr>
              <a:t>Science loops back — new observations can send you right back to step one.</a:t>
            </a:r>
            <a:endParaRPr lang="en-US" dirty="0">
              <a:solidFill>
                <a:schemeClr val="tx1">
                  <a:lumMod val="65000"/>
                  <a:lumOff val="35000"/>
                </a:schemeClr>
              </a:solidFill>
            </a:endParaRPr>
          </a:p>
        </p:txBody>
      </p:sp>
      <p:sp>
        <p:nvSpPr>
          <p:cNvPr id="45" name="Text 32"/>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46" name="Text 3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12</a:t>
            </a:r>
            <a:endParaRPr lang="en-US" sz="900" dirty="0"/>
          </a:p>
        </p:txBody>
      </p:sp>
      <p:cxnSp>
        <p:nvCxnSpPr>
          <p:cNvPr id="48" name="Elbow Connector 47">
            <a:extLst>
              <a:ext uri="{FF2B5EF4-FFF2-40B4-BE49-F238E27FC236}">
                <a16:creationId xmlns:a16="http://schemas.microsoft.com/office/drawing/2014/main" id="{A4478331-2FCE-DF0C-83ED-7A03E7E4563F}"/>
              </a:ext>
            </a:extLst>
          </p:cNvPr>
          <p:cNvCxnSpPr>
            <a:cxnSpLocks/>
            <a:stCxn id="38" idx="2"/>
          </p:cNvCxnSpPr>
          <p:nvPr/>
        </p:nvCxnSpPr>
        <p:spPr>
          <a:xfrm rot="5400000">
            <a:off x="5752948" y="223647"/>
            <a:ext cx="685800" cy="9382506"/>
          </a:xfrm>
          <a:prstGeom prst="bentConnector2">
            <a:avLst/>
          </a:prstGeom>
          <a:ln w="762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7BA4B94-7D6F-84A5-3EA7-AD5816DAA814}"/>
              </a:ext>
            </a:extLst>
          </p:cNvPr>
          <p:cNvCxnSpPr>
            <a:cxnSpLocks/>
            <a:endCxn id="3" idx="2"/>
          </p:cNvCxnSpPr>
          <p:nvPr/>
        </p:nvCxnSpPr>
        <p:spPr>
          <a:xfrm flipV="1">
            <a:off x="1404595" y="4572000"/>
            <a:ext cx="0" cy="6858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balance_white.png"/>
          <p:cNvPicPr>
            <a:picLocks noChangeAspect="1"/>
          </p:cNvPicPr>
          <p:nvPr/>
        </p:nvPicPr>
        <p:blipFill>
          <a:blip r:embed="rId3"/>
          <a:stretch>
            <a:fillRect/>
          </a:stretch>
        </p:blipFill>
        <p:spPr>
          <a:xfrm>
            <a:off x="697230" y="605790"/>
            <a:ext cx="297180" cy="297180"/>
          </a:xfrm>
          <a:prstGeom prst="rect">
            <a:avLst/>
          </a:prstGeom>
        </p:spPr>
      </p:pic>
      <p:sp>
        <p:nvSpPr>
          <p:cNvPr id="4" name="Text 1"/>
          <p:cNvSpPr txBox="1"/>
          <p:nvPr/>
        </p:nvSpPr>
        <p:spPr>
          <a:xfrm>
            <a:off x="1325880" y="411480"/>
            <a:ext cx="9784080" cy="68580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Hypothesis, Theory, and Law: Not the Same Thing</a:t>
            </a:r>
            <a:endParaRPr lang="en-US" sz="2400" dirty="0"/>
          </a:p>
        </p:txBody>
      </p:sp>
      <p:sp>
        <p:nvSpPr>
          <p:cNvPr id="5" name="Shape 2"/>
          <p:cNvSpPr/>
          <p:nvPr/>
        </p:nvSpPr>
        <p:spPr>
          <a:xfrm>
            <a:off x="548640" y="1417320"/>
            <a:ext cx="3527450" cy="594360"/>
          </a:xfrm>
          <a:prstGeom prst="roundRect">
            <a:avLst>
              <a:gd name="adj" fmla="val 10769"/>
            </a:avLst>
          </a:prstGeom>
          <a:solidFill>
            <a:srgbClr val="14213D"/>
          </a:solidFill>
          <a:ln/>
        </p:spPr>
        <p:txBody>
          <a:bodyPr/>
          <a:lstStyle/>
          <a:p>
            <a:endParaRPr lang="en-US"/>
          </a:p>
        </p:txBody>
      </p:sp>
      <p:sp>
        <p:nvSpPr>
          <p:cNvPr id="6" name="Text 3"/>
          <p:cNvSpPr txBox="1"/>
          <p:nvPr/>
        </p:nvSpPr>
        <p:spPr>
          <a:xfrm>
            <a:off x="548640" y="1417320"/>
            <a:ext cx="352745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Garamond" pitchFamily="34" charset="0"/>
                <a:ea typeface="Garamond" pitchFamily="34" charset="-122"/>
                <a:cs typeface="Garamond" pitchFamily="34" charset="-120"/>
              </a:rPr>
              <a:t>Hypothesis</a:t>
            </a:r>
            <a:endParaRPr lang="en-US" sz="2400" dirty="0"/>
          </a:p>
        </p:txBody>
      </p:sp>
      <p:sp>
        <p:nvSpPr>
          <p:cNvPr id="7" name="Shape 4"/>
          <p:cNvSpPr/>
          <p:nvPr/>
        </p:nvSpPr>
        <p:spPr>
          <a:xfrm>
            <a:off x="548640" y="2103120"/>
            <a:ext cx="3527450" cy="3154680"/>
          </a:xfrm>
          <a:prstGeom prst="roundRect">
            <a:avLst>
              <a:gd name="adj" fmla="val 2029"/>
            </a:avLst>
          </a:prstGeom>
          <a:solidFill>
            <a:srgbClr val="F1F6F8"/>
          </a:solidFill>
          <a:ln/>
        </p:spPr>
        <p:txBody>
          <a:bodyPr/>
          <a:lstStyle/>
          <a:p>
            <a:endParaRPr lang="en-US"/>
          </a:p>
        </p:txBody>
      </p:sp>
      <p:sp>
        <p:nvSpPr>
          <p:cNvPr id="8" name="Text 5"/>
          <p:cNvSpPr txBox="1"/>
          <p:nvPr/>
        </p:nvSpPr>
        <p:spPr>
          <a:xfrm>
            <a:off x="744583" y="2521134"/>
            <a:ext cx="3161690" cy="1867989"/>
          </a:xfrm>
          <a:prstGeom prst="rect">
            <a:avLst/>
          </a:prstGeom>
          <a:noFill/>
          <a:ln/>
        </p:spPr>
        <p:txBody>
          <a:bodyPr wrap="square" lIns="0" tIns="0" rIns="0" bIns="0" rtlCol="0" anchor="t"/>
          <a:lstStyle/>
          <a:p>
            <a:pPr marL="0" indent="0">
              <a:buNone/>
            </a:pPr>
            <a:r>
              <a:rPr lang="en-US" sz="2000" dirty="0">
                <a:solidFill>
                  <a:srgbClr val="33414F"/>
                </a:solidFill>
                <a:latin typeface="Garamond" pitchFamily="34" charset="0"/>
                <a:ea typeface="Garamond" pitchFamily="34" charset="-122"/>
                <a:cs typeface="Garamond" pitchFamily="34" charset="-120"/>
              </a:rPr>
              <a:t>A testable, educated guess based on limited observations. Can be revised, expanded, or thrown out entirely as new evidence comes in.</a:t>
            </a:r>
            <a:endParaRPr lang="en-US" sz="2000" dirty="0"/>
          </a:p>
        </p:txBody>
      </p:sp>
      <p:sp>
        <p:nvSpPr>
          <p:cNvPr id="9" name="Shape 6"/>
          <p:cNvSpPr/>
          <p:nvPr/>
        </p:nvSpPr>
        <p:spPr>
          <a:xfrm>
            <a:off x="4332122" y="1417320"/>
            <a:ext cx="3527450" cy="594360"/>
          </a:xfrm>
          <a:prstGeom prst="roundRect">
            <a:avLst>
              <a:gd name="adj" fmla="val 10769"/>
            </a:avLst>
          </a:prstGeom>
          <a:solidFill>
            <a:srgbClr val="1C7293"/>
          </a:solidFill>
          <a:ln/>
        </p:spPr>
        <p:txBody>
          <a:bodyPr/>
          <a:lstStyle/>
          <a:p>
            <a:endParaRPr lang="en-US"/>
          </a:p>
        </p:txBody>
      </p:sp>
      <p:sp>
        <p:nvSpPr>
          <p:cNvPr id="10" name="Text 7"/>
          <p:cNvSpPr txBox="1"/>
          <p:nvPr/>
        </p:nvSpPr>
        <p:spPr>
          <a:xfrm>
            <a:off x="4332122" y="1417320"/>
            <a:ext cx="352745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Garamond" pitchFamily="34" charset="0"/>
                <a:ea typeface="Garamond" pitchFamily="34" charset="-122"/>
                <a:cs typeface="Garamond" pitchFamily="34" charset="-120"/>
              </a:rPr>
              <a:t>Theory</a:t>
            </a:r>
            <a:endParaRPr lang="en-US" sz="2400" dirty="0"/>
          </a:p>
        </p:txBody>
      </p:sp>
      <p:sp>
        <p:nvSpPr>
          <p:cNvPr id="11" name="Shape 8"/>
          <p:cNvSpPr/>
          <p:nvPr/>
        </p:nvSpPr>
        <p:spPr>
          <a:xfrm>
            <a:off x="4332122" y="2103120"/>
            <a:ext cx="3527450" cy="3154680"/>
          </a:xfrm>
          <a:prstGeom prst="roundRect">
            <a:avLst>
              <a:gd name="adj" fmla="val 2029"/>
            </a:avLst>
          </a:prstGeom>
          <a:solidFill>
            <a:srgbClr val="F1F6F8"/>
          </a:solidFill>
          <a:ln/>
        </p:spPr>
        <p:txBody>
          <a:bodyPr/>
          <a:lstStyle/>
          <a:p>
            <a:endParaRPr lang="en-US"/>
          </a:p>
        </p:txBody>
      </p:sp>
      <p:sp>
        <p:nvSpPr>
          <p:cNvPr id="12" name="Text 9"/>
          <p:cNvSpPr txBox="1"/>
          <p:nvPr/>
        </p:nvSpPr>
        <p:spPr>
          <a:xfrm>
            <a:off x="4528065" y="2521134"/>
            <a:ext cx="3161690" cy="2194560"/>
          </a:xfrm>
          <a:prstGeom prst="rect">
            <a:avLst/>
          </a:prstGeom>
          <a:noFill/>
          <a:ln/>
        </p:spPr>
        <p:txBody>
          <a:bodyPr wrap="square" lIns="0" tIns="0" rIns="0" bIns="0" rtlCol="0" anchor="t"/>
          <a:lstStyle/>
          <a:p>
            <a:pPr marL="0" indent="0">
              <a:buNone/>
            </a:pPr>
            <a:r>
              <a:rPr lang="en-US" sz="2000" dirty="0">
                <a:solidFill>
                  <a:srgbClr val="33414F"/>
                </a:solidFill>
                <a:latin typeface="Garamond" pitchFamily="34" charset="0"/>
                <a:ea typeface="Garamond" pitchFamily="34" charset="-122"/>
                <a:cs typeface="Garamond" pitchFamily="34" charset="-120"/>
              </a:rPr>
              <a:t>A well-substantiated explanation supported by extensive, repeated evidence from many experiments. Explains WHY something happens.</a:t>
            </a:r>
            <a:endParaRPr lang="en-US" sz="2000" dirty="0"/>
          </a:p>
        </p:txBody>
      </p:sp>
      <p:sp>
        <p:nvSpPr>
          <p:cNvPr id="13" name="Shape 10"/>
          <p:cNvSpPr/>
          <p:nvPr/>
        </p:nvSpPr>
        <p:spPr>
          <a:xfrm>
            <a:off x="8115605" y="1417320"/>
            <a:ext cx="3527450" cy="594360"/>
          </a:xfrm>
          <a:prstGeom prst="roundRect">
            <a:avLst>
              <a:gd name="adj" fmla="val 10769"/>
            </a:avLst>
          </a:prstGeom>
          <a:solidFill>
            <a:srgbClr val="F4A100"/>
          </a:solidFill>
          <a:ln/>
        </p:spPr>
        <p:txBody>
          <a:bodyPr/>
          <a:lstStyle/>
          <a:p>
            <a:endParaRPr lang="en-US"/>
          </a:p>
        </p:txBody>
      </p:sp>
      <p:sp>
        <p:nvSpPr>
          <p:cNvPr id="14" name="Text 11"/>
          <p:cNvSpPr txBox="1"/>
          <p:nvPr/>
        </p:nvSpPr>
        <p:spPr>
          <a:xfrm>
            <a:off x="8115605" y="1417320"/>
            <a:ext cx="352745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Garamond" pitchFamily="34" charset="0"/>
                <a:ea typeface="Garamond" pitchFamily="34" charset="-122"/>
                <a:cs typeface="Garamond" pitchFamily="34" charset="-120"/>
              </a:rPr>
              <a:t>Law</a:t>
            </a:r>
            <a:endParaRPr lang="en-US" sz="2800" dirty="0"/>
          </a:p>
        </p:txBody>
      </p:sp>
      <p:sp>
        <p:nvSpPr>
          <p:cNvPr id="15" name="Shape 12"/>
          <p:cNvSpPr/>
          <p:nvPr/>
        </p:nvSpPr>
        <p:spPr>
          <a:xfrm>
            <a:off x="8115605" y="2103120"/>
            <a:ext cx="3527450" cy="3154680"/>
          </a:xfrm>
          <a:prstGeom prst="roundRect">
            <a:avLst>
              <a:gd name="adj" fmla="val 2029"/>
            </a:avLst>
          </a:prstGeom>
          <a:solidFill>
            <a:srgbClr val="F1F6F8"/>
          </a:solidFill>
          <a:ln/>
        </p:spPr>
        <p:txBody>
          <a:bodyPr/>
          <a:lstStyle/>
          <a:p>
            <a:endParaRPr lang="en-US"/>
          </a:p>
        </p:txBody>
      </p:sp>
      <p:sp>
        <p:nvSpPr>
          <p:cNvPr id="16" name="Text 13"/>
          <p:cNvSpPr txBox="1"/>
          <p:nvPr/>
        </p:nvSpPr>
        <p:spPr>
          <a:xfrm>
            <a:off x="8311548" y="2521134"/>
            <a:ext cx="3161690" cy="2194560"/>
          </a:xfrm>
          <a:prstGeom prst="rect">
            <a:avLst/>
          </a:prstGeom>
          <a:noFill/>
          <a:ln/>
        </p:spPr>
        <p:txBody>
          <a:bodyPr wrap="square" lIns="0" tIns="0" rIns="0" bIns="0" rtlCol="0" anchor="t"/>
          <a:lstStyle/>
          <a:p>
            <a:pPr marL="0" indent="0">
              <a:buNone/>
            </a:pPr>
            <a:r>
              <a:rPr lang="en-US" sz="2000" dirty="0">
                <a:solidFill>
                  <a:srgbClr val="33414F"/>
                </a:solidFill>
                <a:latin typeface="Garamond" pitchFamily="34" charset="0"/>
                <a:ea typeface="Garamond" pitchFamily="34" charset="-122"/>
                <a:cs typeface="Garamond" pitchFamily="34" charset="-120"/>
              </a:rPr>
              <a:t>A description of what consistently happens, often written as a mathematical relationship. Describes WHAT happens — not why.</a:t>
            </a:r>
            <a:endParaRPr lang="en-US" sz="2000" dirty="0"/>
          </a:p>
        </p:txBody>
      </p:sp>
      <p:sp>
        <p:nvSpPr>
          <p:cNvPr id="17" name="Text 14"/>
          <p:cNvSpPr txBox="1"/>
          <p:nvPr/>
        </p:nvSpPr>
        <p:spPr>
          <a:xfrm>
            <a:off x="548640" y="5394960"/>
            <a:ext cx="11094415" cy="502920"/>
          </a:xfrm>
          <a:prstGeom prst="rect">
            <a:avLst/>
          </a:prstGeom>
          <a:noFill/>
          <a:ln/>
        </p:spPr>
        <p:txBody>
          <a:bodyPr wrap="square" lIns="0" tIns="0" rIns="0" bIns="0" rtlCol="0" anchor="ctr"/>
          <a:lstStyle/>
          <a:p>
            <a:pPr marL="0" indent="0" algn="ctr">
              <a:buNone/>
            </a:pPr>
            <a:r>
              <a:rPr lang="en-US" dirty="0">
                <a:solidFill>
                  <a:srgbClr val="63737D"/>
                </a:solidFill>
                <a:latin typeface="Garamond" pitchFamily="34" charset="0"/>
                <a:ea typeface="Garamond" pitchFamily="34" charset="-122"/>
                <a:cs typeface="Garamond" pitchFamily="34" charset="-120"/>
              </a:rPr>
              <a:t>“Just a theory” is a myth — in science, a theory is one of the strongest, most well-supported conclusions we have.</a:t>
            </a:r>
            <a:endParaRPr lang="en-US"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9" name="Text 16"/>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F4A100"/>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heartbeat_white.png"/>
          <p:cNvPicPr>
            <a:picLocks noChangeAspect="1"/>
          </p:cNvPicPr>
          <p:nvPr/>
        </p:nvPicPr>
        <p:blipFill>
          <a:blip r:embed="rId3"/>
          <a:stretch>
            <a:fillRect/>
          </a:stretch>
        </p:blipFill>
        <p:spPr>
          <a:xfrm>
            <a:off x="697230" y="605790"/>
            <a:ext cx="297180" cy="297180"/>
          </a:xfrm>
          <a:prstGeom prst="rect">
            <a:avLst/>
          </a:prstGeom>
        </p:spPr>
      </p:pic>
      <p:sp>
        <p:nvSpPr>
          <p:cNvPr id="4" name="Text 1"/>
          <p:cNvSpPr txBox="1"/>
          <p:nvPr/>
        </p:nvSpPr>
        <p:spPr>
          <a:xfrm>
            <a:off x="1325880" y="411480"/>
            <a:ext cx="9784080" cy="685800"/>
          </a:xfrm>
          <a:prstGeom prst="rect">
            <a:avLst/>
          </a:prstGeom>
          <a:noFill/>
          <a:ln/>
        </p:spPr>
        <p:txBody>
          <a:bodyPr wrap="square" lIns="0" tIns="0" rIns="0" bIns="0" rtlCol="0" anchor="ctr"/>
          <a:lstStyle/>
          <a:p>
            <a:pPr marL="0" indent="0">
              <a:buNone/>
            </a:pPr>
            <a:r>
              <a:rPr lang="en-US" sz="2500" b="1" dirty="0">
                <a:solidFill>
                  <a:srgbClr val="14213D"/>
                </a:solidFill>
                <a:latin typeface="Cambria" pitchFamily="34" charset="0"/>
                <a:ea typeface="Cambria" pitchFamily="34" charset="-122"/>
                <a:cs typeface="Cambria" pitchFamily="34" charset="-120"/>
              </a:rPr>
              <a:t>Scientific Method in Action: Hand Hygiene</a:t>
            </a:r>
            <a:endParaRPr lang="en-US" sz="2500" dirty="0"/>
          </a:p>
        </p:txBody>
      </p:sp>
      <p:sp>
        <p:nvSpPr>
          <p:cNvPr id="5" name="Shape 2"/>
          <p:cNvSpPr/>
          <p:nvPr/>
        </p:nvSpPr>
        <p:spPr>
          <a:xfrm>
            <a:off x="548640" y="1417320"/>
            <a:ext cx="9784081" cy="804672"/>
          </a:xfrm>
          <a:prstGeom prst="roundRect">
            <a:avLst>
              <a:gd name="adj" fmla="val 6818"/>
            </a:avLst>
          </a:prstGeom>
          <a:solidFill>
            <a:srgbClr val="F1F6F8"/>
          </a:solidFill>
          <a:ln/>
        </p:spPr>
        <p:txBody>
          <a:bodyPr/>
          <a:lstStyle/>
          <a:p>
            <a:endParaRPr lang="en-US"/>
          </a:p>
        </p:txBody>
      </p:sp>
      <p:sp>
        <p:nvSpPr>
          <p:cNvPr id="6" name="Shape 3"/>
          <p:cNvSpPr/>
          <p:nvPr/>
        </p:nvSpPr>
        <p:spPr>
          <a:xfrm>
            <a:off x="713232" y="1673352"/>
            <a:ext cx="1600200" cy="292608"/>
          </a:xfrm>
          <a:prstGeom prst="roundRect">
            <a:avLst>
              <a:gd name="adj" fmla="val 15625"/>
            </a:avLst>
          </a:prstGeom>
          <a:solidFill>
            <a:srgbClr val="14213D"/>
          </a:solidFill>
          <a:ln/>
        </p:spPr>
        <p:txBody>
          <a:bodyPr/>
          <a:lstStyle/>
          <a:p>
            <a:endParaRPr lang="en-US"/>
          </a:p>
        </p:txBody>
      </p:sp>
      <p:sp>
        <p:nvSpPr>
          <p:cNvPr id="7" name="Text 4"/>
          <p:cNvSpPr txBox="1"/>
          <p:nvPr/>
        </p:nvSpPr>
        <p:spPr>
          <a:xfrm>
            <a:off x="713232" y="1673352"/>
            <a:ext cx="160020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Observation</a:t>
            </a:r>
            <a:endParaRPr lang="en-US" sz="1600" dirty="0"/>
          </a:p>
        </p:txBody>
      </p:sp>
      <p:sp>
        <p:nvSpPr>
          <p:cNvPr id="8" name="Text 5"/>
          <p:cNvSpPr txBox="1"/>
          <p:nvPr/>
        </p:nvSpPr>
        <p:spPr>
          <a:xfrm>
            <a:off x="2514600" y="1417320"/>
            <a:ext cx="6916783"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In the 1840s, physician Ignaz Semmelweis noticed new mothers on one hospital ward were dying of infection far more often than on another ward.</a:t>
            </a:r>
            <a:endParaRPr lang="en-US" dirty="0"/>
          </a:p>
        </p:txBody>
      </p:sp>
      <p:sp>
        <p:nvSpPr>
          <p:cNvPr id="9" name="Shape 6"/>
          <p:cNvSpPr/>
          <p:nvPr/>
        </p:nvSpPr>
        <p:spPr>
          <a:xfrm>
            <a:off x="548640" y="2350008"/>
            <a:ext cx="9784081" cy="804672"/>
          </a:xfrm>
          <a:prstGeom prst="roundRect">
            <a:avLst>
              <a:gd name="adj" fmla="val 6818"/>
            </a:avLst>
          </a:prstGeom>
          <a:solidFill>
            <a:srgbClr val="E4EFF2"/>
          </a:solidFill>
          <a:ln/>
        </p:spPr>
        <p:txBody>
          <a:bodyPr/>
          <a:lstStyle/>
          <a:p>
            <a:endParaRPr lang="en-US"/>
          </a:p>
        </p:txBody>
      </p:sp>
      <p:sp>
        <p:nvSpPr>
          <p:cNvPr id="10" name="Shape 7"/>
          <p:cNvSpPr/>
          <p:nvPr/>
        </p:nvSpPr>
        <p:spPr>
          <a:xfrm>
            <a:off x="713232" y="2606040"/>
            <a:ext cx="1600200" cy="292608"/>
          </a:xfrm>
          <a:prstGeom prst="roundRect">
            <a:avLst>
              <a:gd name="adj" fmla="val 15625"/>
            </a:avLst>
          </a:prstGeom>
          <a:solidFill>
            <a:srgbClr val="14213D"/>
          </a:solidFill>
          <a:ln/>
        </p:spPr>
        <p:txBody>
          <a:bodyPr/>
          <a:lstStyle/>
          <a:p>
            <a:endParaRPr lang="en-US"/>
          </a:p>
        </p:txBody>
      </p:sp>
      <p:sp>
        <p:nvSpPr>
          <p:cNvPr id="11" name="Text 8"/>
          <p:cNvSpPr txBox="1"/>
          <p:nvPr/>
        </p:nvSpPr>
        <p:spPr>
          <a:xfrm>
            <a:off x="713232" y="2606040"/>
            <a:ext cx="160020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Question</a:t>
            </a:r>
            <a:endParaRPr lang="en-US" sz="1600" dirty="0"/>
          </a:p>
        </p:txBody>
      </p:sp>
      <p:sp>
        <p:nvSpPr>
          <p:cNvPr id="12" name="Text 9"/>
          <p:cNvSpPr txBox="1"/>
          <p:nvPr/>
        </p:nvSpPr>
        <p:spPr>
          <a:xfrm>
            <a:off x="2514600" y="2350008"/>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Why would the death rate differ so much between two wards in the same hospital?</a:t>
            </a:r>
            <a:endParaRPr lang="en-US" dirty="0"/>
          </a:p>
        </p:txBody>
      </p:sp>
      <p:sp>
        <p:nvSpPr>
          <p:cNvPr id="13" name="Shape 10"/>
          <p:cNvSpPr/>
          <p:nvPr/>
        </p:nvSpPr>
        <p:spPr>
          <a:xfrm>
            <a:off x="548640" y="3282696"/>
            <a:ext cx="9784081" cy="804672"/>
          </a:xfrm>
          <a:prstGeom prst="roundRect">
            <a:avLst>
              <a:gd name="adj" fmla="val 6818"/>
            </a:avLst>
          </a:prstGeom>
          <a:solidFill>
            <a:srgbClr val="F1F6F8"/>
          </a:solidFill>
          <a:ln/>
        </p:spPr>
        <p:txBody>
          <a:bodyPr/>
          <a:lstStyle/>
          <a:p>
            <a:endParaRPr lang="en-US"/>
          </a:p>
        </p:txBody>
      </p:sp>
      <p:sp>
        <p:nvSpPr>
          <p:cNvPr id="14" name="Shape 11"/>
          <p:cNvSpPr/>
          <p:nvPr/>
        </p:nvSpPr>
        <p:spPr>
          <a:xfrm>
            <a:off x="713232" y="3538728"/>
            <a:ext cx="1600200" cy="292608"/>
          </a:xfrm>
          <a:prstGeom prst="roundRect">
            <a:avLst>
              <a:gd name="adj" fmla="val 15625"/>
            </a:avLst>
          </a:prstGeom>
          <a:solidFill>
            <a:srgbClr val="14213D"/>
          </a:solidFill>
          <a:ln/>
        </p:spPr>
        <p:txBody>
          <a:bodyPr/>
          <a:lstStyle/>
          <a:p>
            <a:endParaRPr lang="en-US"/>
          </a:p>
        </p:txBody>
      </p:sp>
      <p:sp>
        <p:nvSpPr>
          <p:cNvPr id="15" name="Text 12"/>
          <p:cNvSpPr txBox="1"/>
          <p:nvPr/>
        </p:nvSpPr>
        <p:spPr>
          <a:xfrm>
            <a:off x="713232" y="3538728"/>
            <a:ext cx="160020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Hypothesis</a:t>
            </a:r>
            <a:endParaRPr lang="en-US" sz="1600" dirty="0"/>
          </a:p>
        </p:txBody>
      </p:sp>
      <p:sp>
        <p:nvSpPr>
          <p:cNvPr id="16" name="Text 13"/>
          <p:cNvSpPr txBox="1"/>
          <p:nvPr/>
        </p:nvSpPr>
        <p:spPr>
          <a:xfrm>
            <a:off x="2514601" y="3282696"/>
            <a:ext cx="6629400"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Doctors were carrying “cadaverous particles” from autopsies to patients on their hands, spreading infection.</a:t>
            </a:r>
            <a:endParaRPr lang="en-US" dirty="0"/>
          </a:p>
        </p:txBody>
      </p:sp>
      <p:sp>
        <p:nvSpPr>
          <p:cNvPr id="17" name="Shape 14"/>
          <p:cNvSpPr/>
          <p:nvPr/>
        </p:nvSpPr>
        <p:spPr>
          <a:xfrm>
            <a:off x="548640" y="4215384"/>
            <a:ext cx="9784081" cy="804672"/>
          </a:xfrm>
          <a:prstGeom prst="roundRect">
            <a:avLst>
              <a:gd name="adj" fmla="val 6818"/>
            </a:avLst>
          </a:prstGeom>
          <a:solidFill>
            <a:srgbClr val="E4EFF2"/>
          </a:solidFill>
          <a:ln/>
        </p:spPr>
        <p:txBody>
          <a:bodyPr/>
          <a:lstStyle/>
          <a:p>
            <a:endParaRPr lang="en-US"/>
          </a:p>
        </p:txBody>
      </p:sp>
      <p:sp>
        <p:nvSpPr>
          <p:cNvPr id="18" name="Shape 15"/>
          <p:cNvSpPr/>
          <p:nvPr/>
        </p:nvSpPr>
        <p:spPr>
          <a:xfrm>
            <a:off x="713232" y="4471416"/>
            <a:ext cx="1600200" cy="292608"/>
          </a:xfrm>
          <a:prstGeom prst="roundRect">
            <a:avLst>
              <a:gd name="adj" fmla="val 15625"/>
            </a:avLst>
          </a:prstGeom>
          <a:solidFill>
            <a:srgbClr val="14213D"/>
          </a:solidFill>
          <a:ln/>
        </p:spPr>
        <p:txBody>
          <a:bodyPr/>
          <a:lstStyle/>
          <a:p>
            <a:endParaRPr lang="en-US"/>
          </a:p>
        </p:txBody>
      </p:sp>
      <p:sp>
        <p:nvSpPr>
          <p:cNvPr id="19" name="Text 16"/>
          <p:cNvSpPr txBox="1"/>
          <p:nvPr/>
        </p:nvSpPr>
        <p:spPr>
          <a:xfrm>
            <a:off x="713232" y="4471416"/>
            <a:ext cx="160020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Experiment</a:t>
            </a:r>
            <a:endParaRPr lang="en-US" sz="1600" dirty="0"/>
          </a:p>
        </p:txBody>
      </p:sp>
      <p:sp>
        <p:nvSpPr>
          <p:cNvPr id="20" name="Text 17"/>
          <p:cNvSpPr txBox="1"/>
          <p:nvPr/>
        </p:nvSpPr>
        <p:spPr>
          <a:xfrm>
            <a:off x="2514600" y="4215384"/>
            <a:ext cx="6916783"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Semmelweis required doctors to wash their hands with a chlorinated solution before patient exams.</a:t>
            </a:r>
            <a:endParaRPr lang="en-US" dirty="0"/>
          </a:p>
        </p:txBody>
      </p:sp>
      <p:sp>
        <p:nvSpPr>
          <p:cNvPr id="21" name="Shape 18"/>
          <p:cNvSpPr/>
          <p:nvPr/>
        </p:nvSpPr>
        <p:spPr>
          <a:xfrm>
            <a:off x="548640" y="5148072"/>
            <a:ext cx="9784081" cy="804672"/>
          </a:xfrm>
          <a:prstGeom prst="roundRect">
            <a:avLst>
              <a:gd name="adj" fmla="val 6818"/>
            </a:avLst>
          </a:prstGeom>
          <a:solidFill>
            <a:srgbClr val="F1F6F8"/>
          </a:solidFill>
          <a:ln/>
        </p:spPr>
        <p:txBody>
          <a:bodyPr/>
          <a:lstStyle/>
          <a:p>
            <a:endParaRPr lang="en-US"/>
          </a:p>
        </p:txBody>
      </p:sp>
      <p:sp>
        <p:nvSpPr>
          <p:cNvPr id="22" name="Shape 19"/>
          <p:cNvSpPr/>
          <p:nvPr/>
        </p:nvSpPr>
        <p:spPr>
          <a:xfrm>
            <a:off x="713232" y="5404104"/>
            <a:ext cx="1600200" cy="292608"/>
          </a:xfrm>
          <a:prstGeom prst="roundRect">
            <a:avLst>
              <a:gd name="adj" fmla="val 15625"/>
            </a:avLst>
          </a:prstGeom>
          <a:solidFill>
            <a:srgbClr val="14213D"/>
          </a:solidFill>
          <a:ln/>
        </p:spPr>
        <p:txBody>
          <a:bodyPr/>
          <a:lstStyle/>
          <a:p>
            <a:endParaRPr lang="en-US"/>
          </a:p>
        </p:txBody>
      </p:sp>
      <p:sp>
        <p:nvSpPr>
          <p:cNvPr id="23" name="Text 20"/>
          <p:cNvSpPr txBox="1"/>
          <p:nvPr/>
        </p:nvSpPr>
        <p:spPr>
          <a:xfrm>
            <a:off x="713232" y="5404104"/>
            <a:ext cx="160020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Conclusion</a:t>
            </a:r>
            <a:endParaRPr lang="en-US" sz="1600" dirty="0"/>
          </a:p>
        </p:txBody>
      </p:sp>
      <p:sp>
        <p:nvSpPr>
          <p:cNvPr id="24" name="Text 21"/>
          <p:cNvSpPr txBox="1"/>
          <p:nvPr/>
        </p:nvSpPr>
        <p:spPr>
          <a:xfrm>
            <a:off x="2514601" y="5148072"/>
            <a:ext cx="7151914"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Death rates on that ward dropped dramatically — strong evidence supporting the hypothesis. Hand hygiene is now a cornerstone of clinical practice.</a:t>
            </a:r>
            <a:endParaRPr lang="en-US" dirty="0"/>
          </a:p>
        </p:txBody>
      </p:sp>
      <p:sp>
        <p:nvSpPr>
          <p:cNvPr id="25" name="Text 22"/>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26" name="Text 2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1/icon_book_white.png"/>
          <p:cNvPicPr>
            <a:picLocks noChangeAspect="1"/>
          </p:cNvPicPr>
          <p:nvPr/>
        </p:nvPicPr>
        <p:blipFill>
          <a:blip r:embed="rId3"/>
          <a:stretch>
            <a:fillRect/>
          </a:stretch>
        </p:blipFill>
        <p:spPr>
          <a:xfrm>
            <a:off x="697230" y="605790"/>
            <a:ext cx="297180" cy="297180"/>
          </a:xfrm>
          <a:prstGeom prst="rect">
            <a:avLst/>
          </a:prstGeom>
        </p:spPr>
      </p:pic>
      <p:sp>
        <p:nvSpPr>
          <p:cNvPr id="4" name="Text 1"/>
          <p:cNvSpPr txBox="1"/>
          <p:nvPr/>
        </p:nvSpPr>
        <p:spPr>
          <a:xfrm>
            <a:off x="1325880" y="411480"/>
            <a:ext cx="9784080"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Key Terms to Understand</a:t>
            </a:r>
            <a:endParaRPr lang="en-US" sz="2800" dirty="0"/>
          </a:p>
        </p:txBody>
      </p:sp>
      <p:sp>
        <p:nvSpPr>
          <p:cNvPr id="5" name="Text 2"/>
          <p:cNvSpPr txBox="1"/>
          <p:nvPr/>
        </p:nvSpPr>
        <p:spPr>
          <a:xfrm>
            <a:off x="1003885" y="1521825"/>
            <a:ext cx="8760777"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Chemistry — </a:t>
            </a:r>
            <a:r>
              <a:rPr lang="en-US" sz="2000" dirty="0">
                <a:solidFill>
                  <a:srgbClr val="33414F"/>
                </a:solidFill>
                <a:latin typeface="Garamond" pitchFamily="34" charset="0"/>
                <a:ea typeface="Garamond" pitchFamily="34" charset="-122"/>
                <a:cs typeface="Garamond" pitchFamily="34" charset="-120"/>
              </a:rPr>
              <a:t>The study of matter — its composition, properties, and changes</a:t>
            </a:r>
            <a:endParaRPr lang="en-US" sz="2000" dirty="0"/>
          </a:p>
        </p:txBody>
      </p:sp>
      <p:sp>
        <p:nvSpPr>
          <p:cNvPr id="6" name="Text 3"/>
          <p:cNvSpPr txBox="1"/>
          <p:nvPr/>
        </p:nvSpPr>
        <p:spPr>
          <a:xfrm>
            <a:off x="1003885" y="2115042"/>
            <a:ext cx="8760777"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Alchemy — </a:t>
            </a:r>
            <a:r>
              <a:rPr lang="en-US" sz="2000" dirty="0">
                <a:solidFill>
                  <a:srgbClr val="33414F"/>
                </a:solidFill>
                <a:latin typeface="Garamond" pitchFamily="34" charset="0"/>
                <a:ea typeface="Garamond" pitchFamily="34" charset="-122"/>
                <a:cs typeface="Garamond" pitchFamily="34" charset="-120"/>
              </a:rPr>
              <a:t>The pre-scientific practice that preceded modern chemistry</a:t>
            </a:r>
            <a:endParaRPr lang="en-US" sz="2000" dirty="0"/>
          </a:p>
        </p:txBody>
      </p:sp>
      <p:sp>
        <p:nvSpPr>
          <p:cNvPr id="7" name="Text 4"/>
          <p:cNvSpPr txBox="1"/>
          <p:nvPr/>
        </p:nvSpPr>
        <p:spPr>
          <a:xfrm>
            <a:off x="1003885" y="2710545"/>
            <a:ext cx="8760777"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Atomic theory — </a:t>
            </a:r>
            <a:r>
              <a:rPr lang="en-US" sz="2000" dirty="0">
                <a:solidFill>
                  <a:srgbClr val="33414F"/>
                </a:solidFill>
                <a:latin typeface="Garamond" pitchFamily="34" charset="0"/>
                <a:ea typeface="Garamond" pitchFamily="34" charset="-122"/>
                <a:cs typeface="Garamond" pitchFamily="34" charset="-120"/>
              </a:rPr>
              <a:t>Dalton's model of matter as made of indivisible atoms</a:t>
            </a:r>
            <a:endParaRPr lang="en-US" sz="2000" dirty="0"/>
          </a:p>
        </p:txBody>
      </p:sp>
      <p:sp>
        <p:nvSpPr>
          <p:cNvPr id="8" name="Text 5"/>
          <p:cNvSpPr txBox="1"/>
          <p:nvPr/>
        </p:nvSpPr>
        <p:spPr>
          <a:xfrm>
            <a:off x="1003886" y="3231755"/>
            <a:ext cx="10365154"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Conservation of mass — </a:t>
            </a:r>
            <a:r>
              <a:rPr lang="en-US" sz="2000" dirty="0">
                <a:solidFill>
                  <a:srgbClr val="33414F"/>
                </a:solidFill>
                <a:latin typeface="Garamond" pitchFamily="34" charset="0"/>
                <a:ea typeface="Garamond" pitchFamily="34" charset="-122"/>
                <a:cs typeface="Garamond" pitchFamily="34" charset="-120"/>
              </a:rPr>
              <a:t>Mass is neither created nor destroyed in a chemical reaction</a:t>
            </a:r>
            <a:endParaRPr lang="en-US" sz="2000" dirty="0"/>
          </a:p>
        </p:txBody>
      </p:sp>
      <p:sp>
        <p:nvSpPr>
          <p:cNvPr id="9" name="Text 6"/>
          <p:cNvSpPr txBox="1"/>
          <p:nvPr/>
        </p:nvSpPr>
        <p:spPr>
          <a:xfrm>
            <a:off x="1003885" y="3806186"/>
            <a:ext cx="8760777"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Hypothesis — </a:t>
            </a:r>
            <a:r>
              <a:rPr lang="en-US" sz="2000" dirty="0">
                <a:solidFill>
                  <a:srgbClr val="33414F"/>
                </a:solidFill>
                <a:latin typeface="Garamond" pitchFamily="34" charset="0"/>
                <a:ea typeface="Garamond" pitchFamily="34" charset="-122"/>
                <a:cs typeface="Garamond" pitchFamily="34" charset="-120"/>
              </a:rPr>
              <a:t>A testable, educated explanation for an observation</a:t>
            </a:r>
            <a:endParaRPr lang="en-US" sz="2000" dirty="0"/>
          </a:p>
        </p:txBody>
      </p:sp>
      <p:sp>
        <p:nvSpPr>
          <p:cNvPr id="10" name="Text 7"/>
          <p:cNvSpPr txBox="1"/>
          <p:nvPr/>
        </p:nvSpPr>
        <p:spPr>
          <a:xfrm>
            <a:off x="1003885" y="4422761"/>
            <a:ext cx="8760777"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Theory — </a:t>
            </a:r>
            <a:r>
              <a:rPr lang="en-US" sz="2000" dirty="0">
                <a:solidFill>
                  <a:srgbClr val="33414F"/>
                </a:solidFill>
                <a:latin typeface="Garamond" pitchFamily="34" charset="0"/>
                <a:ea typeface="Garamond" pitchFamily="34" charset="-122"/>
                <a:cs typeface="Garamond" pitchFamily="34" charset="-120"/>
              </a:rPr>
              <a:t>A well-substantiated explanation backed by extensive evidence</a:t>
            </a:r>
            <a:endParaRPr lang="en-US" sz="2000" dirty="0"/>
          </a:p>
        </p:txBody>
      </p:sp>
      <p:sp>
        <p:nvSpPr>
          <p:cNvPr id="11" name="Text 8"/>
          <p:cNvSpPr txBox="1"/>
          <p:nvPr/>
        </p:nvSpPr>
        <p:spPr>
          <a:xfrm>
            <a:off x="1003885" y="5010910"/>
            <a:ext cx="8760777"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Law — </a:t>
            </a:r>
            <a:r>
              <a:rPr lang="en-US" sz="2000" dirty="0">
                <a:solidFill>
                  <a:srgbClr val="33414F"/>
                </a:solidFill>
                <a:latin typeface="Garamond" pitchFamily="34" charset="0"/>
                <a:ea typeface="Garamond" pitchFamily="34" charset="-122"/>
                <a:cs typeface="Garamond" pitchFamily="34" charset="-120"/>
              </a:rPr>
              <a:t>A consistent description of what happens, often mathematical</a:t>
            </a:r>
            <a:endParaRPr lang="en-US" sz="2000" dirty="0"/>
          </a:p>
        </p:txBody>
      </p:sp>
      <p:sp>
        <p:nvSpPr>
          <p:cNvPr id="12" name="Text 9"/>
          <p:cNvSpPr txBox="1"/>
          <p:nvPr/>
        </p:nvSpPr>
        <p:spPr>
          <a:xfrm>
            <a:off x="994410" y="5627485"/>
            <a:ext cx="9666985"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Scientific method — </a:t>
            </a:r>
            <a:r>
              <a:rPr lang="en-US" sz="2000" dirty="0">
                <a:solidFill>
                  <a:srgbClr val="33414F"/>
                </a:solidFill>
                <a:latin typeface="Garamond" pitchFamily="34" charset="0"/>
                <a:ea typeface="Garamond" pitchFamily="34" charset="-122"/>
                <a:cs typeface="Garamond" pitchFamily="34" charset="-120"/>
              </a:rPr>
              <a:t>The systematic process of observing, questioning, and testing</a:t>
            </a:r>
            <a:endParaRPr lang="en-US" sz="2000" dirty="0"/>
          </a:p>
        </p:txBody>
      </p:sp>
      <p:sp>
        <p:nvSpPr>
          <p:cNvPr id="13" name="Text 1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1: Introduction</a:t>
            </a:r>
            <a:endParaRPr lang="en-US" sz="900" dirty="0"/>
          </a:p>
        </p:txBody>
      </p:sp>
      <p:sp>
        <p:nvSpPr>
          <p:cNvPr id="14" name="Text 11"/>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3" name="Text 1"/>
          <p:cNvSpPr txBox="1"/>
          <p:nvPr/>
        </p:nvSpPr>
        <p:spPr>
          <a:xfrm>
            <a:off x="548640" y="59436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Summary &amp; What's Next</a:t>
            </a:r>
            <a:endParaRPr lang="en-US" sz="3400" dirty="0"/>
          </a:p>
        </p:txBody>
      </p:sp>
      <p:sp>
        <p:nvSpPr>
          <p:cNvPr id="4" name="Text 2"/>
          <p:cNvSpPr txBox="1"/>
          <p:nvPr/>
        </p:nvSpPr>
        <p:spPr>
          <a:xfrm>
            <a:off x="548640" y="1508760"/>
            <a:ext cx="10637215" cy="2286000"/>
          </a:xfrm>
          <a:prstGeom prst="rect">
            <a:avLst/>
          </a:prstGeom>
          <a:noFill/>
          <a:ln/>
        </p:spPr>
        <p:txBody>
          <a:bodyPr wrap="square" lIns="0" tIns="0" rIns="0" bIns="0" rtlCol="0" anchor="ctr"/>
          <a:lstStyle/>
          <a:p>
            <a:pPr marL="342900" indent="-342900">
              <a:lnSpc>
                <a:spcPct val="150000"/>
              </a:lnSpc>
              <a:spcAft>
                <a:spcPts val="1400"/>
              </a:spcAft>
              <a:buSzPct val="100000"/>
              <a:buChar char="●"/>
            </a:pPr>
            <a:r>
              <a:rPr lang="en-US" dirty="0">
                <a:solidFill>
                  <a:srgbClr val="E4ECF3"/>
                </a:solidFill>
                <a:latin typeface="Garamond" pitchFamily="34" charset="0"/>
                <a:ea typeface="Garamond" pitchFamily="34" charset="-122"/>
                <a:cs typeface="Garamond" pitchFamily="34" charset="-120"/>
              </a:rPr>
              <a:t>Chemistry is the study of matter — and it underlies nearly everything you'll do in health care</a:t>
            </a:r>
            <a:endParaRPr lang="en-US" dirty="0"/>
          </a:p>
          <a:p>
            <a:pPr marL="342900" indent="-342900">
              <a:lnSpc>
                <a:spcPct val="150000"/>
              </a:lnSpc>
              <a:spcAft>
                <a:spcPts val="1400"/>
              </a:spcAft>
              <a:buSzPct val="100000"/>
              <a:buChar char="●"/>
            </a:pPr>
            <a:r>
              <a:rPr lang="en-US" dirty="0">
                <a:solidFill>
                  <a:srgbClr val="E4ECF3"/>
                </a:solidFill>
                <a:latin typeface="Garamond" pitchFamily="34" charset="0"/>
                <a:ea typeface="Garamond" pitchFamily="34" charset="-122"/>
                <a:cs typeface="Garamond" pitchFamily="34" charset="-120"/>
              </a:rPr>
              <a:t>Chemistry's ideas built up over centuries — Mostly incremental with a handful of breakthroughs</a:t>
            </a:r>
          </a:p>
          <a:p>
            <a:pPr marL="342900" indent="-342900">
              <a:lnSpc>
                <a:spcPct val="150000"/>
              </a:lnSpc>
              <a:spcAft>
                <a:spcPts val="1400"/>
              </a:spcAft>
              <a:buSzPct val="100000"/>
              <a:buChar char="●"/>
            </a:pPr>
            <a:r>
              <a:rPr lang="en-US" dirty="0">
                <a:solidFill>
                  <a:srgbClr val="E4ECF3"/>
                </a:solidFill>
                <a:latin typeface="Garamond" pitchFamily="34" charset="0"/>
                <a:ea typeface="Garamond" pitchFamily="34" charset="-122"/>
                <a:cs typeface="Garamond" pitchFamily="34" charset="-120"/>
              </a:rPr>
              <a:t>The scientific method — observation, question, hypothesis, experiment, analysis, conclusion — is how we test ideas</a:t>
            </a:r>
            <a:endParaRPr lang="en-US" dirty="0"/>
          </a:p>
        </p:txBody>
      </p:sp>
      <p:sp>
        <p:nvSpPr>
          <p:cNvPr id="5" name="Shape 3"/>
          <p:cNvSpPr/>
          <p:nvPr/>
        </p:nvSpPr>
        <p:spPr>
          <a:xfrm>
            <a:off x="548640" y="4160520"/>
            <a:ext cx="11094415" cy="1234440"/>
          </a:xfrm>
          <a:prstGeom prst="roundRect">
            <a:avLst>
              <a:gd name="adj" fmla="val 5926"/>
            </a:avLst>
          </a:prstGeom>
          <a:solidFill>
            <a:srgbClr val="1E3A5F"/>
          </a:solidFill>
          <a:ln/>
        </p:spPr>
        <p:txBody>
          <a:bodyPr/>
          <a:lstStyle/>
          <a:p>
            <a:endParaRPr lang="en-US"/>
          </a:p>
        </p:txBody>
      </p:sp>
      <p:sp>
        <p:nvSpPr>
          <p:cNvPr id="6" name="Shape 4"/>
          <p:cNvSpPr/>
          <p:nvPr/>
        </p:nvSpPr>
        <p:spPr>
          <a:xfrm>
            <a:off x="822960" y="448056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7" name="Image 0" descr="/tmp/chem101_topic1/icon_arrow_white.png"/>
          <p:cNvPicPr>
            <a:picLocks noChangeAspect="1"/>
          </p:cNvPicPr>
          <p:nvPr/>
        </p:nvPicPr>
        <p:blipFill>
          <a:blip r:embed="rId3"/>
          <a:stretch>
            <a:fillRect/>
          </a:stretch>
        </p:blipFill>
        <p:spPr>
          <a:xfrm>
            <a:off x="971550" y="4629150"/>
            <a:ext cx="297180" cy="297180"/>
          </a:xfrm>
          <a:prstGeom prst="rect">
            <a:avLst/>
          </a:prstGeom>
        </p:spPr>
      </p:pic>
      <p:sp>
        <p:nvSpPr>
          <p:cNvPr id="8" name="Text 5"/>
          <p:cNvSpPr txBox="1"/>
          <p:nvPr/>
        </p:nvSpPr>
        <p:spPr>
          <a:xfrm>
            <a:off x="1600200" y="4279392"/>
            <a:ext cx="5486400" cy="320040"/>
          </a:xfrm>
          <a:prstGeom prst="rect">
            <a:avLst/>
          </a:prstGeom>
          <a:noFill/>
          <a:ln/>
        </p:spPr>
        <p:txBody>
          <a:bodyPr wrap="square" lIns="0" tIns="0" rIns="0" bIns="0" rtlCol="0" anchor="ctr"/>
          <a:lstStyle/>
          <a:p>
            <a:pPr marL="0" indent="0">
              <a:buNone/>
            </a:pPr>
            <a:r>
              <a:rPr lang="en-US" sz="1500" b="1" kern="0" spc="150" dirty="0">
                <a:solidFill>
                  <a:srgbClr val="F4A100"/>
                </a:solidFill>
                <a:latin typeface="Garamond" pitchFamily="34" charset="0"/>
                <a:ea typeface="Garamond" pitchFamily="34" charset="-122"/>
                <a:cs typeface="Garamond" pitchFamily="34" charset="-120"/>
              </a:rPr>
              <a:t>UP NEXT</a:t>
            </a:r>
            <a:endParaRPr lang="en-US" sz="1500" dirty="0"/>
          </a:p>
        </p:txBody>
      </p:sp>
      <p:sp>
        <p:nvSpPr>
          <p:cNvPr id="9" name="Text 6"/>
          <p:cNvSpPr txBox="1"/>
          <p:nvPr/>
        </p:nvSpPr>
        <p:spPr>
          <a:xfrm>
            <a:off x="1600200" y="4617720"/>
            <a:ext cx="9722815" cy="685800"/>
          </a:xfrm>
          <a:prstGeom prst="rect">
            <a:avLst/>
          </a:prstGeom>
          <a:noFill/>
          <a:ln/>
        </p:spPr>
        <p:txBody>
          <a:bodyPr wrap="square" lIns="0" tIns="0" rIns="0" bIns="0" rtlCol="0" anchor="ctr"/>
          <a:lstStyle/>
          <a:p>
            <a:pPr marL="0" indent="0">
              <a:buNone/>
            </a:pPr>
            <a:r>
              <a:rPr lang="en-US" sz="1600" dirty="0">
                <a:solidFill>
                  <a:srgbClr val="FFFFFF"/>
                </a:solidFill>
                <a:latin typeface="Garamond" pitchFamily="34" charset="0"/>
                <a:ea typeface="Garamond" pitchFamily="34" charset="-122"/>
                <a:cs typeface="Garamond" pitchFamily="34" charset="-120"/>
              </a:rPr>
              <a:t>Lecture 2: Fundamental Measurements — the metric system, scientific notation, and significant figures.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3759</Words>
  <Application>Microsoft Macintosh PowerPoint</Application>
  <PresentationFormat>Widescreen</PresentationFormat>
  <Paragraphs>210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Cambria</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 101 — Topic 1: Introduction</dc:title>
  <dc:subject>PptxGenJS Presentation</dc:subject>
  <dc:creator>Chris Patridge</dc:creator>
  <cp:lastModifiedBy>Patridge, Christopher</cp:lastModifiedBy>
  <cp:revision>5</cp:revision>
  <dcterms:created xsi:type="dcterms:W3CDTF">2026-09-04T16:46:17Z</dcterms:created>
  <dcterms:modified xsi:type="dcterms:W3CDTF">2026-09-20T19:24:53Z</dcterms:modified>
</cp:coreProperties>
</file>